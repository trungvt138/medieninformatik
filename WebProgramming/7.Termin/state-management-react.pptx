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B6D4"/>
    <a:srgbClr val="B7C1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398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95421-52A5-050F-9677-5BD97FCE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ECE381-93B1-A632-1E13-2B481C9DC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F543D-CF7B-61B4-6946-E0E510E37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78096-E05B-D06B-1DE1-E3F6454108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6014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Management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React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Basics bis zum globalen State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47472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 State?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Daten, die sich zur Laufzeit ändern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Counter – die Zahl ändert sich bei jedem Klick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Suchfeld – der Text ändert sich beim Tippen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1005840" y="2926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Login – eingeloggt oder nicht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52044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Modal – offen oder geschlossen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0" y="1737360"/>
            <a:ext cx="3017520" cy="2377440"/>
          </a:xfrm>
          <a:prstGeom prst="roundRect">
            <a:avLst>
              <a:gd name="adj" fmla="val 3846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594360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0" y="224028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Lokal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Eine Komponente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Global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Mehrere Komponenten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App-weit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Externe Libraries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useState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Lokaler State für eine Komponente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[count, setCount] = useState(0);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↑         ↑                  ↑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Wert     Setter           Startwert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Wert lesen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ist immer aktuell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200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356616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Wert ändern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über setCount()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640080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Lokal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3657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in dieser Komponente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 – Live Coding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"react";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useState(0);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increment()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setCount(count + 1)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decrement() { setCount(count - 1)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reset() { setCount(0)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&lt;h2&gt;Zähler: {count}&lt;/h2&gt;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onClick={increment}&gt;+1&lt;/button&gt;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Hook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State-Logik auslagern → sauberer Code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Vorher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useState(0);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increment() {...}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decrement() {...}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reset() {...}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 /* JSX */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651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Nachher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212080" y="192024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7"/>
          <p:cNvSpPr/>
          <p:nvPr/>
        </p:nvSpPr>
        <p:spPr>
          <a:xfrm>
            <a:off x="5394960" y="201168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Counter()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count,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increment, decrement,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reset } = useCounter();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 /* nur JSX */ 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420624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2" name="Text 9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 &amp; UI getrennt   •   Wiederverwendbar   •   Einfach testbar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useCounter – Custom Hook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"react";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useCounter(startValue = 0)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[count, setCount] = useState(startValue);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increment()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setCount(count + 1);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decrement()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setCount(count - 1);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reset() { setCount(startValue);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count, increment, decrement, reset 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TodoList – Live Coding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74320"/>
            <a:ext cx="411480" cy="411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[todos, setTodos] = useState([]);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[input, setInput] = useState("");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addTodo()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(input.trim() === "")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setTodos([...todos,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id: Date.now(), text: input, done: false }]);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setInput("");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toggleTodo(id)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setTodos(todos.map(t =&gt;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t.id === id ? {...t, done: !t.done} : t));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deleteTodo(id)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setTodos(todos.filter(t =&gt; t.id !== id));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Problem: Prop Drilling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wenn die Navbar die Todos braucht?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App.jsx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[todos, setTodos]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useState([...]);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&lt;Navbar todos={todos}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&lt;Layout todos={todos}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setTodos={setTodos}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46304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Layout.jsx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0" y="17830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braucht todos NICHT! 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reicht nur weiter...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Layout(props)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&lt;Sidebar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todos={props.todos}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setTodos={props.setTodos}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125C8-AC6F-2225-9F19-2F066D3C4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D890EE-91A7-DA9E-1591-BA844C536605}"/>
              </a:ext>
            </a:extLst>
          </p:cNvPr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Problem: Prop Drilling</a:t>
            </a:r>
            <a:endParaRPr lang="en-US"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E7B926-BFFE-1B5A-8A3F-47AB16F86E47}"/>
              </a:ext>
            </a:extLst>
          </p:cNvPr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wenn die Navbar die Todos braucht?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7633C75-BE3E-D598-5514-F82C41CA52C1}"/>
              </a:ext>
            </a:extLst>
          </p:cNvPr>
          <p:cNvSpPr/>
          <p:nvPr/>
        </p:nvSpPr>
        <p:spPr>
          <a:xfrm>
            <a:off x="457200" y="146304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43445C-F316-01CA-904E-54A448073479}"/>
              </a:ext>
            </a:extLst>
          </p:cNvPr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Sidebar.jsx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CBE08A-CF62-1CF6-D24F-3E849833D410}"/>
              </a:ext>
            </a:extLst>
          </p:cNvPr>
          <p:cNvSpPr/>
          <p:nvPr/>
        </p:nvSpPr>
        <p:spPr>
          <a:xfrm>
            <a:off x="640080" y="178308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000" dirty="0" err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braucht</a:t>
            </a: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err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</a:t>
            </a: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NICHT! ❌</a:t>
            </a:r>
            <a:endParaRPr lang="en-US" sz="1000" dirty="0"/>
          </a:p>
          <a:p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000" dirty="0" err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reicht</a:t>
            </a: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err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nur</a:t>
            </a: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err="1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weiter</a:t>
            </a: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>
              <a:solidFill>
                <a:srgbClr val="67E8F9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Sidebar(props)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[todos, setTodos]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 useState([...]);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&lt;Navbar todos={todos} 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</a:t>
            </a:r>
            <a:r>
              <a:rPr lang="en-DE" sz="1000" dirty="0" err="1">
                <a:solidFill>
                  <a:srgbClr val="B7C1CC"/>
                </a:solidFill>
                <a:effectLst/>
              </a:rPr>
              <a:t>TodoList</a:t>
            </a:r>
            <a:r>
              <a:rPr lang="en-DE" sz="1000" dirty="0">
                <a:solidFill>
                  <a:srgbClr val="B7C1CC"/>
                </a:solidFill>
                <a:effectLst/>
              </a:rPr>
              <a:t> </a:t>
            </a:r>
            <a:r>
              <a:rPr lang="en-DE" sz="1000" dirty="0" err="1">
                <a:solidFill>
                  <a:srgbClr val="B7C1CC"/>
                </a:solidFill>
                <a:effectLst/>
              </a:rPr>
              <a:t>todos</a:t>
            </a:r>
            <a:r>
              <a:rPr lang="en-DE" sz="1000" dirty="0">
                <a:solidFill>
                  <a:srgbClr val="B7C1CC"/>
                </a:solidFill>
                <a:effectLst/>
              </a:rPr>
              <a:t>={</a:t>
            </a:r>
            <a:r>
              <a:rPr lang="en-DE" sz="1000" dirty="0" err="1">
                <a:solidFill>
                  <a:srgbClr val="B7C1CC"/>
                </a:solidFill>
                <a:effectLst/>
              </a:rPr>
              <a:t>props.todos</a:t>
            </a:r>
            <a:r>
              <a:rPr lang="en-DE" sz="1000" dirty="0">
                <a:solidFill>
                  <a:srgbClr val="B7C1CC"/>
                </a:solidFill>
                <a:effectLst/>
              </a:rPr>
              <a:t>} </a:t>
            </a:r>
            <a:r>
              <a:rPr lang="en-DE" sz="1000" dirty="0" err="1">
                <a:solidFill>
                  <a:srgbClr val="B7C1CC"/>
                </a:solidFill>
                <a:effectLst/>
              </a:rPr>
              <a:t>setTodos</a:t>
            </a:r>
            <a:r>
              <a:rPr lang="en-DE" sz="1000" dirty="0">
                <a:solidFill>
                  <a:srgbClr val="B7C1CC"/>
                </a:solidFill>
                <a:effectLst/>
              </a:rPr>
              <a:t>={</a:t>
            </a:r>
            <a:r>
              <a:rPr lang="en-DE" sz="1000" dirty="0" err="1">
                <a:solidFill>
                  <a:srgbClr val="B7C1CC"/>
                </a:solidFill>
                <a:effectLst/>
              </a:rPr>
              <a:t>props.setTodos</a:t>
            </a:r>
            <a:r>
              <a:rPr lang="en-DE" sz="1000" dirty="0">
                <a:solidFill>
                  <a:srgbClr val="B7C1CC"/>
                </a:solidFill>
                <a:effectLst/>
              </a:rPr>
              <a:t>}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3229956-CC72-16C6-C28B-151B7546C16F}"/>
              </a:ext>
            </a:extLst>
          </p:cNvPr>
          <p:cNvSpPr/>
          <p:nvPr/>
        </p:nvSpPr>
        <p:spPr>
          <a:xfrm>
            <a:off x="4846320" y="146304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5BF4F95-E792-5D46-0E6D-10FCE9A825DD}"/>
              </a:ext>
            </a:extLst>
          </p:cNvPr>
          <p:cNvSpPr/>
          <p:nvPr/>
        </p:nvSpPr>
        <p:spPr>
          <a:xfrm>
            <a:off x="502920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TodoList.jsx</a:t>
            </a:r>
            <a:endParaRPr lang="en-US" sz="1000" dirty="0">
              <a:solidFill>
                <a:srgbClr val="06B6D4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5869B0-BA62-97D7-AF7A-9CD915835E65}"/>
              </a:ext>
            </a:extLst>
          </p:cNvPr>
          <p:cNvSpPr/>
          <p:nvPr/>
        </p:nvSpPr>
        <p:spPr>
          <a:xfrm>
            <a:off x="5029200" y="178308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</a:t>
            </a:r>
            <a:r>
              <a:rPr lang="en-US" sz="1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braucht</a:t>
            </a:r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0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</a:t>
            </a:r>
            <a:r>
              <a:rPr lang="en-US" sz="1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DE" sz="1000" dirty="0"/>
              <a:t>✅</a:t>
            </a:r>
            <a:endParaRPr lang="en-US" sz="1000" dirty="0"/>
          </a:p>
          <a:p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000" dirty="0" err="1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</a:t>
            </a: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(props)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&lt;ul&gt;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</a:rPr>
              <a:t>      {</a:t>
            </a:r>
            <a:r>
              <a:rPr lang="en-US" sz="1000" dirty="0" err="1">
                <a:solidFill>
                  <a:srgbClr val="CBD5E1"/>
                </a:solidFill>
                <a:latin typeface="Consolas" pitchFamily="34" charset="0"/>
              </a:rPr>
              <a:t>props.todos.map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</a:rPr>
              <a:t>(</a:t>
            </a:r>
            <a:r>
              <a:rPr lang="en-US" sz="1000" dirty="0" err="1">
                <a:solidFill>
                  <a:srgbClr val="CBD5E1"/>
                </a:solidFill>
                <a:latin typeface="Consolas" pitchFamily="34" charset="0"/>
              </a:rPr>
              <a:t>todo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</a:rPr>
              <a:t> =&gt; 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</a:rPr>
              <a:t>         &lt;li key={todo.id}&gt;{</a:t>
            </a:r>
            <a:r>
              <a:rPr lang="en-US" sz="1000" dirty="0" err="1">
                <a:solidFill>
                  <a:srgbClr val="CBD5E1"/>
                </a:solidFill>
                <a:latin typeface="Consolas" pitchFamily="34" charset="0"/>
              </a:rPr>
              <a:t>todo.text</a:t>
            </a:r>
            <a:r>
              <a:rPr lang="en-US" sz="1000" dirty="0">
                <a:solidFill>
                  <a:srgbClr val="CBD5E1"/>
                </a:solidFill>
                <a:latin typeface="Consolas" pitchFamily="34" charset="0"/>
              </a:rPr>
              <a:t>}&lt;/li&gt;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</a:rPr>
              <a:t>      ))}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</a:rPr>
              <a:t>    &lt;/ul&gt;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9B3772B-03BB-6968-CC42-B3B3C770C9F2}"/>
              </a:ext>
            </a:extLst>
          </p:cNvPr>
          <p:cNvSpPr/>
          <p:nvPr/>
        </p:nvSpPr>
        <p:spPr>
          <a:xfrm>
            <a:off x="457200" y="37490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5BF264E-0890-0B37-9420-1F560A720C0F}"/>
              </a:ext>
            </a:extLst>
          </p:cNvPr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 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</a:t>
            </a: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79058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global teilen – ohne Prop Drilling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erstellen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0" y="16459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3840480" y="16459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ThemeCtx = createContext();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wrappen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0" y="27432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3" name="Text 11"/>
          <p:cNvSpPr/>
          <p:nvPr/>
        </p:nvSpPr>
        <p:spPr>
          <a:xfrm>
            <a:off x="3840480" y="27432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&lt;ThemeCtx.Provider value={theme}&gt;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&lt;App /&gt;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&lt;/ThemeCtx.Provider&gt;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9776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Überall konsumieren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0" y="38404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3840480" y="38404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theme = useContext(ThemeCtx);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vs. Prop Drilling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 Drilling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173736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2194560"/>
            <a:ext cx="0" cy="1828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2834640"/>
            <a:ext cx="0" cy="1828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0" name="Shape 8"/>
          <p:cNvSpPr/>
          <p:nvPr/>
        </p:nvSpPr>
        <p:spPr>
          <a:xfrm>
            <a:off x="1371600" y="301752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14600" y="3474720"/>
            <a:ext cx="0" cy="1828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3" name="Shape 11"/>
          <p:cNvSpPr/>
          <p:nvPr/>
        </p:nvSpPr>
        <p:spPr>
          <a:xfrm>
            <a:off x="1371600" y="365760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API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29200" y="17373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50292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219456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9" name="Text 17"/>
          <p:cNvSpPr/>
          <p:nvPr/>
        </p:nvSpPr>
        <p:spPr>
          <a:xfrm>
            <a:off x="5760720" y="2194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60720" y="278892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576072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760720" y="338328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3" name="Text 21"/>
          <p:cNvSpPr/>
          <p:nvPr/>
        </p:nvSpPr>
        <p:spPr>
          <a:xfrm>
            <a:off x="5760720" y="33832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Sidebar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760720" y="3657600"/>
            <a:ext cx="2286000" cy="41148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576072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TodoList  useContext()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direkt!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– Wann passt es?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Perfekt für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7373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(Dark / Light Mode)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(eingeloggt / ausgeloggt)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5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Grenzen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0" y="173736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Re-Render: Alle Consumer bei jeder Änderung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für schnelle Updates (Slider, Drag&amp;Drop)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Contexts = "Provider Hell"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useReducer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Strukturierte State-Logik mit festen Regeln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 Objekt mit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allem Zustand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35204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03320" y="2057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Ein Zettel: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type: 'increment' 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20574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Regeln (switch/case):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(state, action) =&gt; new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1965960"/>
            <a:ext cx="320040" cy="320040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965960"/>
            <a:ext cx="320040" cy="3200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31520" y="3200400"/>
            <a:ext cx="7680960" cy="1554480"/>
          </a:xfrm>
          <a:prstGeom prst="roundRect">
            <a:avLst>
              <a:gd name="adj" fmla="val 5882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6" name="Text 12"/>
          <p:cNvSpPr/>
          <p:nvPr/>
        </p:nvSpPr>
        <p:spPr>
          <a:xfrm>
            <a:off x="1005840" y="329184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[state, dispatch] = useReducer(reducer, initialState);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Statt setCount(count + 1):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dispatch({ type: 'increment' });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Reducer entscheidet was passiert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useReducer – Counter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reducer(state, action)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switch (action.type)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'increment':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count: state.count + 1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'decrement':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count: state.count - 1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'reset':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count: 0 };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 return state;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[state, dispatch] = useReducer(reducer, { count: 0 });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onClick={() =&gt; dispatch({ type: 'increment' })}&gt;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Redux Toolkit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useReducer auf App-Ebene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Slice = Actions + Reducer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todoSlice = createSlice({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'todos',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initialState: [],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reducers: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addTodo: (state, action)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state.push(action.payload);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toggleTodo: (state, action)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const t = state.find(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 =&gt; t.id === action.payload);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t.done = !t.done;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+ Komponente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7830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0D1117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store = configureStore({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reducer: { todos: todoSlice.reducer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Komponente: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todos = useSelector(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 =&gt; state.todos);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dispatch = useDispatch();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dispatch(addTodo(newTodo));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dispatch(toggleTodo(id));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useSelector = wie useContext (lesen)  •  dispatch = wie bei useReducer (Action senden)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Vergleich – Wann was?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Scope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8FAF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Ideal für</a:t>
                      </a:r>
                      <a:endParaRPr lang="en-US" sz="13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useState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Einfache Werte (Counter, Input)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 Hook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Logik auslagern &amp; wiederverwenden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Context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Theme, Auth, Sprache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useReducer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Komplexe State-Logik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E8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Redux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Große Enterprise Apps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55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365760" cy="3657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41148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→ Custom Hook → Context → useReducer → Redux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Zusammenfassung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0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097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= Daten die sich zur Laufzeit ändern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459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71600" y="16002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 für lokalen State in einer Komponente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71600" y="21031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Hooks für saubere, wiederverwendbare Logik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65176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71600" y="26060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</a:t>
            </a:r>
            <a:r>
              <a:rPr lang="en-US" sz="1500" dirty="0" err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</a:t>
            </a: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mehrere Komponenten State teilen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546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7160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useReducer für strukturierte, komplexe State-Logik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71600" y="36118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Redux = useReducer auf App-Ebene</a:t>
            </a:r>
            <a:endParaRPr lang="en-US" sz="15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60520"/>
            <a:ext cx="274320" cy="2743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371600" y="4114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 einfach – skaliere bei Bedarf!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3657600" y="1188720"/>
            <a:ext cx="1828800" cy="1828800"/>
          </a:xfrm>
          <a:prstGeom prst="ellipse">
            <a:avLst/>
          </a:prstGeom>
          <a:solidFill>
            <a:srgbClr val="06B6D4">
              <a:alpha val="18000"/>
            </a:srgbClr>
          </a:solidFill>
          <a:ln/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Fragen?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 fürs Zuhören!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1320</Words>
  <Application>Microsoft Office PowerPoint</Application>
  <PresentationFormat>On-screen Show (16:9)</PresentationFormat>
  <Paragraphs>302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 Management in React</dc:title>
  <dc:subject>PptxGenJS Presentation</dc:subject>
  <dc:creator>Trung</dc:creator>
  <cp:lastModifiedBy>Dam, Trung</cp:lastModifiedBy>
  <cp:revision>5</cp:revision>
  <dcterms:created xsi:type="dcterms:W3CDTF">2026-06-04T01:59:13Z</dcterms:created>
  <dcterms:modified xsi:type="dcterms:W3CDTF">2026-06-04T02:17:15Z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2026-06-04T02:12:51Z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4a0f6f27-55ac-4fdc-b5af-c6be3bfb7fa8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