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66" r:id="rId3"/>
    <p:sldId id="272" r:id="rId4"/>
    <p:sldId id="273" r:id="rId5"/>
    <p:sldId id="259" r:id="rId6"/>
    <p:sldId id="274" r:id="rId7"/>
    <p:sldId id="275" r:id="rId8"/>
    <p:sldId id="276" r:id="rId9"/>
    <p:sldId id="277" r:id="rId10"/>
    <p:sldId id="278" r:id="rId11"/>
    <p:sldId id="279" r:id="rId12"/>
    <p:sldId id="261" r:id="rId13"/>
    <p:sldId id="262" r:id="rId14"/>
    <p:sldId id="263" r:id="rId15"/>
    <p:sldId id="264" r:id="rId16"/>
    <p:sldId id="265" r:id="rId17"/>
    <p:sldId id="290" r:id="rId18"/>
    <p:sldId id="280" r:id="rId19"/>
    <p:sldId id="283" r:id="rId20"/>
    <p:sldId id="284" r:id="rId21"/>
    <p:sldId id="281" r:id="rId22"/>
    <p:sldId id="282" r:id="rId23"/>
    <p:sldId id="285" r:id="rId24"/>
    <p:sldId id="286" r:id="rId25"/>
    <p:sldId id="287" r:id="rId26"/>
    <p:sldId id="288" r:id="rId27"/>
    <p:sldId id="289" r:id="rId2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187" autoAdjust="0"/>
  </p:normalViewPr>
  <p:slideViewPr>
    <p:cSldViewPr snapToGrid="0">
      <p:cViewPr varScale="1">
        <p:scale>
          <a:sx n="73" d="100"/>
          <a:sy n="73" d="100"/>
        </p:scale>
        <p:origin x="350" y="3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7" d="100"/>
          <a:sy n="47" d="100"/>
        </p:scale>
        <p:origin x="2670" y="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ini, Nils" userId="c34194c2-71ae-47de-8ef3-60d691fbf90d" providerId="ADAL" clId="{2B5572D2-0938-4090-A8FC-B2A706A919D5}"/>
    <pc:docChg chg="modSld">
      <pc:chgData name="Martini, Nils" userId="c34194c2-71ae-47de-8ef3-60d691fbf90d" providerId="ADAL" clId="{2B5572D2-0938-4090-A8FC-B2A706A919D5}" dt="2025-02-26T08:10:35.997" v="12" actId="20577"/>
      <pc:docMkLst>
        <pc:docMk/>
      </pc:docMkLst>
      <pc:sldChg chg="modSp mod">
        <pc:chgData name="Martini, Nils" userId="c34194c2-71ae-47de-8ef3-60d691fbf90d" providerId="ADAL" clId="{2B5572D2-0938-4090-A8FC-B2A706A919D5}" dt="2025-02-26T08:10:35.997" v="12" actId="20577"/>
        <pc:sldMkLst>
          <pc:docMk/>
          <pc:sldMk cId="925675539" sldId="256"/>
        </pc:sldMkLst>
      </pc:sldChg>
    </pc:docChg>
  </pc:docChgLst>
  <pc:docChgLst>
    <pc:chgData name="Martini, Nils" userId="c34194c2-71ae-47de-8ef3-60d691fbf90d" providerId="ADAL" clId="{4AB79B9E-74B7-4E01-9985-DB211E173166}"/>
    <pc:docChg chg="modSld">
      <pc:chgData name="Martini, Nils" userId="c34194c2-71ae-47de-8ef3-60d691fbf90d" providerId="ADAL" clId="{4AB79B9E-74B7-4E01-9985-DB211E173166}" dt="2024-09-09T11:46:00.758" v="12" actId="20577"/>
      <pc:docMkLst>
        <pc:docMk/>
      </pc:docMkLst>
      <pc:sldChg chg="modSp mod">
        <pc:chgData name="Martini, Nils" userId="c34194c2-71ae-47de-8ef3-60d691fbf90d" providerId="ADAL" clId="{4AB79B9E-74B7-4E01-9985-DB211E173166}" dt="2024-09-09T11:46:00.758" v="12" actId="20577"/>
        <pc:sldMkLst>
          <pc:docMk/>
          <pc:sldMk cId="925675539" sldId="256"/>
        </pc:sldMkLst>
      </pc:sldChg>
    </pc:docChg>
  </pc:docChgLst>
  <pc:docChgLst>
    <pc:chgData name="Martini, Nils" userId="c34194c2-71ae-47de-8ef3-60d691fbf90d" providerId="ADAL" clId="{E8828F55-7BF9-4C8A-A7D4-51B4E2385748}"/>
    <pc:docChg chg="modSld">
      <pc:chgData name="Martini, Nils" userId="c34194c2-71ae-47de-8ef3-60d691fbf90d" providerId="ADAL" clId="{E8828F55-7BF9-4C8A-A7D4-51B4E2385748}" dt="2025-09-17T08:43:21.166" v="7" actId="20577"/>
      <pc:docMkLst>
        <pc:docMk/>
      </pc:docMkLst>
      <pc:sldChg chg="modSp mod">
        <pc:chgData name="Martini, Nils" userId="c34194c2-71ae-47de-8ef3-60d691fbf90d" providerId="ADAL" clId="{E8828F55-7BF9-4C8A-A7D4-51B4E2385748}" dt="2025-09-17T08:43:21.166" v="7" actId="20577"/>
        <pc:sldMkLst>
          <pc:docMk/>
          <pc:sldMk cId="925675539" sldId="256"/>
        </pc:sldMkLst>
        <pc:spChg chg="mod">
          <ac:chgData name="Martini, Nils" userId="c34194c2-71ae-47de-8ef3-60d691fbf90d" providerId="ADAL" clId="{E8828F55-7BF9-4C8A-A7D4-51B4E2385748}" dt="2025-09-17T08:43:21.166" v="7" actId="20577"/>
          <ac:spMkLst>
            <pc:docMk/>
            <pc:sldMk cId="925675539" sldId="256"/>
            <ac:spMk id="3" creationId="{00000000-0000-0000-0000-000000000000}"/>
          </ac:spMkLst>
        </pc:spChg>
      </pc:sldChg>
    </pc:docChg>
  </pc:docChgLst>
  <pc:docChgLst>
    <pc:chgData name="Martini, Nils" userId="c34194c2-71ae-47de-8ef3-60d691fbf90d" providerId="ADAL" clId="{B6955E8A-FD55-45BE-9222-6021B42A8EA2}"/>
    <pc:docChg chg="modSld modMainMaster">
      <pc:chgData name="Martini, Nils" userId="c34194c2-71ae-47de-8ef3-60d691fbf90d" providerId="ADAL" clId="{B6955E8A-FD55-45BE-9222-6021B42A8EA2}" dt="2025-07-25T11:24:06.796" v="111" actId="20577"/>
      <pc:docMkLst>
        <pc:docMk/>
      </pc:docMkLst>
      <pc:sldChg chg="modSp mod">
        <pc:chgData name="Martini, Nils" userId="c34194c2-71ae-47de-8ef3-60d691fbf90d" providerId="ADAL" clId="{B6955E8A-FD55-45BE-9222-6021B42A8EA2}" dt="2025-07-25T11:22:09.923" v="9" actId="20577"/>
        <pc:sldMkLst>
          <pc:docMk/>
          <pc:sldMk cId="925675539" sldId="256"/>
        </pc:sldMkLst>
      </pc:sldChg>
      <pc:sldMasterChg chg="modSldLayout">
        <pc:chgData name="Martini, Nils" userId="c34194c2-71ae-47de-8ef3-60d691fbf90d" providerId="ADAL" clId="{B6955E8A-FD55-45BE-9222-6021B42A8EA2}" dt="2025-07-25T11:24:06.796" v="111" actId="20577"/>
        <pc:sldMasterMkLst>
          <pc:docMk/>
          <pc:sldMasterMk cId="3883322421" sldId="2147483648"/>
        </pc:sldMasterMkLst>
        <pc:sldLayoutChg chg="modSp mod">
          <pc:chgData name="Martini, Nils" userId="c34194c2-71ae-47de-8ef3-60d691fbf90d" providerId="ADAL" clId="{B6955E8A-FD55-45BE-9222-6021B42A8EA2}" dt="2025-07-25T11:24:06.796" v="111" actId="20577"/>
          <pc:sldLayoutMkLst>
            <pc:docMk/>
            <pc:sldMasterMk cId="3883322421" sldId="2147483648"/>
            <pc:sldLayoutMk cId="2231645580" sldId="2147483650"/>
          </pc:sldLayoutMkLst>
        </pc:sldLayoutChg>
        <pc:sldLayoutChg chg="modSp mod">
          <pc:chgData name="Martini, Nils" userId="c34194c2-71ae-47de-8ef3-60d691fbf90d" providerId="ADAL" clId="{B6955E8A-FD55-45BE-9222-6021B42A8EA2}" dt="2025-07-25T11:23:04.266" v="69" actId="20577"/>
          <pc:sldLayoutMkLst>
            <pc:docMk/>
            <pc:sldMasterMk cId="3883322421" sldId="2147483648"/>
            <pc:sldLayoutMk cId="687458762" sldId="2147483652"/>
          </pc:sldLayoutMkLst>
        </pc:sldLayoutChg>
        <pc:sldLayoutChg chg="modSp mod">
          <pc:chgData name="Martini, Nils" userId="c34194c2-71ae-47de-8ef3-60d691fbf90d" providerId="ADAL" clId="{B6955E8A-FD55-45BE-9222-6021B42A8EA2}" dt="2025-07-25T11:22:47.014" v="49" actId="20577"/>
          <pc:sldLayoutMkLst>
            <pc:docMk/>
            <pc:sldMasterMk cId="3883322421" sldId="2147483648"/>
            <pc:sldLayoutMk cId="897819904" sldId="2147483654"/>
          </pc:sldLayoutMkLst>
        </pc:sldLayoutChg>
        <pc:sldLayoutChg chg="modSp mod">
          <pc:chgData name="Martini, Nils" userId="c34194c2-71ae-47de-8ef3-60d691fbf90d" providerId="ADAL" clId="{B6955E8A-FD55-45BE-9222-6021B42A8EA2}" dt="2025-07-25T11:23:52.573" v="91" actId="20577"/>
          <pc:sldLayoutMkLst>
            <pc:docMk/>
            <pc:sldMasterMk cId="3883322421" sldId="2147483648"/>
            <pc:sldLayoutMk cId="4073662840" sldId="2147483660"/>
          </pc:sldLayoutMkLst>
        </pc:sldLayoutChg>
        <pc:sldLayoutChg chg="modSp mod">
          <pc:chgData name="Martini, Nils" userId="c34194c2-71ae-47de-8ef3-60d691fbf90d" providerId="ADAL" clId="{B6955E8A-FD55-45BE-9222-6021B42A8EA2}" dt="2025-07-25T11:22:28.663" v="29" actId="20577"/>
          <pc:sldLayoutMkLst>
            <pc:docMk/>
            <pc:sldMasterMk cId="3883322421" sldId="2147483648"/>
            <pc:sldLayoutMk cId="1060590665" sldId="2147483661"/>
          </pc:sldLayoutMkLst>
        </pc:sldLayoutChg>
      </pc:sldMasterChg>
    </pc:docChg>
  </pc:docChgLst>
  <pc:docChgLst>
    <pc:chgData name="Martini, Nils" userId="c34194c2-71ae-47de-8ef3-60d691fbf90d" providerId="ADAL" clId="{D69BA481-B73A-4036-B05C-BC91BA74DAED}"/>
    <pc:docChg chg="undo redo custSel addSld modSld">
      <pc:chgData name="Martini, Nils" userId="c34194c2-71ae-47de-8ef3-60d691fbf90d" providerId="ADAL" clId="{D69BA481-B73A-4036-B05C-BC91BA74DAED}" dt="2025-08-22T11:44:43.144" v="230" actId="207"/>
      <pc:docMkLst>
        <pc:docMk/>
      </pc:docMkLst>
      <pc:sldChg chg="add">
        <pc:chgData name="Martini, Nils" userId="c34194c2-71ae-47de-8ef3-60d691fbf90d" providerId="ADAL" clId="{D69BA481-B73A-4036-B05C-BC91BA74DAED}" dt="2025-08-22T11:41:09.996" v="211"/>
        <pc:sldMkLst>
          <pc:docMk/>
          <pc:sldMk cId="3859352406" sldId="259"/>
        </pc:sldMkLst>
      </pc:sldChg>
      <pc:sldChg chg="add">
        <pc:chgData name="Martini, Nils" userId="c34194c2-71ae-47de-8ef3-60d691fbf90d" providerId="ADAL" clId="{D69BA481-B73A-4036-B05C-BC91BA74DAED}" dt="2025-08-22T11:33:56.165" v="35"/>
        <pc:sldMkLst>
          <pc:docMk/>
          <pc:sldMk cId="3804338584" sldId="261"/>
        </pc:sldMkLst>
      </pc:sldChg>
      <pc:sldChg chg="modSp add mod">
        <pc:chgData name="Martini, Nils" userId="c34194c2-71ae-47de-8ef3-60d691fbf90d" providerId="ADAL" clId="{D69BA481-B73A-4036-B05C-BC91BA74DAED}" dt="2025-08-22T11:44:43.144" v="230" actId="207"/>
        <pc:sldMkLst>
          <pc:docMk/>
          <pc:sldMk cId="1917473916" sldId="262"/>
        </pc:sldMkLst>
        <pc:spChg chg="mod">
          <ac:chgData name="Martini, Nils" userId="c34194c2-71ae-47de-8ef3-60d691fbf90d" providerId="ADAL" clId="{D69BA481-B73A-4036-B05C-BC91BA74DAED}" dt="2025-08-22T11:38:09.461" v="201" actId="1076"/>
          <ac:spMkLst>
            <pc:docMk/>
            <pc:sldMk cId="1917473916" sldId="262"/>
            <ac:spMk id="5" creationId="{91912181-E9DE-F099-19AC-ACB80B2F105D}"/>
          </ac:spMkLst>
        </pc:spChg>
        <pc:spChg chg="mod">
          <ac:chgData name="Martini, Nils" userId="c34194c2-71ae-47de-8ef3-60d691fbf90d" providerId="ADAL" clId="{D69BA481-B73A-4036-B05C-BC91BA74DAED}" dt="2025-08-22T11:38:21.406" v="202" actId="1076"/>
          <ac:spMkLst>
            <pc:docMk/>
            <pc:sldMk cId="1917473916" sldId="262"/>
            <ac:spMk id="6" creationId="{2402F67A-CE76-F5B5-AF1D-F1A579DB5DB8}"/>
          </ac:spMkLst>
        </pc:spChg>
        <pc:spChg chg="mod">
          <ac:chgData name="Martini, Nils" userId="c34194c2-71ae-47de-8ef3-60d691fbf90d" providerId="ADAL" clId="{D69BA481-B73A-4036-B05C-BC91BA74DAED}" dt="2025-08-22T11:38:21.406" v="202" actId="1076"/>
          <ac:spMkLst>
            <pc:docMk/>
            <pc:sldMk cId="1917473916" sldId="262"/>
            <ac:spMk id="8" creationId="{11E9BBAA-D2D9-6B06-3EBF-067EC36A439A}"/>
          </ac:spMkLst>
        </pc:spChg>
        <pc:spChg chg="mod">
          <ac:chgData name="Martini, Nils" userId="c34194c2-71ae-47de-8ef3-60d691fbf90d" providerId="ADAL" clId="{D69BA481-B73A-4036-B05C-BC91BA74DAED}" dt="2025-08-22T11:38:00.222" v="199" actId="14100"/>
          <ac:spMkLst>
            <pc:docMk/>
            <pc:sldMk cId="1917473916" sldId="262"/>
            <ac:spMk id="14" creationId="{04EABDA8-6E94-B75F-04CD-CFDA50619877}"/>
          </ac:spMkLst>
        </pc:spChg>
        <pc:spChg chg="mod">
          <ac:chgData name="Martini, Nils" userId="c34194c2-71ae-47de-8ef3-60d691fbf90d" providerId="ADAL" clId="{D69BA481-B73A-4036-B05C-BC91BA74DAED}" dt="2025-08-22T11:38:21.406" v="202" actId="1076"/>
          <ac:spMkLst>
            <pc:docMk/>
            <pc:sldMk cId="1917473916" sldId="262"/>
            <ac:spMk id="21" creationId="{F39DB1EA-758A-A096-8CD0-94182F1A28AF}"/>
          </ac:spMkLst>
        </pc:spChg>
        <pc:spChg chg="mod">
          <ac:chgData name="Martini, Nils" userId="c34194c2-71ae-47de-8ef3-60d691fbf90d" providerId="ADAL" clId="{D69BA481-B73A-4036-B05C-BC91BA74DAED}" dt="2025-08-22T11:38:21.406" v="202" actId="1076"/>
          <ac:spMkLst>
            <pc:docMk/>
            <pc:sldMk cId="1917473916" sldId="262"/>
            <ac:spMk id="22" creationId="{4FE2796F-A632-342A-C309-C21F5D72541D}"/>
          </ac:spMkLst>
        </pc:spChg>
        <pc:spChg chg="mod">
          <ac:chgData name="Martini, Nils" userId="c34194c2-71ae-47de-8ef3-60d691fbf90d" providerId="ADAL" clId="{D69BA481-B73A-4036-B05C-BC91BA74DAED}" dt="2025-08-22T11:44:33.022" v="226" actId="207"/>
          <ac:spMkLst>
            <pc:docMk/>
            <pc:sldMk cId="1917473916" sldId="262"/>
            <ac:spMk id="24" creationId="{97EBE360-1EB0-2642-B1B1-F36807D3ABE6}"/>
          </ac:spMkLst>
        </pc:spChg>
        <pc:spChg chg="mod">
          <ac:chgData name="Martini, Nils" userId="c34194c2-71ae-47de-8ef3-60d691fbf90d" providerId="ADAL" clId="{D69BA481-B73A-4036-B05C-BC91BA74DAED}" dt="2025-08-22T11:44:43.144" v="230" actId="207"/>
          <ac:spMkLst>
            <pc:docMk/>
            <pc:sldMk cId="1917473916" sldId="262"/>
            <ac:spMk id="39" creationId="{BAF6CFC1-E57F-5148-1096-13EB7F96CE37}"/>
          </ac:spMkLst>
        </pc:spChg>
        <pc:spChg chg="mod">
          <ac:chgData name="Martini, Nils" userId="c34194c2-71ae-47de-8ef3-60d691fbf90d" providerId="ADAL" clId="{D69BA481-B73A-4036-B05C-BC91BA74DAED}" dt="2025-08-22T11:38:21.406" v="202" actId="1076"/>
          <ac:spMkLst>
            <pc:docMk/>
            <pc:sldMk cId="1917473916" sldId="262"/>
            <ac:spMk id="42" creationId="{8A7D2D5E-19EF-B559-60D0-6A0508F6E9CD}"/>
          </ac:spMkLst>
        </pc:spChg>
        <pc:spChg chg="mod">
          <ac:chgData name="Martini, Nils" userId="c34194c2-71ae-47de-8ef3-60d691fbf90d" providerId="ADAL" clId="{D69BA481-B73A-4036-B05C-BC91BA74DAED}" dt="2025-08-22T11:44:37.549" v="229" actId="207"/>
          <ac:spMkLst>
            <pc:docMk/>
            <pc:sldMk cId="1917473916" sldId="262"/>
            <ac:spMk id="58" creationId="{EADF6938-FBB5-BD17-51FE-2BB992A91FE7}"/>
          </ac:spMkLst>
        </pc:spChg>
        <pc:spChg chg="mod">
          <ac:chgData name="Martini, Nils" userId="c34194c2-71ae-47de-8ef3-60d691fbf90d" providerId="ADAL" clId="{D69BA481-B73A-4036-B05C-BC91BA74DAED}" dt="2025-08-22T11:38:21.406" v="202" actId="1076"/>
          <ac:spMkLst>
            <pc:docMk/>
            <pc:sldMk cId="1917473916" sldId="262"/>
            <ac:spMk id="66" creationId="{F89EFEB8-1926-E695-A2BC-2CD0CDD306A5}"/>
          </ac:spMkLst>
        </pc:spChg>
        <pc:spChg chg="mod">
          <ac:chgData name="Martini, Nils" userId="c34194c2-71ae-47de-8ef3-60d691fbf90d" providerId="ADAL" clId="{D69BA481-B73A-4036-B05C-BC91BA74DAED}" dt="2025-08-22T11:38:21.406" v="202" actId="1076"/>
          <ac:spMkLst>
            <pc:docMk/>
            <pc:sldMk cId="1917473916" sldId="262"/>
            <ac:spMk id="67" creationId="{1F958644-4D48-DE4C-5061-206F8C5DA4EA}"/>
          </ac:spMkLst>
        </pc:spChg>
        <pc:cxnChg chg="mod">
          <ac:chgData name="Martini, Nils" userId="c34194c2-71ae-47de-8ef3-60d691fbf90d" providerId="ADAL" clId="{D69BA481-B73A-4036-B05C-BC91BA74DAED}" dt="2025-08-22T11:44:33.989" v="227" actId="1076"/>
          <ac:cxnSpMkLst>
            <pc:docMk/>
            <pc:sldMk cId="1917473916" sldId="262"/>
            <ac:cxnSpMk id="43" creationId="{AB612293-9312-FB80-ED55-597E1F3878E2}"/>
          </ac:cxnSpMkLst>
        </pc:cxnChg>
        <pc:cxnChg chg="mod">
          <ac:chgData name="Martini, Nils" userId="c34194c2-71ae-47de-8ef3-60d691fbf90d" providerId="ADAL" clId="{D69BA481-B73A-4036-B05C-BC91BA74DAED}" dt="2025-08-22T11:44:33.989" v="227" actId="1076"/>
          <ac:cxnSpMkLst>
            <pc:docMk/>
            <pc:sldMk cId="1917473916" sldId="262"/>
            <ac:cxnSpMk id="47" creationId="{636373A6-179B-67B8-1306-A77492174A24}"/>
          </ac:cxnSpMkLst>
        </pc:cxnChg>
        <pc:cxnChg chg="mod">
          <ac:chgData name="Martini, Nils" userId="c34194c2-71ae-47de-8ef3-60d691fbf90d" providerId="ADAL" clId="{D69BA481-B73A-4036-B05C-BC91BA74DAED}" dt="2025-08-22T11:44:33.989" v="227" actId="1076"/>
          <ac:cxnSpMkLst>
            <pc:docMk/>
            <pc:sldMk cId="1917473916" sldId="262"/>
            <ac:cxnSpMk id="51" creationId="{2C0F2EA8-005A-CA8E-4576-922963D2FAC9}"/>
          </ac:cxnSpMkLst>
        </pc:cxnChg>
        <pc:cxnChg chg="mod">
          <ac:chgData name="Martini, Nils" userId="c34194c2-71ae-47de-8ef3-60d691fbf90d" providerId="ADAL" clId="{D69BA481-B73A-4036-B05C-BC91BA74DAED}" dt="2025-08-22T11:43:41.158" v="221" actId="1076"/>
          <ac:cxnSpMkLst>
            <pc:docMk/>
            <pc:sldMk cId="1917473916" sldId="262"/>
            <ac:cxnSpMk id="69" creationId="{B9B585D4-1CEE-3F3F-3272-115EFD6B5BC8}"/>
          </ac:cxnSpMkLst>
        </pc:cxnChg>
        <pc:cxnChg chg="mod">
          <ac:chgData name="Martini, Nils" userId="c34194c2-71ae-47de-8ef3-60d691fbf90d" providerId="ADAL" clId="{D69BA481-B73A-4036-B05C-BC91BA74DAED}" dt="2025-08-22T11:42:53.116" v="212" actId="1076"/>
          <ac:cxnSpMkLst>
            <pc:docMk/>
            <pc:sldMk cId="1917473916" sldId="262"/>
            <ac:cxnSpMk id="72" creationId="{F23CE3B4-C3BC-0EB5-5FC0-6EAF3975F040}"/>
          </ac:cxnSpMkLst>
        </pc:cxnChg>
        <pc:cxnChg chg="mod">
          <ac:chgData name="Martini, Nils" userId="c34194c2-71ae-47de-8ef3-60d691fbf90d" providerId="ADAL" clId="{D69BA481-B73A-4036-B05C-BC91BA74DAED}" dt="2025-08-22T11:42:53.116" v="212" actId="1076"/>
          <ac:cxnSpMkLst>
            <pc:docMk/>
            <pc:sldMk cId="1917473916" sldId="262"/>
            <ac:cxnSpMk id="75" creationId="{6E431133-BF86-9FDE-73F1-64E15DE5F1C8}"/>
          </ac:cxnSpMkLst>
        </pc:cxnChg>
      </pc:sldChg>
      <pc:sldChg chg="modSp add mod">
        <pc:chgData name="Martini, Nils" userId="c34194c2-71ae-47de-8ef3-60d691fbf90d" providerId="ADAL" clId="{D69BA481-B73A-4036-B05C-BC91BA74DAED}" dt="2025-08-22T11:38:50.612" v="207" actId="20577"/>
        <pc:sldMkLst>
          <pc:docMk/>
          <pc:sldMk cId="225853201" sldId="263"/>
        </pc:sldMkLst>
        <pc:spChg chg="mod">
          <ac:chgData name="Martini, Nils" userId="c34194c2-71ae-47de-8ef3-60d691fbf90d" providerId="ADAL" clId="{D69BA481-B73A-4036-B05C-BC91BA74DAED}" dt="2025-08-22T11:38:50.612" v="207" actId="20577"/>
          <ac:spMkLst>
            <pc:docMk/>
            <pc:sldMk cId="225853201" sldId="263"/>
            <ac:spMk id="14" creationId="{0DF8C57B-E25E-ED80-BFA0-65309B84E9F0}"/>
          </ac:spMkLst>
        </pc:spChg>
      </pc:sldChg>
      <pc:sldChg chg="add">
        <pc:chgData name="Martini, Nils" userId="c34194c2-71ae-47de-8ef3-60d691fbf90d" providerId="ADAL" clId="{D69BA481-B73A-4036-B05C-BC91BA74DAED}" dt="2025-08-22T11:33:56.165" v="35"/>
        <pc:sldMkLst>
          <pc:docMk/>
          <pc:sldMk cId="3240945799" sldId="264"/>
        </pc:sldMkLst>
      </pc:sldChg>
      <pc:sldChg chg="add">
        <pc:chgData name="Martini, Nils" userId="c34194c2-71ae-47de-8ef3-60d691fbf90d" providerId="ADAL" clId="{D69BA481-B73A-4036-B05C-BC91BA74DAED}" dt="2025-08-22T11:33:56.165" v="35"/>
        <pc:sldMkLst>
          <pc:docMk/>
          <pc:sldMk cId="759047123" sldId="265"/>
        </pc:sldMkLst>
      </pc:sldChg>
      <pc:sldChg chg="modSp mod">
        <pc:chgData name="Martini, Nils" userId="c34194c2-71ae-47de-8ef3-60d691fbf90d" providerId="ADAL" clId="{D69BA481-B73A-4036-B05C-BC91BA74DAED}" dt="2025-08-22T11:25:19.858" v="34" actId="6549"/>
        <pc:sldMkLst>
          <pc:docMk/>
          <pc:sldMk cId="3649917741" sldId="279"/>
        </pc:sldMkLst>
        <pc:spChg chg="mod">
          <ac:chgData name="Martini, Nils" userId="c34194c2-71ae-47de-8ef3-60d691fbf90d" providerId="ADAL" clId="{D69BA481-B73A-4036-B05C-BC91BA74DAED}" dt="2025-08-22T11:25:19.858" v="34" actId="6549"/>
          <ac:spMkLst>
            <pc:docMk/>
            <pc:sldMk cId="3649917741" sldId="279"/>
            <ac:spMk id="6" creationId="{00000000-0000-0000-0000-000000000000}"/>
          </ac:spMkLst>
        </pc:spChg>
      </pc:sldChg>
      <pc:sldChg chg="modSp add mod">
        <pc:chgData name="Martini, Nils" userId="c34194c2-71ae-47de-8ef3-60d691fbf90d" providerId="ADAL" clId="{D69BA481-B73A-4036-B05C-BC91BA74DAED}" dt="2025-08-22T11:39:34.898" v="210" actId="113"/>
        <pc:sldMkLst>
          <pc:docMk/>
          <pc:sldMk cId="306479786" sldId="290"/>
        </pc:sldMkLst>
        <pc:spChg chg="mod">
          <ac:chgData name="Martini, Nils" userId="c34194c2-71ae-47de-8ef3-60d691fbf90d" providerId="ADAL" clId="{D69BA481-B73A-4036-B05C-BC91BA74DAED}" dt="2025-08-22T11:39:34.898" v="210" actId="113"/>
          <ac:spMkLst>
            <pc:docMk/>
            <pc:sldMk cId="306479786" sldId="290"/>
            <ac:spMk id="14" creationId="{32C863E3-FB67-EC8C-9595-B738DE3BCBE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6478FC-1069-44B7-8BAF-FB4058B52624}" type="datetimeFigureOut">
              <a:rPr lang="de-DE" smtClean="0"/>
              <a:t>17.09.2025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0D0291-3554-4C30-8D4B-12D5FB4514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8941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D0291-3554-4C30-8D4B-12D5FB45146E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10210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D0291-3554-4C30-8D4B-12D5FB45146E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93085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D0291-3554-4C30-8D4B-12D5FB45146E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916306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D0291-3554-4C30-8D4B-12D5FB45146E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1353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7400450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 NM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38200" y="324000"/>
            <a:ext cx="10515600" cy="900000"/>
          </a:xfrm>
        </p:spPr>
        <p:txBody>
          <a:bodyPr>
            <a:normAutofit/>
          </a:bodyPr>
          <a:lstStyle>
            <a:lvl1pPr>
              <a:defRPr sz="2800" b="1" cap="all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1620000"/>
            <a:ext cx="10515600" cy="4048391"/>
          </a:xfrm>
        </p:spPr>
        <p:txBody>
          <a:bodyPr/>
          <a:lstStyle>
            <a:lvl1pPr>
              <a:defRPr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Symbol" panose="05050102010706020507" pitchFamily="18" charset="2"/>
              <a:buChar char="-"/>
              <a:defRPr sz="20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Courier New" panose="02070309020205020404" pitchFamily="49" charset="0"/>
              <a:buChar char="o"/>
              <a:defRPr sz="1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Symbol" panose="05050102010706020507" pitchFamily="18" charset="2"/>
              <a:buChar char="-"/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7" name="Bild 2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6190" y="6062660"/>
            <a:ext cx="2042584" cy="52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Untertitel 6"/>
          <p:cNvSpPr txBox="1">
            <a:spLocks/>
          </p:cNvSpPr>
          <p:nvPr userDrawn="1"/>
        </p:nvSpPr>
        <p:spPr>
          <a:xfrm>
            <a:off x="848783" y="6238876"/>
            <a:ext cx="7776633" cy="18256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de-DE" altLang="de-DE" sz="1100" b="1" dirty="0">
                <a:solidFill>
                  <a:srgbClr val="02298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Fakultät Informatik</a:t>
            </a:r>
          </a:p>
        </p:txBody>
      </p:sp>
      <p:sp>
        <p:nvSpPr>
          <p:cNvPr id="9" name="Textfeld 8"/>
          <p:cNvSpPr txBox="1">
            <a:spLocks noChangeArrowheads="1"/>
          </p:cNvSpPr>
          <p:nvPr userDrawn="1"/>
        </p:nvSpPr>
        <p:spPr bwMode="auto">
          <a:xfrm>
            <a:off x="838200" y="6421438"/>
            <a:ext cx="7787216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  <a:cs typeface="ヒラギノ角ゴ Pro W3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9pPr>
          </a:lstStyle>
          <a:p>
            <a:pPr eaLnBrk="1" hangingPunct="1">
              <a:defRPr/>
            </a:pPr>
            <a:r>
              <a:rPr lang="de-DE" sz="1100" dirty="0">
                <a:solidFill>
                  <a:srgbClr val="02298E"/>
                </a:solidFill>
                <a:latin typeface="Arial" charset="0"/>
                <a:cs typeface="Arial" charset="0"/>
              </a:rPr>
              <a:t>Medieninformatik</a:t>
            </a:r>
            <a:r>
              <a:rPr lang="de-DE" sz="1100" baseline="0" dirty="0">
                <a:solidFill>
                  <a:srgbClr val="02298E"/>
                </a:solidFill>
                <a:latin typeface="Arial" charset="0"/>
                <a:cs typeface="Arial" charset="0"/>
              </a:rPr>
              <a:t>  |  Informatik 2</a:t>
            </a:r>
            <a:endParaRPr lang="de-DE" sz="1100" dirty="0">
              <a:solidFill>
                <a:srgbClr val="02298E"/>
              </a:solidFill>
              <a:latin typeface="Arial" charset="0"/>
              <a:cs typeface="Arial" charset="0"/>
            </a:endParaRPr>
          </a:p>
        </p:txBody>
      </p:sp>
      <p:sp>
        <p:nvSpPr>
          <p:cNvPr id="10" name="Foliennummernplatzhalter 20"/>
          <p:cNvSpPr>
            <a:spLocks noGrp="1"/>
          </p:cNvSpPr>
          <p:nvPr>
            <p:ph type="sldNum" sz="quarter" idx="21"/>
          </p:nvPr>
        </p:nvSpPr>
        <p:spPr>
          <a:xfrm>
            <a:off x="8732463" y="5686426"/>
            <a:ext cx="28448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B49BA4C-56A9-4FA9-AC55-D60979330A5C}" type="slidenum">
              <a:rPr lang="de-DE" altLang="de-DE" smtClean="0"/>
              <a:pPr/>
              <a:t>‹Nr.›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22316455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0F90-1184-4C76-ABD1-B95024C5AC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5155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 NM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2"/>
          <p:cNvSpPr>
            <a:spLocks noGrp="1"/>
          </p:cNvSpPr>
          <p:nvPr>
            <p:ph type="pic" idx="1"/>
          </p:nvPr>
        </p:nvSpPr>
        <p:spPr>
          <a:xfrm>
            <a:off x="6223144" y="1620000"/>
            <a:ext cx="5132243" cy="402206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838200" y="324000"/>
            <a:ext cx="10515600" cy="900000"/>
          </a:xfrm>
        </p:spPr>
        <p:txBody>
          <a:bodyPr>
            <a:normAutofit/>
          </a:bodyPr>
          <a:lstStyle>
            <a:lvl1pPr>
              <a:defRPr sz="2800" b="1" cap="all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bearbeiten</a:t>
            </a:r>
          </a:p>
        </p:txBody>
      </p:sp>
      <p:sp>
        <p:nvSpPr>
          <p:cNvPr id="8" name="Inhaltsplatzhalter 2"/>
          <p:cNvSpPr>
            <a:spLocks noGrp="1"/>
          </p:cNvSpPr>
          <p:nvPr>
            <p:ph idx="10"/>
          </p:nvPr>
        </p:nvSpPr>
        <p:spPr>
          <a:xfrm>
            <a:off x="838200" y="1618181"/>
            <a:ext cx="5079715" cy="4023880"/>
          </a:xfrm>
        </p:spPr>
        <p:txBody>
          <a:bodyPr/>
          <a:lstStyle>
            <a:lvl1pPr>
              <a:defRPr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Symbol" panose="05050102010706020507" pitchFamily="18" charset="2"/>
              <a:buChar char="-"/>
              <a:defRPr sz="20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Courier New" panose="02070309020205020404" pitchFamily="49" charset="0"/>
              <a:buChar char="o"/>
              <a:defRPr sz="1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Symbol" panose="05050102010706020507" pitchFamily="18" charset="2"/>
              <a:buChar char="-"/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9" name="Bild 2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6190" y="6062660"/>
            <a:ext cx="2042584" cy="52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Untertitel 6"/>
          <p:cNvSpPr txBox="1">
            <a:spLocks/>
          </p:cNvSpPr>
          <p:nvPr userDrawn="1"/>
        </p:nvSpPr>
        <p:spPr>
          <a:xfrm>
            <a:off x="848783" y="6238876"/>
            <a:ext cx="7776633" cy="18256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de-DE" altLang="de-DE" sz="1100" b="1" dirty="0">
                <a:solidFill>
                  <a:srgbClr val="02298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Fakultät Informatik</a:t>
            </a:r>
          </a:p>
        </p:txBody>
      </p:sp>
      <p:sp>
        <p:nvSpPr>
          <p:cNvPr id="11" name="Textfeld 10"/>
          <p:cNvSpPr txBox="1">
            <a:spLocks noChangeArrowheads="1"/>
          </p:cNvSpPr>
          <p:nvPr userDrawn="1"/>
        </p:nvSpPr>
        <p:spPr bwMode="auto">
          <a:xfrm>
            <a:off x="838200" y="6421438"/>
            <a:ext cx="7787216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  <a:cs typeface="ヒラギノ角ゴ Pro W3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9pPr>
          </a:lstStyle>
          <a:p>
            <a:pPr eaLnBrk="1" hangingPunct="1">
              <a:defRPr/>
            </a:pPr>
            <a:r>
              <a:rPr lang="de-DE" sz="1100" dirty="0">
                <a:solidFill>
                  <a:srgbClr val="02298E"/>
                </a:solidFill>
                <a:latin typeface="Arial" charset="0"/>
                <a:cs typeface="Arial" charset="0"/>
              </a:rPr>
              <a:t>Medieninformatik</a:t>
            </a:r>
            <a:r>
              <a:rPr lang="de-DE" sz="1100" baseline="0" dirty="0">
                <a:solidFill>
                  <a:srgbClr val="02298E"/>
                </a:solidFill>
                <a:latin typeface="Arial" charset="0"/>
                <a:cs typeface="Arial" charset="0"/>
              </a:rPr>
              <a:t>  |  Informatik 2</a:t>
            </a:r>
            <a:endParaRPr lang="de-DE" sz="1100" dirty="0">
              <a:solidFill>
                <a:srgbClr val="02298E"/>
              </a:solidFill>
              <a:latin typeface="Arial" charset="0"/>
              <a:cs typeface="Arial" charset="0"/>
            </a:endParaRPr>
          </a:p>
        </p:txBody>
      </p:sp>
      <p:sp>
        <p:nvSpPr>
          <p:cNvPr id="13" name="Foliennummernplatzhalter 20"/>
          <p:cNvSpPr>
            <a:spLocks noGrp="1"/>
          </p:cNvSpPr>
          <p:nvPr>
            <p:ph type="sldNum" sz="quarter" idx="21"/>
          </p:nvPr>
        </p:nvSpPr>
        <p:spPr>
          <a:xfrm>
            <a:off x="8737600" y="5686426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0B190BD0-AA36-4EEF-9918-435B4FDBCC9F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0736628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NM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324000"/>
            <a:ext cx="10515600" cy="900000"/>
          </a:xfrm>
        </p:spPr>
        <p:txBody>
          <a:bodyPr>
            <a:normAutofit/>
          </a:bodyPr>
          <a:lstStyle>
            <a:lvl1pPr>
              <a:defRPr sz="2800" b="1" cap="all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pic>
        <p:nvPicPr>
          <p:cNvPr id="8" name="Bild 2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6190" y="6062660"/>
            <a:ext cx="2042584" cy="52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Untertitel 6"/>
          <p:cNvSpPr txBox="1">
            <a:spLocks/>
          </p:cNvSpPr>
          <p:nvPr userDrawn="1"/>
        </p:nvSpPr>
        <p:spPr>
          <a:xfrm>
            <a:off x="848783" y="6238876"/>
            <a:ext cx="7776633" cy="18256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de-DE" altLang="de-DE" sz="1100" b="1" dirty="0">
                <a:solidFill>
                  <a:srgbClr val="02298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Fakultät Informatik</a:t>
            </a:r>
          </a:p>
        </p:txBody>
      </p:sp>
      <p:sp>
        <p:nvSpPr>
          <p:cNvPr id="10" name="Textfeld 9"/>
          <p:cNvSpPr txBox="1">
            <a:spLocks noChangeArrowheads="1"/>
          </p:cNvSpPr>
          <p:nvPr userDrawn="1"/>
        </p:nvSpPr>
        <p:spPr bwMode="auto">
          <a:xfrm>
            <a:off x="838200" y="6421438"/>
            <a:ext cx="7787216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  <a:cs typeface="ヒラギノ角ゴ Pro W3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9pPr>
          </a:lstStyle>
          <a:p>
            <a:pPr eaLnBrk="1" hangingPunct="1">
              <a:defRPr/>
            </a:pPr>
            <a:r>
              <a:rPr lang="de-DE" sz="1100" dirty="0">
                <a:solidFill>
                  <a:srgbClr val="02298E"/>
                </a:solidFill>
                <a:latin typeface="Arial" charset="0"/>
                <a:cs typeface="Arial" charset="0"/>
              </a:rPr>
              <a:t>Medieninformatik</a:t>
            </a:r>
            <a:r>
              <a:rPr lang="de-DE" sz="1100" baseline="0" dirty="0">
                <a:solidFill>
                  <a:srgbClr val="02298E"/>
                </a:solidFill>
                <a:latin typeface="Arial" charset="0"/>
                <a:cs typeface="Arial" charset="0"/>
              </a:rPr>
              <a:t>  |  Informatik 2</a:t>
            </a:r>
            <a:endParaRPr lang="de-DE" sz="1100" dirty="0">
              <a:solidFill>
                <a:srgbClr val="02298E"/>
              </a:solidFill>
              <a:latin typeface="Arial" charset="0"/>
              <a:cs typeface="Arial" charset="0"/>
            </a:endParaRPr>
          </a:p>
        </p:txBody>
      </p:sp>
      <p:sp>
        <p:nvSpPr>
          <p:cNvPr id="12" name="Inhaltsplatzhalter 2"/>
          <p:cNvSpPr>
            <a:spLocks noGrp="1"/>
          </p:cNvSpPr>
          <p:nvPr>
            <p:ph idx="1"/>
          </p:nvPr>
        </p:nvSpPr>
        <p:spPr>
          <a:xfrm>
            <a:off x="838200" y="1618181"/>
            <a:ext cx="5079715" cy="4023880"/>
          </a:xfrm>
        </p:spPr>
        <p:txBody>
          <a:bodyPr/>
          <a:lstStyle>
            <a:lvl1pPr>
              <a:defRPr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Symbol" panose="05050102010706020507" pitchFamily="18" charset="2"/>
              <a:buChar char="-"/>
              <a:defRPr sz="20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Courier New" panose="02070309020205020404" pitchFamily="49" charset="0"/>
              <a:buChar char="o"/>
              <a:defRPr sz="1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Symbol" panose="05050102010706020507" pitchFamily="18" charset="2"/>
              <a:buChar char="-"/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idx="13"/>
          </p:nvPr>
        </p:nvSpPr>
        <p:spPr>
          <a:xfrm>
            <a:off x="6274085" y="1618181"/>
            <a:ext cx="5079715" cy="4023879"/>
          </a:xfrm>
        </p:spPr>
        <p:txBody>
          <a:bodyPr/>
          <a:lstStyle>
            <a:lvl1pPr>
              <a:defRPr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Symbol" panose="05050102010706020507" pitchFamily="18" charset="2"/>
              <a:buChar char="-"/>
              <a:defRPr sz="20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Courier New" panose="02070309020205020404" pitchFamily="49" charset="0"/>
              <a:buChar char="o"/>
              <a:defRPr sz="1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Symbol" panose="05050102010706020507" pitchFamily="18" charset="2"/>
              <a:buChar char="-"/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4" name="Foliennummernplatzhalter 20"/>
          <p:cNvSpPr>
            <a:spLocks noGrp="1"/>
          </p:cNvSpPr>
          <p:nvPr>
            <p:ph type="sldNum" sz="quarter" idx="21"/>
          </p:nvPr>
        </p:nvSpPr>
        <p:spPr>
          <a:xfrm>
            <a:off x="8737600" y="5686426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46146B35-E15B-41CF-A855-7A2002B5D955}" type="slidenum">
              <a:rPr lang="de-DE" altLang="de-DE" smtClean="0"/>
              <a:pPr/>
              <a:t>‹Nr.›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6874587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0F90-1184-4C76-ABD1-B95024C5AC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7625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/>
          <p:cNvSpPr>
            <a:spLocks noGrp="1"/>
          </p:cNvSpPr>
          <p:nvPr>
            <p:ph type="title"/>
          </p:nvPr>
        </p:nvSpPr>
        <p:spPr>
          <a:xfrm>
            <a:off x="838200" y="324000"/>
            <a:ext cx="10515600" cy="900000"/>
          </a:xfrm>
        </p:spPr>
        <p:txBody>
          <a:bodyPr>
            <a:normAutofit/>
          </a:bodyPr>
          <a:lstStyle>
            <a:lvl1pPr>
              <a:defRPr sz="2800" b="1" cap="all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pic>
        <p:nvPicPr>
          <p:cNvPr id="7" name="Bild 2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6190" y="6062660"/>
            <a:ext cx="2042584" cy="52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Untertitel 6"/>
          <p:cNvSpPr txBox="1">
            <a:spLocks/>
          </p:cNvSpPr>
          <p:nvPr userDrawn="1"/>
        </p:nvSpPr>
        <p:spPr>
          <a:xfrm>
            <a:off x="848783" y="6238876"/>
            <a:ext cx="7776633" cy="18256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de-DE" altLang="de-DE" sz="1100" b="1" dirty="0">
                <a:solidFill>
                  <a:srgbClr val="02298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Fakultät Informatik</a:t>
            </a:r>
          </a:p>
        </p:txBody>
      </p:sp>
      <p:sp>
        <p:nvSpPr>
          <p:cNvPr id="9" name="Textfeld 8"/>
          <p:cNvSpPr txBox="1">
            <a:spLocks noChangeArrowheads="1"/>
          </p:cNvSpPr>
          <p:nvPr userDrawn="1"/>
        </p:nvSpPr>
        <p:spPr bwMode="auto">
          <a:xfrm>
            <a:off x="838200" y="6421438"/>
            <a:ext cx="7787216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  <a:cs typeface="ヒラギノ角ゴ Pro W3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9pPr>
          </a:lstStyle>
          <a:p>
            <a:pPr eaLnBrk="1" hangingPunct="1">
              <a:defRPr/>
            </a:pPr>
            <a:r>
              <a:rPr lang="de-DE" sz="1100" dirty="0">
                <a:solidFill>
                  <a:srgbClr val="02298E"/>
                </a:solidFill>
                <a:latin typeface="Arial" charset="0"/>
                <a:cs typeface="Arial" charset="0"/>
              </a:rPr>
              <a:t>Medieninformatik</a:t>
            </a:r>
            <a:r>
              <a:rPr lang="de-DE" sz="1100" baseline="0" dirty="0">
                <a:solidFill>
                  <a:srgbClr val="02298E"/>
                </a:solidFill>
                <a:latin typeface="Arial" charset="0"/>
                <a:cs typeface="Arial" charset="0"/>
              </a:rPr>
              <a:t>  |  Informatik 2</a:t>
            </a:r>
            <a:endParaRPr lang="de-DE" sz="1100" dirty="0">
              <a:solidFill>
                <a:srgbClr val="02298E"/>
              </a:solidFill>
              <a:latin typeface="Arial" charset="0"/>
              <a:cs typeface="Arial" charset="0"/>
            </a:endParaRPr>
          </a:p>
        </p:txBody>
      </p:sp>
      <p:sp>
        <p:nvSpPr>
          <p:cNvPr id="10" name="Foliennummernplatzhalter 20"/>
          <p:cNvSpPr>
            <a:spLocks noGrp="1"/>
          </p:cNvSpPr>
          <p:nvPr>
            <p:ph type="sldNum" sz="quarter" idx="21"/>
          </p:nvPr>
        </p:nvSpPr>
        <p:spPr>
          <a:xfrm>
            <a:off x="8737600" y="5686426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0B190BD0-AA36-4EEF-9918-435B4FDBCC9F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8978199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0F90-1184-4C76-ABD1-B95024C5AC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7860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0F90-1184-4C76-ABD1-B95024C5AC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4794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0F90-1184-4C76-ABD1-B95024C5AC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5662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0F90-1184-4C76-ABD1-B95024C5AC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83683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0F90-1184-4C76-ABD1-B95024C5AC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79932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Überschrift und Inhalt NM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38200" y="324000"/>
            <a:ext cx="10515600" cy="900000"/>
          </a:xfrm>
        </p:spPr>
        <p:txBody>
          <a:bodyPr>
            <a:normAutofit/>
          </a:bodyPr>
          <a:lstStyle>
            <a:lvl1pPr>
              <a:defRPr sz="2800" b="1" cap="all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076701"/>
            <a:ext cx="10515600" cy="3670067"/>
          </a:xfrm>
        </p:spPr>
        <p:txBody>
          <a:bodyPr/>
          <a:lstStyle>
            <a:lvl1pPr>
              <a:defRPr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Symbol" panose="05050102010706020507" pitchFamily="18" charset="2"/>
              <a:buChar char="-"/>
              <a:defRPr sz="20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Courier New" panose="02070309020205020404" pitchFamily="49" charset="0"/>
              <a:buChar char="o"/>
              <a:defRPr sz="1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Symbol" panose="05050102010706020507" pitchFamily="18" charset="2"/>
              <a:buChar char="-"/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7" name="Bild 2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6190" y="6062660"/>
            <a:ext cx="2042584" cy="52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Untertitel 6"/>
          <p:cNvSpPr txBox="1">
            <a:spLocks/>
          </p:cNvSpPr>
          <p:nvPr userDrawn="1"/>
        </p:nvSpPr>
        <p:spPr>
          <a:xfrm>
            <a:off x="848783" y="6238876"/>
            <a:ext cx="7776633" cy="18256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de-DE" altLang="de-DE" sz="1100" b="1" dirty="0">
                <a:solidFill>
                  <a:srgbClr val="02298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Fakultät Informatik</a:t>
            </a:r>
          </a:p>
        </p:txBody>
      </p:sp>
      <p:sp>
        <p:nvSpPr>
          <p:cNvPr id="9" name="Textfeld 8"/>
          <p:cNvSpPr txBox="1">
            <a:spLocks noChangeArrowheads="1"/>
          </p:cNvSpPr>
          <p:nvPr userDrawn="1"/>
        </p:nvSpPr>
        <p:spPr bwMode="auto">
          <a:xfrm>
            <a:off x="838200" y="6421438"/>
            <a:ext cx="7787216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  <a:cs typeface="ヒラギノ角ゴ Pro W3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9pPr>
          </a:lstStyle>
          <a:p>
            <a:pPr eaLnBrk="1" hangingPunct="1">
              <a:defRPr/>
            </a:pPr>
            <a:r>
              <a:rPr lang="de-DE" sz="1100" dirty="0">
                <a:solidFill>
                  <a:srgbClr val="02298E"/>
                </a:solidFill>
                <a:latin typeface="Arial" charset="0"/>
                <a:cs typeface="Arial" charset="0"/>
              </a:rPr>
              <a:t>Medieninformatik</a:t>
            </a:r>
            <a:r>
              <a:rPr lang="de-DE" sz="1100" baseline="0" dirty="0">
                <a:solidFill>
                  <a:srgbClr val="02298E"/>
                </a:solidFill>
                <a:latin typeface="Arial" charset="0"/>
                <a:cs typeface="Arial" charset="0"/>
              </a:rPr>
              <a:t>  |  Informatik 2</a:t>
            </a:r>
            <a:endParaRPr lang="de-DE" sz="1100" dirty="0">
              <a:solidFill>
                <a:srgbClr val="02298E"/>
              </a:solidFill>
              <a:latin typeface="Arial" charset="0"/>
              <a:cs typeface="Arial" charset="0"/>
            </a:endParaRPr>
          </a:p>
        </p:txBody>
      </p:sp>
      <p:sp>
        <p:nvSpPr>
          <p:cNvPr id="10" name="Foliennummernplatzhalter 20"/>
          <p:cNvSpPr>
            <a:spLocks noGrp="1"/>
          </p:cNvSpPr>
          <p:nvPr>
            <p:ph type="sldNum" sz="quarter" idx="21"/>
          </p:nvPr>
        </p:nvSpPr>
        <p:spPr>
          <a:xfrm>
            <a:off x="8732463" y="5686426"/>
            <a:ext cx="28448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B49BA4C-56A9-4FA9-AC55-D60979330A5C}" type="slidenum">
              <a:rPr lang="de-DE" altLang="de-DE" smtClean="0"/>
              <a:pPr/>
              <a:t>‹Nr.›</a:t>
            </a:fld>
            <a:endParaRPr lang="de-DE" altLang="de-DE" dirty="0"/>
          </a:p>
        </p:txBody>
      </p:sp>
      <p:sp>
        <p:nvSpPr>
          <p:cNvPr id="12" name="Inhaltsplatzhalter 2"/>
          <p:cNvSpPr>
            <a:spLocks noGrp="1"/>
          </p:cNvSpPr>
          <p:nvPr>
            <p:ph idx="22" hasCustomPrompt="1"/>
          </p:nvPr>
        </p:nvSpPr>
        <p:spPr>
          <a:xfrm>
            <a:off x="838200" y="1299513"/>
            <a:ext cx="10515600" cy="456136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Symbol" panose="05050102010706020507" pitchFamily="18" charset="2"/>
              <a:buChar char="-"/>
              <a:defRPr sz="20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Courier New" panose="02070309020205020404" pitchFamily="49" charset="0"/>
              <a:buChar char="o"/>
              <a:defRPr sz="1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Symbol" panose="05050102010706020507" pitchFamily="18" charset="2"/>
              <a:buChar char="-"/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0605906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50F90-1184-4C76-ABD1-B95024C5AC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3322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0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3999" y="1122363"/>
            <a:ext cx="9596637" cy="2387600"/>
          </a:xfrm>
        </p:spPr>
        <p:txBody>
          <a:bodyPr>
            <a:normAutofit/>
          </a:bodyPr>
          <a:lstStyle/>
          <a:p>
            <a:pPr algn="l"/>
            <a:r>
              <a:rPr lang="de-DE" sz="3200" b="1" cap="all" dirty="0">
                <a:solidFill>
                  <a:schemeClr val="accent1">
                    <a:lumMod val="50000"/>
                  </a:schemeClr>
                </a:solidFill>
              </a:rPr>
              <a:t>Informatik 2</a:t>
            </a:r>
            <a:br>
              <a:rPr lang="de-DE" sz="3200" b="1" cap="all" dirty="0">
                <a:solidFill>
                  <a:schemeClr val="accent1">
                    <a:lumMod val="50000"/>
                  </a:schemeClr>
                </a:solidFill>
              </a:rPr>
            </a:br>
            <a:br>
              <a:rPr lang="de-DE" sz="3200" b="1" cap="all" dirty="0">
                <a:solidFill>
                  <a:schemeClr val="accent1">
                    <a:lumMod val="50000"/>
                  </a:schemeClr>
                </a:solidFill>
              </a:rPr>
            </a:br>
            <a:br>
              <a:rPr lang="de-DE" sz="3200" b="1" cap="all" dirty="0">
                <a:solidFill>
                  <a:schemeClr val="accent1">
                    <a:lumMod val="50000"/>
                  </a:schemeClr>
                </a:solidFill>
              </a:rPr>
            </a:br>
            <a:endParaRPr lang="de-DE" sz="4000" b="1" cap="all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263368"/>
            <a:ext cx="9144000" cy="2299688"/>
          </a:xfrm>
        </p:spPr>
        <p:txBody>
          <a:bodyPr>
            <a:normAutofit/>
          </a:bodyPr>
          <a:lstStyle/>
          <a:p>
            <a:pPr algn="l"/>
            <a:r>
              <a:rPr lang="de-DE" b="1" dirty="0">
                <a:solidFill>
                  <a:schemeClr val="accent1">
                    <a:lumMod val="50000"/>
                  </a:schemeClr>
                </a:solidFill>
              </a:rPr>
              <a:t>Routing-Protokolle und Routing-Algorithmen</a:t>
            </a:r>
            <a:endParaRPr lang="de-DE" sz="1700" b="1" dirty="0">
              <a:solidFill>
                <a:schemeClr val="accent1">
                  <a:lumMod val="50000"/>
                </a:schemeClr>
              </a:solidFill>
            </a:endParaRPr>
          </a:p>
          <a:p>
            <a:pPr algn="l"/>
            <a:endParaRPr lang="de-DE" sz="1800" dirty="0">
              <a:solidFill>
                <a:schemeClr val="accent1">
                  <a:lumMod val="50000"/>
                </a:schemeClr>
              </a:solidFill>
            </a:endParaRPr>
          </a:p>
          <a:p>
            <a:pPr algn="l"/>
            <a:endParaRPr lang="de-DE" sz="1800" dirty="0">
              <a:solidFill>
                <a:schemeClr val="accent1">
                  <a:lumMod val="50000"/>
                </a:schemeClr>
              </a:solidFill>
            </a:endParaRPr>
          </a:p>
          <a:p>
            <a:pPr algn="l"/>
            <a:endParaRPr lang="de-DE" sz="1800" dirty="0">
              <a:solidFill>
                <a:schemeClr val="accent1">
                  <a:lumMod val="50000"/>
                </a:schemeClr>
              </a:solidFill>
            </a:endParaRPr>
          </a:p>
          <a:p>
            <a:pPr algn="l">
              <a:lnSpc>
                <a:spcPct val="110000"/>
              </a:lnSpc>
              <a:spcBef>
                <a:spcPct val="0"/>
              </a:spcBef>
            </a:pPr>
            <a:r>
              <a:rPr lang="de-DE" altLang="de-DE" sz="1500" dirty="0">
                <a:solidFill>
                  <a:schemeClr val="accent1">
                    <a:lumMod val="50000"/>
                  </a:schemeClr>
                </a:solidFill>
                <a:ea typeface="ヒラギノ角ゴ Pro W3" pitchFamily="123" charset="-128"/>
              </a:rPr>
              <a:t>Prof. Dr. Nils Martini</a:t>
            </a:r>
            <a:br>
              <a:rPr lang="de-DE" altLang="de-DE" sz="1500" dirty="0">
                <a:solidFill>
                  <a:schemeClr val="accent1">
                    <a:lumMod val="50000"/>
                  </a:schemeClr>
                </a:solidFill>
                <a:ea typeface="ヒラギノ角ゴ Pro W3" pitchFamily="123" charset="-128"/>
              </a:rPr>
            </a:br>
            <a:r>
              <a:rPr lang="de-DE" altLang="de-DE" sz="1500" dirty="0">
                <a:solidFill>
                  <a:schemeClr val="accent1">
                    <a:lumMod val="50000"/>
                  </a:schemeClr>
                </a:solidFill>
                <a:ea typeface="ヒラギノ角ゴ Pro W3" pitchFamily="123" charset="-128"/>
              </a:rPr>
              <a:t>Hochschule für Angewandte Wissenschaften Hamburg</a:t>
            </a:r>
          </a:p>
          <a:p>
            <a:pPr algn="l">
              <a:lnSpc>
                <a:spcPct val="110000"/>
              </a:lnSpc>
              <a:spcBef>
                <a:spcPct val="0"/>
              </a:spcBef>
            </a:pPr>
            <a:r>
              <a:rPr lang="de-DE" altLang="de-DE" sz="1500" dirty="0">
                <a:solidFill>
                  <a:schemeClr val="accent1">
                    <a:lumMod val="50000"/>
                  </a:schemeClr>
                </a:solidFill>
                <a:ea typeface="ヒラギノ角ゴ Pro W3" pitchFamily="123" charset="-128"/>
              </a:rPr>
              <a:t>Wintersemester 2025/2026</a:t>
            </a:r>
          </a:p>
          <a:p>
            <a:pPr algn="l"/>
            <a:endParaRPr lang="de-DE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" name="Bild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6000" y="5760000"/>
            <a:ext cx="2465189" cy="636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25675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routing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076701"/>
            <a:ext cx="10515600" cy="4057617"/>
          </a:xfrm>
        </p:spPr>
        <p:txBody>
          <a:bodyPr>
            <a:normAutofit/>
          </a:bodyPr>
          <a:lstStyle/>
          <a:p>
            <a:r>
              <a:rPr lang="de-DE" dirty="0"/>
              <a:t>Beim </a:t>
            </a:r>
            <a:r>
              <a:rPr lang="de-DE" dirty="0" err="1"/>
              <a:t>Distance</a:t>
            </a:r>
            <a:r>
              <a:rPr lang="de-DE" dirty="0"/>
              <a:t>-</a:t>
            </a:r>
            <a:r>
              <a:rPr lang="de-DE" dirty="0" err="1"/>
              <a:t>Vector</a:t>
            </a:r>
            <a:r>
              <a:rPr lang="de-DE" dirty="0"/>
              <a:t>-Routing wird eine 				   Routing-Information schrittweise von einem 					  Router an seine unmittelbaren Nachbarn weitergegeben. </a:t>
            </a:r>
          </a:p>
          <a:p>
            <a:r>
              <a:rPr lang="de-DE" dirty="0"/>
              <a:t>Zu diesem Entfernungswert (Distanz) wird der Abstand zum Nachbarn (Metrik) hinzuaddiert.</a:t>
            </a:r>
          </a:p>
          <a:p>
            <a:r>
              <a:rPr lang="de-DE" dirty="0"/>
              <a:t>Für jeden Knoten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de-DE" dirty="0"/>
              <a:t> wird der kürzeste Gesamt-Weg 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d(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i,j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de-DE" dirty="0"/>
              <a:t>  zu allen anderen Knoten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de-DE" dirty="0"/>
              <a:t> über die jeweils vorhandenen Nachbar-Knoten 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de-DE" dirty="0"/>
              <a:t> ermittelt: </a:t>
            </a:r>
          </a:p>
          <a:p>
            <a:pPr marL="0" indent="0">
              <a:buNone/>
            </a:pP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	d(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i,j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) = min[ M(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i,n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) + d(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n,j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) ]   </a:t>
            </a:r>
            <a:r>
              <a:rPr lang="de-DE" dirty="0"/>
              <a:t>für alle 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2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 err="1"/>
              <a:t>Distance</a:t>
            </a:r>
            <a:r>
              <a:rPr lang="de-DE" dirty="0"/>
              <a:t> </a:t>
            </a:r>
            <a:r>
              <a:rPr lang="de-DE" dirty="0" err="1"/>
              <a:t>Vector</a:t>
            </a:r>
            <a:r>
              <a:rPr lang="de-DE" dirty="0"/>
              <a:t> Verfahren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75441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routing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Problem: Langsame Konvergenz bei Änderungen</a:t>
            </a:r>
          </a:p>
          <a:p>
            <a:r>
              <a:rPr lang="de-DE" dirty="0"/>
              <a:t>„Count-</a:t>
            </a:r>
            <a:r>
              <a:rPr lang="de-DE" dirty="0" err="1"/>
              <a:t>to</a:t>
            </a:r>
            <a:r>
              <a:rPr lang="de-DE" dirty="0"/>
              <a:t>-</a:t>
            </a:r>
            <a:r>
              <a:rPr lang="de-DE" dirty="0" err="1"/>
              <a:t>Infinity</a:t>
            </a:r>
            <a:r>
              <a:rPr lang="de-DE" dirty="0"/>
              <a:t>“</a:t>
            </a:r>
          </a:p>
          <a:p>
            <a:r>
              <a:rPr lang="de-DE" dirty="0"/>
              <a:t>Einfache Lösungen:</a:t>
            </a:r>
          </a:p>
          <a:p>
            <a:pPr lvl="1"/>
            <a:r>
              <a:rPr lang="de-DE" dirty="0"/>
              <a:t>Split-</a:t>
            </a:r>
            <a:r>
              <a:rPr lang="de-DE" dirty="0" err="1"/>
              <a:t>Horizon</a:t>
            </a:r>
            <a:endParaRPr lang="de-DE" dirty="0"/>
          </a:p>
          <a:p>
            <a:pPr lvl="1"/>
            <a:r>
              <a:rPr lang="de-DE" dirty="0" err="1"/>
              <a:t>Poisoned</a:t>
            </a:r>
            <a:r>
              <a:rPr lang="de-DE" dirty="0"/>
              <a:t> Reverse</a:t>
            </a:r>
          </a:p>
          <a:p>
            <a:pPr lvl="1"/>
            <a:r>
              <a:rPr lang="de-DE" dirty="0" err="1"/>
              <a:t>Triggered</a:t>
            </a:r>
            <a:r>
              <a:rPr lang="de-DE" dirty="0"/>
              <a:t> Update</a:t>
            </a:r>
          </a:p>
          <a:p>
            <a:r>
              <a:rPr lang="de-DE" dirty="0"/>
              <a:t>Vollständiges verhindern des CTI nur mittels Übermittlung sämtlicher Pfad-Informationen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3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 err="1"/>
              <a:t>Distance</a:t>
            </a:r>
            <a:r>
              <a:rPr lang="de-DE" dirty="0"/>
              <a:t> </a:t>
            </a:r>
            <a:r>
              <a:rPr lang="de-DE" dirty="0" err="1"/>
              <a:t>Vector</a:t>
            </a:r>
            <a:r>
              <a:rPr lang="de-DE" dirty="0"/>
              <a:t> Routing</a:t>
            </a:r>
          </a:p>
        </p:txBody>
      </p:sp>
    </p:spTree>
    <p:extLst>
      <p:ext uri="{BB962C8B-B14F-4D97-AF65-F5344CB8AC3E}">
        <p14:creationId xmlns:p14="http://schemas.microsoft.com/office/powerpoint/2010/main" val="197459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Vermittlungsschicht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Erstes dynamisches Routing-Protokoll im Internet</a:t>
            </a:r>
          </a:p>
          <a:p>
            <a:r>
              <a:rPr lang="de-DE" dirty="0"/>
              <a:t>Das RIP-Protokoll arbeitet nach dem Prinzip des sog. </a:t>
            </a:r>
            <a:r>
              <a:rPr lang="de-DE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Distance</a:t>
            </a:r>
            <a:r>
              <a:rPr lang="de-DE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-</a:t>
            </a:r>
            <a:r>
              <a:rPr lang="de-DE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Vector</a:t>
            </a:r>
            <a:r>
              <a:rPr lang="de-DE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-Routings</a:t>
            </a:r>
          </a:p>
          <a:p>
            <a:r>
              <a:rPr lang="de-DE" dirty="0"/>
              <a:t>Eine Routing-Information wird schrittweise von einem Router an seine unmittelbaren Nachbarn weitergegeben. </a:t>
            </a:r>
          </a:p>
          <a:p>
            <a:r>
              <a:rPr lang="de-DE" dirty="0"/>
              <a:t>Daher ist auch RIP vom Count-</a:t>
            </a:r>
            <a:r>
              <a:rPr lang="de-DE" dirty="0" err="1"/>
              <a:t>to</a:t>
            </a:r>
            <a:r>
              <a:rPr lang="de-DE" dirty="0"/>
              <a:t>-</a:t>
            </a:r>
            <a:r>
              <a:rPr lang="de-DE" dirty="0" err="1"/>
              <a:t>Infinity</a:t>
            </a:r>
            <a:r>
              <a:rPr lang="de-DE" dirty="0"/>
              <a:t>-Problem betroffen. 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4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Routing Information Protocol RIP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8335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1AC61C-B248-88C8-E095-0097E3EA9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Routing Information Protocol (RIP)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B25E06-3D95-8354-1259-2B351B94C9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181"/>
            <a:ext cx="5079715" cy="860215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Informationen über das Netzwerk kommen nur von den Nachbarn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80E207B-5A90-A9C2-09CB-C1BE6443512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74085" y="1618181"/>
            <a:ext cx="5079715" cy="860215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Damit wird die Routing-Tabelle von Router R erstellt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8AB8254-2023-65B7-EB35-7F1C219309D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6146B35-E15B-41CF-A855-7A2002B5D955}" type="slidenum">
              <a:rPr lang="de-DE" altLang="de-DE" smtClean="0"/>
              <a:pPr/>
              <a:t>5</a:t>
            </a:fld>
            <a:endParaRPr lang="de-DE" altLang="de-DE" dirty="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DA862BF3-53FD-8C51-9086-4C47B11D7A09}"/>
              </a:ext>
            </a:extLst>
          </p:cNvPr>
          <p:cNvSpPr/>
          <p:nvPr/>
        </p:nvSpPr>
        <p:spPr>
          <a:xfrm>
            <a:off x="2926101" y="5130889"/>
            <a:ext cx="624771" cy="61649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D7650AA7-A81B-D1E6-FE0C-D2046563DFCE}"/>
              </a:ext>
            </a:extLst>
          </p:cNvPr>
          <p:cNvSpPr/>
          <p:nvPr/>
        </p:nvSpPr>
        <p:spPr>
          <a:xfrm>
            <a:off x="807088" y="2830800"/>
            <a:ext cx="624771" cy="616496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 dirty="0">
                <a:solidFill>
                  <a:schemeClr val="tx1"/>
                </a:solidFill>
              </a:rPr>
              <a:t>N1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4A8A9028-BC89-6B93-B086-6B628F248592}"/>
              </a:ext>
            </a:extLst>
          </p:cNvPr>
          <p:cNvSpPr/>
          <p:nvPr/>
        </p:nvSpPr>
        <p:spPr>
          <a:xfrm>
            <a:off x="2403456" y="2692514"/>
            <a:ext cx="624771" cy="616496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 dirty="0">
                <a:solidFill>
                  <a:schemeClr val="tx1"/>
                </a:solidFill>
              </a:rPr>
              <a:t>N2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170AEED1-A175-41D3-D026-18ED7A2B7AD7}"/>
              </a:ext>
            </a:extLst>
          </p:cNvPr>
          <p:cNvSpPr/>
          <p:nvPr/>
        </p:nvSpPr>
        <p:spPr>
          <a:xfrm>
            <a:off x="4001176" y="2872577"/>
            <a:ext cx="624771" cy="616496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 dirty="0">
                <a:solidFill>
                  <a:schemeClr val="tx1"/>
                </a:solidFill>
              </a:rPr>
              <a:t>N3</a:t>
            </a:r>
          </a:p>
        </p:txBody>
      </p:sp>
      <p:sp>
        <p:nvSpPr>
          <p:cNvPr id="10" name="Pfeil nach rechts 3">
            <a:extLst>
              <a:ext uri="{FF2B5EF4-FFF2-40B4-BE49-F238E27FC236}">
                <a16:creationId xmlns:a16="http://schemas.microsoft.com/office/drawing/2014/main" id="{EA9C0529-9AA0-6503-9D52-69DA71F32D5E}"/>
              </a:ext>
            </a:extLst>
          </p:cNvPr>
          <p:cNvSpPr/>
          <p:nvPr/>
        </p:nvSpPr>
        <p:spPr>
          <a:xfrm rot="2727628">
            <a:off x="2124796" y="4725783"/>
            <a:ext cx="926658" cy="346428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3586903E-A791-5E4C-4B00-C2253A5B362B}"/>
              </a:ext>
            </a:extLst>
          </p:cNvPr>
          <p:cNvSpPr txBox="1"/>
          <p:nvPr/>
        </p:nvSpPr>
        <p:spPr>
          <a:xfrm>
            <a:off x="170952" y="3541504"/>
            <a:ext cx="2857275" cy="923330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/>
              <a:t>172.21.2.0/23, Metrik 5</a:t>
            </a:r>
          </a:p>
          <a:p>
            <a:r>
              <a:rPr lang="de-DE" dirty="0"/>
              <a:t>192.168.37.192/26, Metrik 3</a:t>
            </a:r>
          </a:p>
          <a:p>
            <a:r>
              <a:rPr lang="de-DE" dirty="0"/>
              <a:t>10.1.0.0/16, Metrik 9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5793E9A-32FF-D87D-F0DE-E66CC1FA80DD}"/>
              </a:ext>
            </a:extLst>
          </p:cNvPr>
          <p:cNvSpPr txBox="1"/>
          <p:nvPr/>
        </p:nvSpPr>
        <p:spPr>
          <a:xfrm>
            <a:off x="1250682" y="3336752"/>
            <a:ext cx="2857275" cy="646331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/>
              <a:t>172.21.2.0/23, Metrik 3</a:t>
            </a:r>
          </a:p>
          <a:p>
            <a:r>
              <a:rPr lang="de-DE" dirty="0"/>
              <a:t>192.168.128.0/23, Metrik 7</a:t>
            </a:r>
          </a:p>
        </p:txBody>
      </p:sp>
      <p:sp>
        <p:nvSpPr>
          <p:cNvPr id="13" name="Pfeil nach rechts 3">
            <a:extLst>
              <a:ext uri="{FF2B5EF4-FFF2-40B4-BE49-F238E27FC236}">
                <a16:creationId xmlns:a16="http://schemas.microsoft.com/office/drawing/2014/main" id="{EBF9D07D-C9EF-7292-98CF-8BB99315D242}"/>
              </a:ext>
            </a:extLst>
          </p:cNvPr>
          <p:cNvSpPr/>
          <p:nvPr/>
        </p:nvSpPr>
        <p:spPr>
          <a:xfrm rot="4234702">
            <a:off x="2583441" y="4375427"/>
            <a:ext cx="926658" cy="346428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958D9E5C-77D9-D8EC-68F7-8EA4D0924EA5}"/>
              </a:ext>
            </a:extLst>
          </p:cNvPr>
          <p:cNvSpPr txBox="1"/>
          <p:nvPr/>
        </p:nvSpPr>
        <p:spPr>
          <a:xfrm>
            <a:off x="2991705" y="3523129"/>
            <a:ext cx="2857275" cy="646331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/>
              <a:t>172.30.17.0/24, Metrik 2</a:t>
            </a:r>
          </a:p>
          <a:p>
            <a:r>
              <a:rPr lang="de-DE" dirty="0"/>
              <a:t>10.1.0.0/16, Metrik 12</a:t>
            </a:r>
          </a:p>
        </p:txBody>
      </p:sp>
      <p:sp>
        <p:nvSpPr>
          <p:cNvPr id="15" name="Pfeil nach rechts 3">
            <a:extLst>
              <a:ext uri="{FF2B5EF4-FFF2-40B4-BE49-F238E27FC236}">
                <a16:creationId xmlns:a16="http://schemas.microsoft.com/office/drawing/2014/main" id="{9D0CAE74-7732-4B9E-1E81-627792E0E804}"/>
              </a:ext>
            </a:extLst>
          </p:cNvPr>
          <p:cNvSpPr/>
          <p:nvPr/>
        </p:nvSpPr>
        <p:spPr>
          <a:xfrm rot="7162946">
            <a:off x="3258713" y="4452273"/>
            <a:ext cx="926658" cy="346428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aphicFrame>
        <p:nvGraphicFramePr>
          <p:cNvPr id="24" name="Tabelle 23">
            <a:extLst>
              <a:ext uri="{FF2B5EF4-FFF2-40B4-BE49-F238E27FC236}">
                <a16:creationId xmlns:a16="http://schemas.microsoft.com/office/drawing/2014/main" id="{389D2E2A-E029-D1C2-2B47-27D27BD865B2}"/>
              </a:ext>
            </a:extLst>
          </p:cNvPr>
          <p:cNvGraphicFramePr>
            <a:graphicFrameLocks noGrp="1"/>
          </p:cNvGraphicFramePr>
          <p:nvPr/>
        </p:nvGraphicFramePr>
        <p:xfrm>
          <a:off x="6274085" y="2872577"/>
          <a:ext cx="5245556" cy="268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6400">
                  <a:extLst>
                    <a:ext uri="{9D8B030D-6E8A-4147-A177-3AD203B41FA5}">
                      <a16:colId xmlns:a16="http://schemas.microsoft.com/office/drawing/2014/main" val="4148762577"/>
                    </a:ext>
                  </a:extLst>
                </a:gridCol>
                <a:gridCol w="1537799">
                  <a:extLst>
                    <a:ext uri="{9D8B030D-6E8A-4147-A177-3AD203B41FA5}">
                      <a16:colId xmlns:a16="http://schemas.microsoft.com/office/drawing/2014/main" val="1485999786"/>
                    </a:ext>
                  </a:extLst>
                </a:gridCol>
                <a:gridCol w="1371357">
                  <a:extLst>
                    <a:ext uri="{9D8B030D-6E8A-4147-A177-3AD203B41FA5}">
                      <a16:colId xmlns:a16="http://schemas.microsoft.com/office/drawing/2014/main" val="3630082896"/>
                    </a:ext>
                  </a:extLst>
                </a:gridCol>
              </a:tblGrid>
              <a:tr h="300495">
                <a:tc>
                  <a:txBody>
                    <a:bodyPr/>
                    <a:lstStyle/>
                    <a:p>
                      <a:pPr algn="ctr"/>
                      <a:r>
                        <a:rPr lang="de-DE" sz="2000" b="1" dirty="0"/>
                        <a:t>Netzadresse / Maske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b="1" dirty="0"/>
                        <a:t>Metrik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b="1" dirty="0"/>
                        <a:t>Nachbar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1497956"/>
                  </a:ext>
                </a:extLst>
              </a:tr>
              <a:tr h="300495">
                <a:tc>
                  <a:txBody>
                    <a:bodyPr/>
                    <a:lstStyle/>
                    <a:p>
                      <a:pPr algn="ctr"/>
                      <a:r>
                        <a:rPr lang="de-DE" sz="2000" b="1" dirty="0">
                          <a:solidFill>
                            <a:schemeClr val="tx1"/>
                          </a:solidFill>
                        </a:rPr>
                        <a:t>172.21.2.0 /23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b="1" dirty="0">
                          <a:solidFill>
                            <a:schemeClr val="tx1"/>
                          </a:solidFill>
                        </a:rPr>
                        <a:t>5 + 1 = 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b="1" dirty="0">
                          <a:solidFill>
                            <a:schemeClr val="tx1"/>
                          </a:solidFill>
                        </a:rPr>
                        <a:t>N1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8208204"/>
                  </a:ext>
                </a:extLst>
              </a:tr>
              <a:tr h="300495">
                <a:tc>
                  <a:txBody>
                    <a:bodyPr/>
                    <a:lstStyle/>
                    <a:p>
                      <a:pPr algn="ctr"/>
                      <a:r>
                        <a:rPr lang="de-DE" sz="2000" b="1" dirty="0"/>
                        <a:t>192.168.37.192 /26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b="1" dirty="0"/>
                        <a:t>3 + 1 = 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b="1" dirty="0"/>
                        <a:t>N1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6146562"/>
                  </a:ext>
                </a:extLst>
              </a:tr>
              <a:tr h="300495">
                <a:tc>
                  <a:txBody>
                    <a:bodyPr/>
                    <a:lstStyle/>
                    <a:p>
                      <a:pPr algn="ctr"/>
                      <a:r>
                        <a:rPr lang="de-DE" sz="2000" b="1" dirty="0"/>
                        <a:t>10.1.0.0 /16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b="1" dirty="0"/>
                        <a:t>9 + 1 = 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b="1" dirty="0"/>
                        <a:t>N1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4228427"/>
                  </a:ext>
                </a:extLst>
              </a:tr>
              <a:tr h="300495">
                <a:tc>
                  <a:txBody>
                    <a:bodyPr/>
                    <a:lstStyle/>
                    <a:p>
                      <a:pPr algn="ctr"/>
                      <a:endParaRPr lang="de-DE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9602200"/>
                  </a:ext>
                </a:extLst>
              </a:tr>
              <a:tr h="300495">
                <a:tc>
                  <a:txBody>
                    <a:bodyPr/>
                    <a:lstStyle/>
                    <a:p>
                      <a:pPr algn="ctr"/>
                      <a:endParaRPr lang="de-DE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5435376"/>
                  </a:ext>
                </a:extLst>
              </a:tr>
            </a:tbl>
          </a:graphicData>
        </a:graphic>
      </p:graphicFrame>
      <p:graphicFrame>
        <p:nvGraphicFramePr>
          <p:cNvPr id="21" name="Tabelle 20">
            <a:extLst>
              <a:ext uri="{FF2B5EF4-FFF2-40B4-BE49-F238E27FC236}">
                <a16:creationId xmlns:a16="http://schemas.microsoft.com/office/drawing/2014/main" id="{00739EC5-1CFA-D438-1129-55AD86AE63FA}"/>
              </a:ext>
            </a:extLst>
          </p:cNvPr>
          <p:cNvGraphicFramePr>
            <a:graphicFrameLocks noGrp="1"/>
          </p:cNvGraphicFramePr>
          <p:nvPr/>
        </p:nvGraphicFramePr>
        <p:xfrm>
          <a:off x="6274085" y="2872577"/>
          <a:ext cx="5245556" cy="268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6400">
                  <a:extLst>
                    <a:ext uri="{9D8B030D-6E8A-4147-A177-3AD203B41FA5}">
                      <a16:colId xmlns:a16="http://schemas.microsoft.com/office/drawing/2014/main" val="4148762577"/>
                    </a:ext>
                  </a:extLst>
                </a:gridCol>
                <a:gridCol w="1537799">
                  <a:extLst>
                    <a:ext uri="{9D8B030D-6E8A-4147-A177-3AD203B41FA5}">
                      <a16:colId xmlns:a16="http://schemas.microsoft.com/office/drawing/2014/main" val="1485999786"/>
                    </a:ext>
                  </a:extLst>
                </a:gridCol>
                <a:gridCol w="1371357">
                  <a:extLst>
                    <a:ext uri="{9D8B030D-6E8A-4147-A177-3AD203B41FA5}">
                      <a16:colId xmlns:a16="http://schemas.microsoft.com/office/drawing/2014/main" val="3630082896"/>
                    </a:ext>
                  </a:extLst>
                </a:gridCol>
              </a:tblGrid>
              <a:tr h="300495">
                <a:tc>
                  <a:txBody>
                    <a:bodyPr/>
                    <a:lstStyle/>
                    <a:p>
                      <a:pPr algn="ctr"/>
                      <a:r>
                        <a:rPr lang="de-DE" sz="2000" b="1" dirty="0"/>
                        <a:t>Netzadresse / Maske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b="1" dirty="0"/>
                        <a:t>Metrik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b="1" dirty="0"/>
                        <a:t>Nachbar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1497956"/>
                  </a:ext>
                </a:extLst>
              </a:tr>
              <a:tr h="300495">
                <a:tc>
                  <a:txBody>
                    <a:bodyPr/>
                    <a:lstStyle/>
                    <a:p>
                      <a:pPr algn="ctr"/>
                      <a:r>
                        <a:rPr lang="de-DE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172.21.2.0 /23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 + 1 = 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N2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8208204"/>
                  </a:ext>
                </a:extLst>
              </a:tr>
              <a:tr h="300495">
                <a:tc>
                  <a:txBody>
                    <a:bodyPr/>
                    <a:lstStyle/>
                    <a:p>
                      <a:pPr algn="ctr"/>
                      <a:r>
                        <a:rPr lang="de-DE" sz="2000" b="1" dirty="0"/>
                        <a:t>192.168.37.192 /26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b="1" dirty="0"/>
                        <a:t>3 + 1 = 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b="1" dirty="0"/>
                        <a:t>N1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6146562"/>
                  </a:ext>
                </a:extLst>
              </a:tr>
              <a:tr h="300495">
                <a:tc>
                  <a:txBody>
                    <a:bodyPr/>
                    <a:lstStyle/>
                    <a:p>
                      <a:pPr algn="ctr"/>
                      <a:r>
                        <a:rPr lang="de-DE" sz="2000" b="1" dirty="0"/>
                        <a:t>10.1.0.0 /16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b="1" dirty="0"/>
                        <a:t>9 + 1 = 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b="1" dirty="0"/>
                        <a:t>N1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4228427"/>
                  </a:ext>
                </a:extLst>
              </a:tr>
              <a:tr h="300495">
                <a:tc>
                  <a:txBody>
                    <a:bodyPr/>
                    <a:lstStyle/>
                    <a:p>
                      <a:pPr algn="ctr"/>
                      <a:r>
                        <a:rPr lang="de-DE" sz="2000" b="1" dirty="0"/>
                        <a:t>192.168.128.0 /23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b="1" dirty="0"/>
                        <a:t>7 + 1 = 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b="1" dirty="0"/>
                        <a:t>N2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9602200"/>
                  </a:ext>
                </a:extLst>
              </a:tr>
              <a:tr h="300495">
                <a:tc>
                  <a:txBody>
                    <a:bodyPr/>
                    <a:lstStyle/>
                    <a:p>
                      <a:pPr algn="ctr"/>
                      <a:endParaRPr lang="de-DE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5435376"/>
                  </a:ext>
                </a:extLst>
              </a:tr>
            </a:tbl>
          </a:graphicData>
        </a:graphic>
      </p:graphicFrame>
      <p:graphicFrame>
        <p:nvGraphicFramePr>
          <p:cNvPr id="20" name="Tabelle 19">
            <a:extLst>
              <a:ext uri="{FF2B5EF4-FFF2-40B4-BE49-F238E27FC236}">
                <a16:creationId xmlns:a16="http://schemas.microsoft.com/office/drawing/2014/main" id="{1186D38B-480F-7963-15DD-E36210247A93}"/>
              </a:ext>
            </a:extLst>
          </p:cNvPr>
          <p:cNvGraphicFramePr>
            <a:graphicFrameLocks noGrp="1"/>
          </p:cNvGraphicFramePr>
          <p:nvPr/>
        </p:nvGraphicFramePr>
        <p:xfrm>
          <a:off x="6281741" y="2872577"/>
          <a:ext cx="5245556" cy="268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6400">
                  <a:extLst>
                    <a:ext uri="{9D8B030D-6E8A-4147-A177-3AD203B41FA5}">
                      <a16:colId xmlns:a16="http://schemas.microsoft.com/office/drawing/2014/main" val="4148762577"/>
                    </a:ext>
                  </a:extLst>
                </a:gridCol>
                <a:gridCol w="1537799">
                  <a:extLst>
                    <a:ext uri="{9D8B030D-6E8A-4147-A177-3AD203B41FA5}">
                      <a16:colId xmlns:a16="http://schemas.microsoft.com/office/drawing/2014/main" val="1485999786"/>
                    </a:ext>
                  </a:extLst>
                </a:gridCol>
                <a:gridCol w="1371357">
                  <a:extLst>
                    <a:ext uri="{9D8B030D-6E8A-4147-A177-3AD203B41FA5}">
                      <a16:colId xmlns:a16="http://schemas.microsoft.com/office/drawing/2014/main" val="3630082896"/>
                    </a:ext>
                  </a:extLst>
                </a:gridCol>
              </a:tblGrid>
              <a:tr h="300495">
                <a:tc>
                  <a:txBody>
                    <a:bodyPr/>
                    <a:lstStyle/>
                    <a:p>
                      <a:pPr algn="ctr"/>
                      <a:r>
                        <a:rPr lang="de-DE" sz="2000" b="1" dirty="0"/>
                        <a:t>Netzadresse / Maske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b="1" dirty="0"/>
                        <a:t>Metrik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b="1" dirty="0"/>
                        <a:t>Nachbar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1497956"/>
                  </a:ext>
                </a:extLst>
              </a:tr>
              <a:tr h="300495">
                <a:tc>
                  <a:txBody>
                    <a:bodyPr/>
                    <a:lstStyle/>
                    <a:p>
                      <a:pPr algn="ctr"/>
                      <a:r>
                        <a:rPr lang="de-DE" sz="2000" b="1" dirty="0">
                          <a:solidFill>
                            <a:schemeClr val="tx1"/>
                          </a:solidFill>
                        </a:rPr>
                        <a:t>172.21.2.0 /23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b="1" dirty="0">
                          <a:solidFill>
                            <a:schemeClr val="tx1"/>
                          </a:solidFill>
                        </a:rPr>
                        <a:t>3 + 1 = 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b="1" dirty="0">
                          <a:solidFill>
                            <a:schemeClr val="tx1"/>
                          </a:solidFill>
                        </a:rPr>
                        <a:t>N2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8208204"/>
                  </a:ext>
                </a:extLst>
              </a:tr>
              <a:tr h="300495">
                <a:tc>
                  <a:txBody>
                    <a:bodyPr/>
                    <a:lstStyle/>
                    <a:p>
                      <a:pPr algn="ctr"/>
                      <a:r>
                        <a:rPr lang="de-DE" sz="2000" b="1" dirty="0"/>
                        <a:t>192.168.37.192 /26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b="1" dirty="0"/>
                        <a:t>3 + 1 = 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b="1" dirty="0"/>
                        <a:t>N1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6146562"/>
                  </a:ext>
                </a:extLst>
              </a:tr>
              <a:tr h="300495">
                <a:tc>
                  <a:txBody>
                    <a:bodyPr/>
                    <a:lstStyle/>
                    <a:p>
                      <a:pPr algn="ctr"/>
                      <a:r>
                        <a:rPr lang="de-DE" sz="2000" b="1" dirty="0"/>
                        <a:t>10.1.0.0 /16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b="1" dirty="0"/>
                        <a:t>9 + 1 = 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b="1" dirty="0"/>
                        <a:t>N1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4228427"/>
                  </a:ext>
                </a:extLst>
              </a:tr>
              <a:tr h="300495">
                <a:tc>
                  <a:txBody>
                    <a:bodyPr/>
                    <a:lstStyle/>
                    <a:p>
                      <a:pPr algn="ctr"/>
                      <a:r>
                        <a:rPr lang="de-DE" sz="2000" b="1" dirty="0"/>
                        <a:t>192.168.128.0 /23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b="1" dirty="0"/>
                        <a:t>7 + 1 = 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b="1" dirty="0"/>
                        <a:t>N2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9602200"/>
                  </a:ext>
                </a:extLst>
              </a:tr>
              <a:tr h="300495">
                <a:tc>
                  <a:txBody>
                    <a:bodyPr/>
                    <a:lstStyle/>
                    <a:p>
                      <a:pPr algn="ctr"/>
                      <a:r>
                        <a:rPr lang="de-DE" sz="2000" b="1" dirty="0"/>
                        <a:t>172.30.17.0 /24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b="1" dirty="0"/>
                        <a:t>2 + 1 =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b="1" dirty="0"/>
                        <a:t>N3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5435376"/>
                  </a:ext>
                </a:extLst>
              </a:tr>
            </a:tbl>
          </a:graphicData>
        </a:graphic>
      </p:graphicFrame>
      <p:sp>
        <p:nvSpPr>
          <p:cNvPr id="25" name="Textfeld 24">
            <a:extLst>
              <a:ext uri="{FF2B5EF4-FFF2-40B4-BE49-F238E27FC236}">
                <a16:creationId xmlns:a16="http://schemas.microsoft.com/office/drawing/2014/main" id="{490023A6-FAFA-5849-EC05-6285052C1DB5}"/>
              </a:ext>
            </a:extLst>
          </p:cNvPr>
          <p:cNvSpPr txBox="1"/>
          <p:nvPr/>
        </p:nvSpPr>
        <p:spPr>
          <a:xfrm>
            <a:off x="3612893" y="4967650"/>
            <a:ext cx="2599171" cy="1323439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DE" sz="1600" dirty="0"/>
              <a:t>172.30.17.0/24, Metrik 2</a:t>
            </a:r>
          </a:p>
          <a:p>
            <a:r>
              <a:rPr lang="de-DE" sz="1600" dirty="0"/>
              <a:t>192.168.37.192/26, Metrik 4</a:t>
            </a:r>
          </a:p>
          <a:p>
            <a:r>
              <a:rPr lang="de-DE" sz="1600" dirty="0"/>
              <a:t>10.1.0.0/16, Metrik 10</a:t>
            </a:r>
          </a:p>
          <a:p>
            <a:r>
              <a:rPr lang="de-DE" sz="1600" dirty="0"/>
              <a:t>192.168.128.0/23, Metrik 8</a:t>
            </a:r>
          </a:p>
          <a:p>
            <a:r>
              <a:rPr lang="de-DE" sz="1600" dirty="0"/>
              <a:t>172.30.17.0/24, Metrik 3</a:t>
            </a:r>
          </a:p>
        </p:txBody>
      </p:sp>
      <p:sp>
        <p:nvSpPr>
          <p:cNvPr id="26" name="Pfeil: nach oben 25">
            <a:extLst>
              <a:ext uri="{FF2B5EF4-FFF2-40B4-BE49-F238E27FC236}">
                <a16:creationId xmlns:a16="http://schemas.microsoft.com/office/drawing/2014/main" id="{6B890060-157E-3EE2-17D7-F39795DDEEA1}"/>
              </a:ext>
            </a:extLst>
          </p:cNvPr>
          <p:cNvSpPr/>
          <p:nvPr/>
        </p:nvSpPr>
        <p:spPr>
          <a:xfrm rot="14742181">
            <a:off x="2407977" y="5468854"/>
            <a:ext cx="194030" cy="692115"/>
          </a:xfrm>
          <a:prstGeom prst="up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Pfeil: nach oben 26">
            <a:extLst>
              <a:ext uri="{FF2B5EF4-FFF2-40B4-BE49-F238E27FC236}">
                <a16:creationId xmlns:a16="http://schemas.microsoft.com/office/drawing/2014/main" id="{884E792E-1FBB-0566-1D7A-B1CEF50E2029}"/>
              </a:ext>
            </a:extLst>
          </p:cNvPr>
          <p:cNvSpPr/>
          <p:nvPr/>
        </p:nvSpPr>
        <p:spPr>
          <a:xfrm rot="18842104">
            <a:off x="2504457" y="4717707"/>
            <a:ext cx="194030" cy="692115"/>
          </a:xfrm>
          <a:prstGeom prst="up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Pfeil: nach oben 27">
            <a:extLst>
              <a:ext uri="{FF2B5EF4-FFF2-40B4-BE49-F238E27FC236}">
                <a16:creationId xmlns:a16="http://schemas.microsoft.com/office/drawing/2014/main" id="{E0A4B7C8-0D8C-CC31-FAE5-0C746C5E7BC1}"/>
              </a:ext>
            </a:extLst>
          </p:cNvPr>
          <p:cNvSpPr/>
          <p:nvPr/>
        </p:nvSpPr>
        <p:spPr>
          <a:xfrm rot="20424151">
            <a:off x="2920648" y="4436434"/>
            <a:ext cx="194030" cy="692115"/>
          </a:xfrm>
          <a:prstGeom prst="up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Pfeil: nach oben 28">
            <a:extLst>
              <a:ext uri="{FF2B5EF4-FFF2-40B4-BE49-F238E27FC236}">
                <a16:creationId xmlns:a16="http://schemas.microsoft.com/office/drawing/2014/main" id="{80863343-9002-D663-A7C8-945A7B6DCFAA}"/>
              </a:ext>
            </a:extLst>
          </p:cNvPr>
          <p:cNvSpPr/>
          <p:nvPr/>
        </p:nvSpPr>
        <p:spPr>
          <a:xfrm rot="2164958">
            <a:off x="3550380" y="4495381"/>
            <a:ext cx="194030" cy="692115"/>
          </a:xfrm>
          <a:prstGeom prst="up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Pfeil: nach oben 29">
            <a:extLst>
              <a:ext uri="{FF2B5EF4-FFF2-40B4-BE49-F238E27FC236}">
                <a16:creationId xmlns:a16="http://schemas.microsoft.com/office/drawing/2014/main" id="{CC17F1CA-BFBD-FB18-2625-BE800F38CA51}"/>
              </a:ext>
            </a:extLst>
          </p:cNvPr>
          <p:cNvSpPr/>
          <p:nvPr/>
        </p:nvSpPr>
        <p:spPr>
          <a:xfrm rot="11567607">
            <a:off x="2931212" y="5851299"/>
            <a:ext cx="194030" cy="692115"/>
          </a:xfrm>
          <a:prstGeom prst="up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9352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400"/>
                            </p:stCondLst>
                            <p:childTnLst>
                              <p:par>
                                <p:cTn id="9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900"/>
                            </p:stCondLst>
                            <p:childTnLst>
                              <p:par>
                                <p:cTn id="1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250"/>
                            </p:stCondLst>
                            <p:childTnLst>
                              <p:par>
                                <p:cTn id="24" presetID="10" presetClass="exit" presetSubtype="0" fill="hold" grpId="1" nodeType="afterEffect">
                                  <p:stCondLst>
                                    <p:cond delay="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1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3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50"/>
                            </p:stCondLst>
                            <p:childTnLst>
                              <p:par>
                                <p:cTn id="2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5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50"/>
                            </p:stCondLst>
                            <p:childTnLst>
                              <p:par>
                                <p:cTn id="3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0" presetClass="exit" presetSubtype="0" fill="hold" grpId="1" nodeType="after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600"/>
                            </p:stCondLst>
                            <p:childTnLst>
                              <p:par>
                                <p:cTn id="49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6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600"/>
                            </p:stCondLst>
                            <p:childTnLst>
                              <p:par>
                                <p:cTn id="5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000"/>
                            </p:stCondLst>
                            <p:childTnLst>
                              <p:par>
                                <p:cTn id="7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500"/>
                            </p:stCondLst>
                            <p:childTnLst>
                              <p:par>
                                <p:cTn id="7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3000"/>
                            </p:stCondLst>
                            <p:childTnLst>
                              <p:par>
                                <p:cTn id="8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3500"/>
                            </p:stCondLst>
                            <p:childTnLst>
                              <p:par>
                                <p:cTn id="8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4000"/>
                            </p:stCondLst>
                            <p:childTnLst>
                              <p:par>
                                <p:cTn id="9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routing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Eine RIP-Information wird (auf der Transportschicht) 		          als UDP-Paket verpackt und an UDP-Port 520			       (IPv6: UDP-Port 521) versendet. </a:t>
            </a:r>
          </a:p>
          <a:p>
            <a:r>
              <a:rPr lang="de-DE" dirty="0"/>
              <a:t>Adressierung des RIP-Paketes:</a:t>
            </a:r>
          </a:p>
          <a:p>
            <a:pPr lvl="1"/>
            <a:r>
              <a:rPr lang="de-DE" dirty="0"/>
              <a:t>Entweder direkte Adressierung der Nachbar-Router  (was in Mehrfachzugriffs-Netzen mit mehreren Routern unpraktisch ist) </a:t>
            </a:r>
          </a:p>
          <a:p>
            <a:pPr lvl="1"/>
            <a:r>
              <a:rPr lang="de-DE" dirty="0"/>
              <a:t>Oder Verwendung der Multicast-Adresse 224.0.0.9 (IPv4) bzw. FF02::9 (IPv6), unter der alle Router angesprochen werden.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6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Routing Information Protocol RIP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26640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Vermittlungsschicht</a:t>
            </a:r>
          </a:p>
        </p:txBody>
      </p:sp>
      <p:graphicFrame>
        <p:nvGraphicFramePr>
          <p:cNvPr id="6" name="Inhaltsplatzhalt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0368657"/>
              </p:ext>
            </p:extLst>
          </p:nvPr>
        </p:nvGraphicFramePr>
        <p:xfrm>
          <a:off x="1368349" y="2798238"/>
          <a:ext cx="8786514" cy="2478514"/>
        </p:xfrm>
        <a:graphic>
          <a:graphicData uri="http://schemas.openxmlformats.org/drawingml/2006/table">
            <a:tbl>
              <a:tblPr/>
              <a:tblGrid>
                <a:gridCol w="2148172">
                  <a:extLst>
                    <a:ext uri="{9D8B030D-6E8A-4147-A177-3AD203B41FA5}">
                      <a16:colId xmlns:a16="http://schemas.microsoft.com/office/drawing/2014/main" val="2178610141"/>
                    </a:ext>
                  </a:extLst>
                </a:gridCol>
                <a:gridCol w="2236361">
                  <a:extLst>
                    <a:ext uri="{9D8B030D-6E8A-4147-A177-3AD203B41FA5}">
                      <a16:colId xmlns:a16="http://schemas.microsoft.com/office/drawing/2014/main" val="2383743173"/>
                    </a:ext>
                  </a:extLst>
                </a:gridCol>
                <a:gridCol w="4401981">
                  <a:extLst>
                    <a:ext uri="{9D8B030D-6E8A-4147-A177-3AD203B41FA5}">
                      <a16:colId xmlns:a16="http://schemas.microsoft.com/office/drawing/2014/main" val="2906143033"/>
                    </a:ext>
                  </a:extLst>
                </a:gridCol>
              </a:tblGrid>
              <a:tr h="311620">
                <a:tc gridSpan="3">
                  <a:txBody>
                    <a:bodyPr/>
                    <a:lstStyle/>
                    <a:p>
                      <a:pPr rtl="0"/>
                      <a:r>
                        <a:rPr lang="de-DE" sz="1200" b="0" i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                                                                                                  ….                                                                                            31</a:t>
                      </a:r>
                      <a:endParaRPr lang="de-DE" sz="1200" b="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6447038"/>
                  </a:ext>
                </a:extLst>
              </a:tr>
              <a:tr h="361149"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Command</a:t>
                      </a: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Version</a:t>
                      </a: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Routing-Domain</a:t>
                      </a: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719816"/>
                  </a:ext>
                </a:extLst>
              </a:tr>
              <a:tr h="361149">
                <a:tc gridSpan="2">
                  <a:txBody>
                    <a:bodyPr/>
                    <a:lstStyle/>
                    <a:p>
                      <a:pPr algn="ctr" rtl="0"/>
                      <a:r>
                        <a:rPr lang="de-DE" sz="1800" b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Address Family</a:t>
                      </a: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Route Tag</a:t>
                      </a: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787530"/>
                  </a:ext>
                </a:extLst>
              </a:tr>
              <a:tr h="361149">
                <a:tc gridSpan="3">
                  <a:txBody>
                    <a:bodyPr/>
                    <a:lstStyle/>
                    <a:p>
                      <a:pPr algn="ctr" rtl="0"/>
                      <a:r>
                        <a:rPr lang="de-DE" sz="1800" b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Ziel-Netzadresse</a:t>
                      </a: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969908"/>
                  </a:ext>
                </a:extLst>
              </a:tr>
              <a:tr h="361149">
                <a:tc gridSpan="3">
                  <a:txBody>
                    <a:bodyPr/>
                    <a:lstStyle/>
                    <a:p>
                      <a:pPr algn="ctr" rtl="0"/>
                      <a:r>
                        <a:rPr lang="de-DE" sz="1800" b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Netz-Maske</a:t>
                      </a: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6315793"/>
                  </a:ext>
                </a:extLst>
              </a:tr>
              <a:tr h="361149">
                <a:tc gridSpan="3">
                  <a:txBody>
                    <a:bodyPr/>
                    <a:lstStyle/>
                    <a:p>
                      <a:pPr algn="ctr" rtl="0"/>
                      <a:r>
                        <a:rPr lang="de-DE" sz="1800" b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Next Hop</a:t>
                      </a: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93649"/>
                  </a:ext>
                </a:extLst>
              </a:tr>
              <a:tr h="361149">
                <a:tc gridSpan="3">
                  <a:txBody>
                    <a:bodyPr/>
                    <a:lstStyle/>
                    <a:p>
                      <a:pPr algn="ctr" rtl="0"/>
                      <a:r>
                        <a:rPr lang="de-DE" sz="1800" b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Metrik</a:t>
                      </a: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101739"/>
                  </a:ext>
                </a:extLst>
              </a:tr>
            </a:tbl>
          </a:graphicData>
        </a:graphic>
      </p:graphicFrame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7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Routing Information Protocol RIP</a:t>
            </a:r>
          </a:p>
          <a:p>
            <a:endParaRPr lang="de-DE" dirty="0"/>
          </a:p>
        </p:txBody>
      </p:sp>
      <p:sp>
        <p:nvSpPr>
          <p:cNvPr id="8" name="Inhaltsplatzhalter 2"/>
          <p:cNvSpPr txBox="1">
            <a:spLocks/>
          </p:cNvSpPr>
          <p:nvPr/>
        </p:nvSpPr>
        <p:spPr>
          <a:xfrm>
            <a:off x="838200" y="2076702"/>
            <a:ext cx="10515600" cy="20354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20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6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Protokoll-Header RIPv2</a:t>
            </a:r>
          </a:p>
        </p:txBody>
      </p:sp>
    </p:spTree>
    <p:extLst>
      <p:ext uri="{BB962C8B-B14F-4D97-AF65-F5344CB8AC3E}">
        <p14:creationId xmlns:p14="http://schemas.microsoft.com/office/powerpoint/2010/main" val="483877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Routing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076701"/>
            <a:ext cx="10515600" cy="4146444"/>
          </a:xfrm>
        </p:spPr>
        <p:txBody>
          <a:bodyPr>
            <a:normAutofit/>
          </a:bodyPr>
          <a:lstStyle/>
          <a:p>
            <a:r>
              <a:rPr lang="de-DE" dirty="0"/>
              <a:t>Bei Link-State-Verfahren wird im ersten Schritt				 von jedem Router die Nachbarschaft erkannt 			          (Adressen der Nachbarn und Entfernung), </a:t>
            </a:r>
          </a:p>
          <a:p>
            <a:r>
              <a:rPr lang="de-DE" dirty="0"/>
              <a:t>dann wird diese Information an </a:t>
            </a:r>
            <a:r>
              <a:rPr lang="de-DE" i="1" dirty="0"/>
              <a:t>alle</a:t>
            </a:r>
            <a:r>
              <a:rPr lang="de-DE" dirty="0"/>
              <a:t> anderen Router im Netzwerk übermittelt. </a:t>
            </a:r>
          </a:p>
          <a:p>
            <a:r>
              <a:rPr lang="de-DE" dirty="0"/>
              <a:t>Jeder Router verfügt damit über viele kleine Teilstückchen (Puzzle-Steine), bestehend aus den Nachbarschafts-Informationen aller anderen Router. </a:t>
            </a:r>
          </a:p>
          <a:p>
            <a:r>
              <a:rPr lang="de-DE" dirty="0"/>
              <a:t>Jeder Router setzt das Puzzle zum Gesamt-Netz zusammen: Damit liegt jedem Router die vollständige Topologie des Netzes vor, aus der mithilfe von Routing-Algorithmen die kürzesten Wege zu den anderen Routern bzw. Netzwerken berechnet werden können. 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8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Link State Verfahren</a:t>
            </a:r>
          </a:p>
        </p:txBody>
      </p:sp>
    </p:spTree>
    <p:extLst>
      <p:ext uri="{BB962C8B-B14F-4D97-AF65-F5344CB8AC3E}">
        <p14:creationId xmlns:p14="http://schemas.microsoft.com/office/powerpoint/2010/main" val="737298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Routing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Prinzipieller Ablauf:</a:t>
            </a:r>
          </a:p>
          <a:p>
            <a:pPr lvl="1"/>
            <a:r>
              <a:rPr lang="de-DE" dirty="0"/>
              <a:t>Aktive Erkennung der Nachbarn (und deren				 Adressen) mittels eines „</a:t>
            </a:r>
            <a:r>
              <a:rPr lang="de-DE" dirty="0" err="1"/>
              <a:t>Hello</a:t>
            </a:r>
            <a:r>
              <a:rPr lang="de-DE" dirty="0"/>
              <a:t>-Paketes“</a:t>
            </a:r>
          </a:p>
          <a:p>
            <a:pPr lvl="1"/>
            <a:r>
              <a:rPr lang="de-DE" dirty="0"/>
              <a:t>Messung der Paket-Laufzeit zu diesen Nachbarn und zurück mithilfe eines „Echo-Paketes“ und Verwendung dieses Wertes als Metrik, alternativ Verwendung der Übertragungsrate</a:t>
            </a:r>
          </a:p>
          <a:p>
            <a:pPr lvl="1"/>
            <a:r>
              <a:rPr lang="de-DE" dirty="0"/>
              <a:t>Generierung eines Link-State-Paketes mit der eigenen Identität, den Adressen der Nachbarn, den Metriken, ggf. weiteren Informationen wie Folgenummern zur Erkennung veralteter Informationen</a:t>
            </a:r>
          </a:p>
          <a:p>
            <a:pPr lvl="1"/>
            <a:r>
              <a:rPr lang="de-DE" dirty="0"/>
              <a:t>Verteilung dieser Pakete mittels eines </a:t>
            </a:r>
            <a:r>
              <a:rPr lang="de-DE" dirty="0" err="1"/>
              <a:t>Flooding</a:t>
            </a:r>
            <a:r>
              <a:rPr lang="de-DE" dirty="0"/>
              <a:t>-Verfahrens</a:t>
            </a:r>
          </a:p>
          <a:p>
            <a:pPr lvl="1"/>
            <a:r>
              <a:rPr lang="de-DE" dirty="0"/>
              <a:t>Berechnung der kürzesten Wege mithilfe eines Routing-Algorithmus</a:t>
            </a:r>
          </a:p>
          <a:p>
            <a:pPr lvl="1"/>
            <a:r>
              <a:rPr lang="de-DE" dirty="0"/>
              <a:t>Erzeugen der aktualisierten Routing-Tabelle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9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>
          <a:xfrm>
            <a:off x="838200" y="1315188"/>
            <a:ext cx="10515600" cy="456136"/>
          </a:xfrm>
        </p:spPr>
        <p:txBody>
          <a:bodyPr/>
          <a:lstStyle/>
          <a:p>
            <a:r>
              <a:rPr lang="de-DE" dirty="0"/>
              <a:t>Link State Verfahren</a:t>
            </a:r>
          </a:p>
        </p:txBody>
      </p:sp>
    </p:spTree>
    <p:extLst>
      <p:ext uri="{BB962C8B-B14F-4D97-AF65-F5344CB8AC3E}">
        <p14:creationId xmlns:p14="http://schemas.microsoft.com/office/powerpoint/2010/main" val="3422787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Routing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076701"/>
            <a:ext cx="10515600" cy="4068067"/>
          </a:xfrm>
        </p:spPr>
        <p:txBody>
          <a:bodyPr>
            <a:normAutofit/>
          </a:bodyPr>
          <a:lstStyle/>
          <a:p>
            <a:r>
              <a:rPr lang="de-DE" dirty="0"/>
              <a:t>Das Verfahren ist erheblich aufwändiger 				           als das </a:t>
            </a:r>
            <a:r>
              <a:rPr lang="de-DE" dirty="0" err="1"/>
              <a:t>Distance</a:t>
            </a:r>
            <a:r>
              <a:rPr lang="de-DE" dirty="0"/>
              <a:t>-</a:t>
            </a:r>
            <a:r>
              <a:rPr lang="de-DE" dirty="0" err="1"/>
              <a:t>Vector</a:t>
            </a:r>
            <a:r>
              <a:rPr lang="de-DE" dirty="0"/>
              <a:t>-Routing.</a:t>
            </a:r>
          </a:p>
          <a:p>
            <a:r>
              <a:rPr lang="de-DE" dirty="0"/>
              <a:t>Grundlegendes Problem: Wird das Netzwerk eingeschaltet, existieren zu diesem Zeitpunkt noch gar keine Routing-Tabellen, auf deren Basis Link-State-Pakete an andere Router verschickt werden könnten. </a:t>
            </a:r>
          </a:p>
          <a:p>
            <a:r>
              <a:rPr lang="de-DE" dirty="0"/>
              <a:t>Lösung: Verteilung mittels eines </a:t>
            </a:r>
            <a:r>
              <a:rPr lang="de-DE" dirty="0" err="1"/>
              <a:t>Flooding</a:t>
            </a:r>
            <a:r>
              <a:rPr lang="de-DE" dirty="0"/>
              <a:t>-Verfahrens: Es werden von jedem Router die über eine Eingangsleitung hereinkommenden Pakete an </a:t>
            </a:r>
            <a:r>
              <a:rPr lang="de-DE" i="1" dirty="0"/>
              <a:t>alle</a:t>
            </a:r>
            <a:r>
              <a:rPr lang="de-DE" dirty="0"/>
              <a:t> Ausgangsleitungen weitergeleitet. </a:t>
            </a:r>
          </a:p>
          <a:p>
            <a:r>
              <a:rPr lang="de-DE" dirty="0"/>
              <a:t>Eindämmung der Flut durch Streckenzähler oder Zeitstempel, </a:t>
            </a:r>
            <a:r>
              <a:rPr lang="de-DE" dirty="0" err="1"/>
              <a:t>Verhinde-rung</a:t>
            </a:r>
            <a:r>
              <a:rPr lang="de-DE" dirty="0"/>
              <a:t> der Verarbeitung veralteter Informationen durch Folgenummern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10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>
          <a:xfrm>
            <a:off x="838200" y="1315188"/>
            <a:ext cx="10515600" cy="456136"/>
          </a:xfrm>
        </p:spPr>
        <p:txBody>
          <a:bodyPr/>
          <a:lstStyle/>
          <a:p>
            <a:r>
              <a:rPr lang="de-DE" dirty="0"/>
              <a:t>Link State Verfahren</a:t>
            </a:r>
          </a:p>
        </p:txBody>
      </p:sp>
    </p:spTree>
    <p:extLst>
      <p:ext uri="{BB962C8B-B14F-4D97-AF65-F5344CB8AC3E}">
        <p14:creationId xmlns:p14="http://schemas.microsoft.com/office/powerpoint/2010/main" val="2407018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Routing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idx="1"/>
          </p:nvPr>
        </p:nvSpPr>
        <p:spPr>
          <a:xfrm>
            <a:off x="838200" y="2076702"/>
            <a:ext cx="10515600" cy="1251714"/>
          </a:xfrm>
        </p:spPr>
        <p:txBody>
          <a:bodyPr>
            <a:normAutofit/>
          </a:bodyPr>
          <a:lstStyle/>
          <a:p>
            <a:r>
              <a:rPr lang="de-DE" dirty="0"/>
              <a:t>OSPF ist ein hierarchisch aufgebautes und gut skalierbares Routing-Verfahren nach dem Link-State-Prinzip.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11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Open </a:t>
            </a:r>
            <a:r>
              <a:rPr lang="de-DE" dirty="0" err="1"/>
              <a:t>Shortest</a:t>
            </a:r>
            <a:r>
              <a:rPr lang="de-DE" dirty="0"/>
              <a:t> Path First OSPF</a:t>
            </a:r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9559" y="3252915"/>
            <a:ext cx="5752882" cy="2876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9177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2B2FAF-6CB0-BF0D-548D-D5B81C55E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477" y="319322"/>
            <a:ext cx="10515600" cy="900000"/>
          </a:xfrm>
        </p:spPr>
        <p:txBody>
          <a:bodyPr/>
          <a:lstStyle/>
          <a:p>
            <a:r>
              <a:rPr lang="de-DE" dirty="0"/>
              <a:t>Open </a:t>
            </a:r>
            <a:r>
              <a:rPr lang="de-DE" dirty="0" err="1"/>
              <a:t>Shortest</a:t>
            </a:r>
            <a:r>
              <a:rPr lang="de-DE" dirty="0"/>
              <a:t> Path First (OSPF)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E02B886-A96B-E9C7-3696-DB6019AAF9EA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12</a:t>
            </a:fld>
            <a:endParaRPr lang="de-DE" alt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61DE7AA2-2EE1-2FF9-BCA4-F835D4B30ED8}"/>
              </a:ext>
            </a:extLst>
          </p:cNvPr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OSPF-Hello: Nachbar-Erkennung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8BA2F88C-2545-0BAF-1038-2AABB787D4D9}"/>
              </a:ext>
            </a:extLst>
          </p:cNvPr>
          <p:cNvSpPr/>
          <p:nvPr/>
        </p:nvSpPr>
        <p:spPr>
          <a:xfrm>
            <a:off x="2031705" y="5067420"/>
            <a:ext cx="624771" cy="61649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FEE0CFC6-3DA6-E3C0-8D06-63A363A51681}"/>
              </a:ext>
            </a:extLst>
          </p:cNvPr>
          <p:cNvSpPr/>
          <p:nvPr/>
        </p:nvSpPr>
        <p:spPr>
          <a:xfrm>
            <a:off x="617317" y="4759172"/>
            <a:ext cx="624771" cy="616496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 dirty="0">
                <a:solidFill>
                  <a:schemeClr val="tx1"/>
                </a:solidFill>
              </a:rPr>
              <a:t>N1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7ABDF911-D332-579F-B089-63408A05610F}"/>
              </a:ext>
            </a:extLst>
          </p:cNvPr>
          <p:cNvSpPr/>
          <p:nvPr/>
        </p:nvSpPr>
        <p:spPr>
          <a:xfrm>
            <a:off x="1075467" y="3784397"/>
            <a:ext cx="624771" cy="616496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 dirty="0">
                <a:solidFill>
                  <a:schemeClr val="tx1"/>
                </a:solidFill>
              </a:rPr>
              <a:t>N2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73F3B4F2-FAA2-9A9A-6FF4-4014B6C43DC9}"/>
              </a:ext>
            </a:extLst>
          </p:cNvPr>
          <p:cNvSpPr/>
          <p:nvPr/>
        </p:nvSpPr>
        <p:spPr>
          <a:xfrm>
            <a:off x="2004780" y="3720153"/>
            <a:ext cx="624771" cy="616496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 dirty="0">
                <a:solidFill>
                  <a:schemeClr val="tx1"/>
                </a:solidFill>
              </a:rPr>
              <a:t>N3</a:t>
            </a:r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EA1A6AD0-6DE5-77FC-03AD-F76A086C60B7}"/>
              </a:ext>
            </a:extLst>
          </p:cNvPr>
          <p:cNvCxnSpPr>
            <a:cxnSpLocks/>
            <a:stCxn id="7" idx="6"/>
            <a:endCxn id="6" idx="2"/>
          </p:cNvCxnSpPr>
          <p:nvPr/>
        </p:nvCxnSpPr>
        <p:spPr>
          <a:xfrm>
            <a:off x="1242088" y="5067420"/>
            <a:ext cx="789617" cy="30824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AE616FAA-149B-B511-C976-F6F13A119E63}"/>
              </a:ext>
            </a:extLst>
          </p:cNvPr>
          <p:cNvCxnSpPr>
            <a:cxnSpLocks/>
            <a:stCxn id="8" idx="5"/>
            <a:endCxn id="6" idx="1"/>
          </p:cNvCxnSpPr>
          <p:nvPr/>
        </p:nvCxnSpPr>
        <p:spPr>
          <a:xfrm>
            <a:off x="1608742" y="4310609"/>
            <a:ext cx="514459" cy="84709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11C94677-C0A3-040A-C19F-628C252E9E10}"/>
              </a:ext>
            </a:extLst>
          </p:cNvPr>
          <p:cNvCxnSpPr>
            <a:cxnSpLocks/>
            <a:stCxn id="9" idx="4"/>
            <a:endCxn id="6" idx="0"/>
          </p:cNvCxnSpPr>
          <p:nvPr/>
        </p:nvCxnSpPr>
        <p:spPr>
          <a:xfrm>
            <a:off x="2317166" y="4336649"/>
            <a:ext cx="26925" cy="73077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lipse 20">
            <a:extLst>
              <a:ext uri="{FF2B5EF4-FFF2-40B4-BE49-F238E27FC236}">
                <a16:creationId xmlns:a16="http://schemas.microsoft.com/office/drawing/2014/main" id="{466B515B-10A4-F57B-6C5B-3EBC3E9F37FE}"/>
              </a:ext>
            </a:extLst>
          </p:cNvPr>
          <p:cNvSpPr/>
          <p:nvPr/>
        </p:nvSpPr>
        <p:spPr>
          <a:xfrm>
            <a:off x="3470764" y="2939404"/>
            <a:ext cx="624771" cy="616496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 dirty="0">
                <a:solidFill>
                  <a:schemeClr val="tx1"/>
                </a:solidFill>
              </a:rPr>
              <a:t>N1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E9FDB115-A341-0221-345D-25E6ADC3241C}"/>
              </a:ext>
            </a:extLst>
          </p:cNvPr>
          <p:cNvSpPr/>
          <p:nvPr/>
        </p:nvSpPr>
        <p:spPr>
          <a:xfrm>
            <a:off x="4073499" y="4194523"/>
            <a:ext cx="624771" cy="616496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9795C02D-42D7-72B6-E643-C8A12C0B1775}"/>
              </a:ext>
            </a:extLst>
          </p:cNvPr>
          <p:cNvSpPr/>
          <p:nvPr/>
        </p:nvSpPr>
        <p:spPr>
          <a:xfrm>
            <a:off x="3622979" y="1820647"/>
            <a:ext cx="624771" cy="616496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 dirty="0">
                <a:solidFill>
                  <a:schemeClr val="tx1"/>
                </a:solidFill>
              </a:rPr>
              <a:t>N4</a:t>
            </a: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9DF04878-7588-93BD-592E-7E80B5D32F8C}"/>
              </a:ext>
            </a:extLst>
          </p:cNvPr>
          <p:cNvSpPr/>
          <p:nvPr/>
        </p:nvSpPr>
        <p:spPr>
          <a:xfrm>
            <a:off x="4652783" y="2939404"/>
            <a:ext cx="624771" cy="616496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 dirty="0">
                <a:solidFill>
                  <a:schemeClr val="tx1"/>
                </a:solidFill>
              </a:rPr>
              <a:t>N2</a:t>
            </a: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A80FCA92-F162-62D6-C1D6-3E01FBFACA0E}"/>
              </a:ext>
            </a:extLst>
          </p:cNvPr>
          <p:cNvCxnSpPr>
            <a:cxnSpLocks/>
            <a:stCxn id="23" idx="4"/>
            <a:endCxn id="21" idx="0"/>
          </p:cNvCxnSpPr>
          <p:nvPr/>
        </p:nvCxnSpPr>
        <p:spPr>
          <a:xfrm flipH="1">
            <a:off x="3783150" y="2437143"/>
            <a:ext cx="152215" cy="50226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EF7A0E2D-ED57-32FD-4B6C-30CBA115FE60}"/>
              </a:ext>
            </a:extLst>
          </p:cNvPr>
          <p:cNvCxnSpPr>
            <a:cxnSpLocks/>
            <a:stCxn id="24" idx="2"/>
            <a:endCxn id="21" idx="6"/>
          </p:cNvCxnSpPr>
          <p:nvPr/>
        </p:nvCxnSpPr>
        <p:spPr>
          <a:xfrm flipH="1">
            <a:off x="4095535" y="3247652"/>
            <a:ext cx="55724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AEC4FB1F-F7E2-5720-18EF-C00A473B81D1}"/>
              </a:ext>
            </a:extLst>
          </p:cNvPr>
          <p:cNvCxnSpPr>
            <a:cxnSpLocks/>
            <a:stCxn id="21" idx="4"/>
            <a:endCxn id="22" idx="1"/>
          </p:cNvCxnSpPr>
          <p:nvPr/>
        </p:nvCxnSpPr>
        <p:spPr>
          <a:xfrm>
            <a:off x="3783150" y="3555900"/>
            <a:ext cx="381845" cy="72890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Ellipse 38">
            <a:extLst>
              <a:ext uri="{FF2B5EF4-FFF2-40B4-BE49-F238E27FC236}">
                <a16:creationId xmlns:a16="http://schemas.microsoft.com/office/drawing/2014/main" id="{61DF2A10-6F6E-78B9-0A51-AB482047C30D}"/>
              </a:ext>
            </a:extLst>
          </p:cNvPr>
          <p:cNvSpPr/>
          <p:nvPr/>
        </p:nvSpPr>
        <p:spPr>
          <a:xfrm>
            <a:off x="7321705" y="4519407"/>
            <a:ext cx="624771" cy="616496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 dirty="0">
                <a:solidFill>
                  <a:schemeClr val="tx1"/>
                </a:solidFill>
              </a:rPr>
              <a:t>N2</a:t>
            </a: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7D1B693E-CD0B-B516-1695-FEC04D5268D6}"/>
              </a:ext>
            </a:extLst>
          </p:cNvPr>
          <p:cNvSpPr/>
          <p:nvPr/>
        </p:nvSpPr>
        <p:spPr>
          <a:xfrm>
            <a:off x="6428029" y="5305200"/>
            <a:ext cx="624771" cy="616496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A67637D6-0CBD-131E-935B-68A72E43EA7A}"/>
              </a:ext>
            </a:extLst>
          </p:cNvPr>
          <p:cNvSpPr/>
          <p:nvPr/>
        </p:nvSpPr>
        <p:spPr>
          <a:xfrm>
            <a:off x="6436490" y="3882137"/>
            <a:ext cx="624771" cy="616496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 dirty="0">
                <a:solidFill>
                  <a:schemeClr val="tx1"/>
                </a:solidFill>
              </a:rPr>
              <a:t>N1</a:t>
            </a: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DE2DA181-F73F-60DD-2ECA-0EB028AD8F2E}"/>
              </a:ext>
            </a:extLst>
          </p:cNvPr>
          <p:cNvSpPr/>
          <p:nvPr/>
        </p:nvSpPr>
        <p:spPr>
          <a:xfrm>
            <a:off x="7321704" y="3321170"/>
            <a:ext cx="624771" cy="616496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 dirty="0">
                <a:solidFill>
                  <a:schemeClr val="tx1"/>
                </a:solidFill>
              </a:rPr>
              <a:t>N4</a:t>
            </a:r>
          </a:p>
        </p:txBody>
      </p: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1BE8432A-19A0-4A4F-A4C7-C1B5B83CB482}"/>
              </a:ext>
            </a:extLst>
          </p:cNvPr>
          <p:cNvCxnSpPr>
            <a:cxnSpLocks/>
            <a:stCxn id="39" idx="1"/>
            <a:endCxn id="41" idx="5"/>
          </p:cNvCxnSpPr>
          <p:nvPr/>
        </p:nvCxnSpPr>
        <p:spPr>
          <a:xfrm flipH="1" flipV="1">
            <a:off x="6969765" y="4408349"/>
            <a:ext cx="443436" cy="20134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38C67E91-93B6-4A6B-F1F7-E3B7FF67E2DA}"/>
              </a:ext>
            </a:extLst>
          </p:cNvPr>
          <p:cNvCxnSpPr>
            <a:cxnSpLocks/>
            <a:stCxn id="40" idx="7"/>
            <a:endCxn id="39" idx="3"/>
          </p:cNvCxnSpPr>
          <p:nvPr/>
        </p:nvCxnSpPr>
        <p:spPr>
          <a:xfrm flipV="1">
            <a:off x="6961304" y="5045619"/>
            <a:ext cx="451897" cy="34986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4DF35610-74CB-B6E8-EDAB-462B6FC463B5}"/>
              </a:ext>
            </a:extLst>
          </p:cNvPr>
          <p:cNvCxnSpPr>
            <a:cxnSpLocks/>
            <a:stCxn id="39" idx="0"/>
            <a:endCxn id="42" idx="4"/>
          </p:cNvCxnSpPr>
          <p:nvPr/>
        </p:nvCxnSpPr>
        <p:spPr>
          <a:xfrm flipH="1" flipV="1">
            <a:off x="7634090" y="3937666"/>
            <a:ext cx="1" cy="58174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Ellipse 57">
            <a:extLst>
              <a:ext uri="{FF2B5EF4-FFF2-40B4-BE49-F238E27FC236}">
                <a16:creationId xmlns:a16="http://schemas.microsoft.com/office/drawing/2014/main" id="{B0F7C8D5-8EF6-5004-7BCE-F0A5917C0398}"/>
              </a:ext>
            </a:extLst>
          </p:cNvPr>
          <p:cNvSpPr/>
          <p:nvPr/>
        </p:nvSpPr>
        <p:spPr>
          <a:xfrm>
            <a:off x="9650449" y="3459344"/>
            <a:ext cx="624771" cy="616496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 dirty="0">
                <a:solidFill>
                  <a:schemeClr val="tx1"/>
                </a:solidFill>
              </a:rPr>
              <a:t>N3</a:t>
            </a:r>
          </a:p>
        </p:txBody>
      </p:sp>
      <p:sp>
        <p:nvSpPr>
          <p:cNvPr id="65" name="Ellipse 64">
            <a:extLst>
              <a:ext uri="{FF2B5EF4-FFF2-40B4-BE49-F238E27FC236}">
                <a16:creationId xmlns:a16="http://schemas.microsoft.com/office/drawing/2014/main" id="{5CE8283B-4073-9BF8-C540-BF5592A793A1}"/>
              </a:ext>
            </a:extLst>
          </p:cNvPr>
          <p:cNvSpPr/>
          <p:nvPr/>
        </p:nvSpPr>
        <p:spPr>
          <a:xfrm>
            <a:off x="10648306" y="4374684"/>
            <a:ext cx="624771" cy="616496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1BEED127-0CE0-0B2E-487D-3049E029B0E5}"/>
              </a:ext>
            </a:extLst>
          </p:cNvPr>
          <p:cNvSpPr/>
          <p:nvPr/>
        </p:nvSpPr>
        <p:spPr>
          <a:xfrm>
            <a:off x="9530092" y="2165665"/>
            <a:ext cx="624771" cy="616496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 dirty="0">
                <a:solidFill>
                  <a:schemeClr val="tx1"/>
                </a:solidFill>
              </a:rPr>
              <a:t>N4</a:t>
            </a:r>
          </a:p>
        </p:txBody>
      </p:sp>
      <p:sp>
        <p:nvSpPr>
          <p:cNvPr id="67" name="Ellipse 66">
            <a:extLst>
              <a:ext uri="{FF2B5EF4-FFF2-40B4-BE49-F238E27FC236}">
                <a16:creationId xmlns:a16="http://schemas.microsoft.com/office/drawing/2014/main" id="{C73738BC-717E-39DE-7B82-E7A7FD0024F9}"/>
              </a:ext>
            </a:extLst>
          </p:cNvPr>
          <p:cNvSpPr/>
          <p:nvPr/>
        </p:nvSpPr>
        <p:spPr>
          <a:xfrm>
            <a:off x="10717279" y="2939404"/>
            <a:ext cx="624771" cy="616496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 dirty="0">
                <a:solidFill>
                  <a:schemeClr val="tx1"/>
                </a:solidFill>
              </a:rPr>
              <a:t>N5</a:t>
            </a:r>
          </a:p>
        </p:txBody>
      </p:sp>
      <p:cxnSp>
        <p:nvCxnSpPr>
          <p:cNvPr id="69" name="Gerader Verbinder 68">
            <a:extLst>
              <a:ext uri="{FF2B5EF4-FFF2-40B4-BE49-F238E27FC236}">
                <a16:creationId xmlns:a16="http://schemas.microsoft.com/office/drawing/2014/main" id="{B87D6073-88D6-C2C3-10F8-6AB3CFA930F9}"/>
              </a:ext>
            </a:extLst>
          </p:cNvPr>
          <p:cNvCxnSpPr>
            <a:cxnSpLocks/>
            <a:stCxn id="58" idx="0"/>
            <a:endCxn id="66" idx="4"/>
          </p:cNvCxnSpPr>
          <p:nvPr/>
        </p:nvCxnSpPr>
        <p:spPr>
          <a:xfrm flipH="1" flipV="1">
            <a:off x="9842478" y="2782161"/>
            <a:ext cx="120357" cy="67718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Gerader Verbinder 71">
            <a:extLst>
              <a:ext uri="{FF2B5EF4-FFF2-40B4-BE49-F238E27FC236}">
                <a16:creationId xmlns:a16="http://schemas.microsoft.com/office/drawing/2014/main" id="{FCD7C925-7680-C56C-4623-BCB785EA6B0A}"/>
              </a:ext>
            </a:extLst>
          </p:cNvPr>
          <p:cNvCxnSpPr>
            <a:cxnSpLocks/>
            <a:stCxn id="58" idx="6"/>
            <a:endCxn id="67" idx="3"/>
          </p:cNvCxnSpPr>
          <p:nvPr/>
        </p:nvCxnSpPr>
        <p:spPr>
          <a:xfrm flipV="1">
            <a:off x="10275220" y="3465616"/>
            <a:ext cx="533555" cy="30197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Gerader Verbinder 74">
            <a:extLst>
              <a:ext uri="{FF2B5EF4-FFF2-40B4-BE49-F238E27FC236}">
                <a16:creationId xmlns:a16="http://schemas.microsoft.com/office/drawing/2014/main" id="{7DFBED3B-D357-CE00-AFCA-C27F76AE6C53}"/>
              </a:ext>
            </a:extLst>
          </p:cNvPr>
          <p:cNvCxnSpPr>
            <a:cxnSpLocks/>
            <a:stCxn id="65" idx="1"/>
            <a:endCxn id="58" idx="5"/>
          </p:cNvCxnSpPr>
          <p:nvPr/>
        </p:nvCxnSpPr>
        <p:spPr>
          <a:xfrm flipH="1" flipV="1">
            <a:off x="10183724" y="3985556"/>
            <a:ext cx="556078" cy="47941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Ellipse 79">
            <a:extLst>
              <a:ext uri="{FF2B5EF4-FFF2-40B4-BE49-F238E27FC236}">
                <a16:creationId xmlns:a16="http://schemas.microsoft.com/office/drawing/2014/main" id="{B6874276-B2F7-D42C-1278-0BFD305ED130}"/>
              </a:ext>
            </a:extLst>
          </p:cNvPr>
          <p:cNvSpPr/>
          <p:nvPr/>
        </p:nvSpPr>
        <p:spPr>
          <a:xfrm>
            <a:off x="346280" y="3421309"/>
            <a:ext cx="3009712" cy="2725189"/>
          </a:xfrm>
          <a:prstGeom prst="ellipse">
            <a:avLst/>
          </a:prstGeom>
          <a:solidFill>
            <a:schemeClr val="tx2">
              <a:lumMod val="40000"/>
              <a:lumOff val="60000"/>
              <a:alpha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1" name="Ellipse 80">
            <a:extLst>
              <a:ext uri="{FF2B5EF4-FFF2-40B4-BE49-F238E27FC236}">
                <a16:creationId xmlns:a16="http://schemas.microsoft.com/office/drawing/2014/main" id="{D2679F2B-A351-6E60-578C-4E09F9E74FED}"/>
              </a:ext>
            </a:extLst>
          </p:cNvPr>
          <p:cNvSpPr/>
          <p:nvPr/>
        </p:nvSpPr>
        <p:spPr>
          <a:xfrm rot="20337575">
            <a:off x="3292747" y="1535303"/>
            <a:ext cx="2114284" cy="3593056"/>
          </a:xfrm>
          <a:prstGeom prst="ellipse">
            <a:avLst/>
          </a:prstGeom>
          <a:solidFill>
            <a:schemeClr val="tx2">
              <a:lumMod val="40000"/>
              <a:lumOff val="60000"/>
              <a:alpha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2" name="Ellipse 81">
            <a:extLst>
              <a:ext uri="{FF2B5EF4-FFF2-40B4-BE49-F238E27FC236}">
                <a16:creationId xmlns:a16="http://schemas.microsoft.com/office/drawing/2014/main" id="{A8CFB60F-555B-E239-5F88-68B2BA343E21}"/>
              </a:ext>
            </a:extLst>
          </p:cNvPr>
          <p:cNvSpPr/>
          <p:nvPr/>
        </p:nvSpPr>
        <p:spPr>
          <a:xfrm>
            <a:off x="5624295" y="3162421"/>
            <a:ext cx="3263517" cy="3033437"/>
          </a:xfrm>
          <a:prstGeom prst="ellipse">
            <a:avLst/>
          </a:prstGeom>
          <a:solidFill>
            <a:schemeClr val="tx2">
              <a:lumMod val="40000"/>
              <a:lumOff val="60000"/>
              <a:alpha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3" name="Ellipse 82">
            <a:extLst>
              <a:ext uri="{FF2B5EF4-FFF2-40B4-BE49-F238E27FC236}">
                <a16:creationId xmlns:a16="http://schemas.microsoft.com/office/drawing/2014/main" id="{21D79104-FA9A-5965-E86E-FA9F2138E423}"/>
              </a:ext>
            </a:extLst>
          </p:cNvPr>
          <p:cNvSpPr/>
          <p:nvPr/>
        </p:nvSpPr>
        <p:spPr>
          <a:xfrm rot="20240119">
            <a:off x="9163744" y="1625984"/>
            <a:ext cx="2469751" cy="3765518"/>
          </a:xfrm>
          <a:prstGeom prst="ellipse">
            <a:avLst/>
          </a:prstGeom>
          <a:solidFill>
            <a:schemeClr val="tx2">
              <a:lumMod val="40000"/>
              <a:lumOff val="60000"/>
              <a:alpha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4338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5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5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21" grpId="0" animBg="1"/>
      <p:bldP spid="22" grpId="0" animBg="1"/>
      <p:bldP spid="23" grpId="0" animBg="1"/>
      <p:bldP spid="24" grpId="0" animBg="1"/>
      <p:bldP spid="39" grpId="0" animBg="1"/>
      <p:bldP spid="40" grpId="0" animBg="1"/>
      <p:bldP spid="41" grpId="0" animBg="1"/>
      <p:bldP spid="42" grpId="0" animBg="1"/>
      <p:bldP spid="58" grpId="0" animBg="1"/>
      <p:bldP spid="65" grpId="0" animBg="1"/>
      <p:bldP spid="66" grpId="0" animBg="1"/>
      <p:bldP spid="67" grpId="0" animBg="1"/>
      <p:bldP spid="80" grpId="0" animBg="1"/>
      <p:bldP spid="81" grpId="0" animBg="1"/>
      <p:bldP spid="82" grpId="0" animBg="1"/>
      <p:bldP spid="8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AC3A2-F2B1-DC16-B2E8-D1DE82BC3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096769-0372-E2CF-2BAB-55427FEDA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477" y="319322"/>
            <a:ext cx="10515600" cy="900000"/>
          </a:xfrm>
        </p:spPr>
        <p:txBody>
          <a:bodyPr/>
          <a:lstStyle/>
          <a:p>
            <a:r>
              <a:rPr lang="de-DE" dirty="0"/>
              <a:t>Open </a:t>
            </a:r>
            <a:r>
              <a:rPr lang="de-DE" dirty="0" err="1"/>
              <a:t>Shortest</a:t>
            </a:r>
            <a:r>
              <a:rPr lang="de-DE" dirty="0"/>
              <a:t> Path First (OSPF)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7ADE146-8CA0-40A5-2A18-3D6F20C3772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13</a:t>
            </a:fld>
            <a:endParaRPr lang="de-DE" alt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91912181-E9DE-F099-19AC-ACB80B2F105D}"/>
              </a:ext>
            </a:extLst>
          </p:cNvPr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OSPF-Router-LSA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2402F67A-CE76-F5B5-AF1D-F1A579DB5DB8}"/>
              </a:ext>
            </a:extLst>
          </p:cNvPr>
          <p:cNvSpPr/>
          <p:nvPr/>
        </p:nvSpPr>
        <p:spPr>
          <a:xfrm>
            <a:off x="7649461" y="5722873"/>
            <a:ext cx="624771" cy="61649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F7DD75B7-3191-152D-987A-B5A98BD1A0A6}"/>
              </a:ext>
            </a:extLst>
          </p:cNvPr>
          <p:cNvSpPr/>
          <p:nvPr/>
        </p:nvSpPr>
        <p:spPr>
          <a:xfrm>
            <a:off x="6235073" y="5414625"/>
            <a:ext cx="624771" cy="616496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 dirty="0">
                <a:solidFill>
                  <a:schemeClr val="tx1"/>
                </a:solidFill>
              </a:rPr>
              <a:t>N1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11E9BBAA-D2D9-6B06-3EBF-067EC36A439A}"/>
              </a:ext>
            </a:extLst>
          </p:cNvPr>
          <p:cNvSpPr/>
          <p:nvPr/>
        </p:nvSpPr>
        <p:spPr>
          <a:xfrm>
            <a:off x="6693223" y="4439850"/>
            <a:ext cx="624771" cy="616496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 dirty="0">
                <a:solidFill>
                  <a:schemeClr val="tx1"/>
                </a:solidFill>
              </a:rPr>
              <a:t>N2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2BEA6FEA-1D28-82C9-2E6F-8420ADDCA52E}"/>
              </a:ext>
            </a:extLst>
          </p:cNvPr>
          <p:cNvSpPr/>
          <p:nvPr/>
        </p:nvSpPr>
        <p:spPr>
          <a:xfrm>
            <a:off x="8264135" y="4375606"/>
            <a:ext cx="624771" cy="616496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 dirty="0">
                <a:solidFill>
                  <a:schemeClr val="tx1"/>
                </a:solidFill>
              </a:rPr>
              <a:t>N3</a:t>
            </a:r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9B4366AA-7344-7814-F4FB-0ED7700B9C55}"/>
              </a:ext>
            </a:extLst>
          </p:cNvPr>
          <p:cNvCxnSpPr>
            <a:cxnSpLocks/>
            <a:stCxn id="7" idx="6"/>
            <a:endCxn id="6" idx="2"/>
          </p:cNvCxnSpPr>
          <p:nvPr/>
        </p:nvCxnSpPr>
        <p:spPr>
          <a:xfrm>
            <a:off x="6859844" y="5722873"/>
            <a:ext cx="789617" cy="30824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0EEBBE58-1F6F-C882-1FDE-85CF5C6CA89D}"/>
              </a:ext>
            </a:extLst>
          </p:cNvPr>
          <p:cNvCxnSpPr>
            <a:cxnSpLocks/>
            <a:stCxn id="8" idx="5"/>
            <a:endCxn id="6" idx="1"/>
          </p:cNvCxnSpPr>
          <p:nvPr/>
        </p:nvCxnSpPr>
        <p:spPr>
          <a:xfrm>
            <a:off x="7226498" y="4966062"/>
            <a:ext cx="514459" cy="84709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2DA40D81-C645-3C4E-9886-FDA87EA55050}"/>
              </a:ext>
            </a:extLst>
          </p:cNvPr>
          <p:cNvCxnSpPr>
            <a:cxnSpLocks/>
            <a:stCxn id="9" idx="4"/>
            <a:endCxn id="6" idx="7"/>
          </p:cNvCxnSpPr>
          <p:nvPr/>
        </p:nvCxnSpPr>
        <p:spPr>
          <a:xfrm flipH="1">
            <a:off x="8182736" y="4992102"/>
            <a:ext cx="393785" cy="82105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lipse 20">
            <a:extLst>
              <a:ext uri="{FF2B5EF4-FFF2-40B4-BE49-F238E27FC236}">
                <a16:creationId xmlns:a16="http://schemas.microsoft.com/office/drawing/2014/main" id="{F39DB1EA-758A-A096-8CD0-94182F1A28AF}"/>
              </a:ext>
            </a:extLst>
          </p:cNvPr>
          <p:cNvSpPr/>
          <p:nvPr/>
        </p:nvSpPr>
        <p:spPr>
          <a:xfrm>
            <a:off x="6234201" y="5408497"/>
            <a:ext cx="624771" cy="616496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 dirty="0">
                <a:solidFill>
                  <a:schemeClr val="tx1"/>
                </a:solidFill>
              </a:rPr>
              <a:t>N1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4FE2796F-A632-342A-C309-C21F5D72541D}"/>
              </a:ext>
            </a:extLst>
          </p:cNvPr>
          <p:cNvSpPr/>
          <p:nvPr/>
        </p:nvSpPr>
        <p:spPr>
          <a:xfrm>
            <a:off x="7655349" y="5723954"/>
            <a:ext cx="624771" cy="616496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58E2A3CF-6261-1285-D118-6B92CE7DDEA4}"/>
              </a:ext>
            </a:extLst>
          </p:cNvPr>
          <p:cNvSpPr/>
          <p:nvPr/>
        </p:nvSpPr>
        <p:spPr>
          <a:xfrm>
            <a:off x="5391185" y="3309127"/>
            <a:ext cx="624771" cy="616496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 dirty="0">
                <a:solidFill>
                  <a:schemeClr val="tx1"/>
                </a:solidFill>
              </a:rPr>
              <a:t>N4</a:t>
            </a: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97EBE360-1EB0-2642-B1B1-F36807D3ABE6}"/>
              </a:ext>
            </a:extLst>
          </p:cNvPr>
          <p:cNvSpPr/>
          <p:nvPr/>
        </p:nvSpPr>
        <p:spPr>
          <a:xfrm>
            <a:off x="6693223" y="4445978"/>
            <a:ext cx="624771" cy="616496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 dirty="0">
                <a:solidFill>
                  <a:schemeClr val="tx1"/>
                </a:solidFill>
              </a:rPr>
              <a:t>N2</a:t>
            </a: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C5A3D0FD-2DE8-E614-5656-77F902AAB84C}"/>
              </a:ext>
            </a:extLst>
          </p:cNvPr>
          <p:cNvCxnSpPr>
            <a:cxnSpLocks/>
            <a:stCxn id="23" idx="4"/>
            <a:endCxn id="21" idx="1"/>
          </p:cNvCxnSpPr>
          <p:nvPr/>
        </p:nvCxnSpPr>
        <p:spPr>
          <a:xfrm>
            <a:off x="5703571" y="3925623"/>
            <a:ext cx="622126" cy="157315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D51BB321-4D19-F144-9F9B-CF75867209CA}"/>
              </a:ext>
            </a:extLst>
          </p:cNvPr>
          <p:cNvCxnSpPr>
            <a:cxnSpLocks/>
            <a:stCxn id="24" idx="4"/>
            <a:endCxn id="21" idx="7"/>
          </p:cNvCxnSpPr>
          <p:nvPr/>
        </p:nvCxnSpPr>
        <p:spPr>
          <a:xfrm flipH="1">
            <a:off x="6767476" y="5062474"/>
            <a:ext cx="238133" cy="43630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09278731-DCCE-6774-D435-D1525FCBDB2D}"/>
              </a:ext>
            </a:extLst>
          </p:cNvPr>
          <p:cNvCxnSpPr>
            <a:cxnSpLocks/>
            <a:stCxn id="21" idx="6"/>
            <a:endCxn id="22" idx="2"/>
          </p:cNvCxnSpPr>
          <p:nvPr/>
        </p:nvCxnSpPr>
        <p:spPr>
          <a:xfrm>
            <a:off x="6858972" y="5716745"/>
            <a:ext cx="796377" cy="31545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Ellipse 38">
            <a:extLst>
              <a:ext uri="{FF2B5EF4-FFF2-40B4-BE49-F238E27FC236}">
                <a16:creationId xmlns:a16="http://schemas.microsoft.com/office/drawing/2014/main" id="{BAF6CFC1-E57F-5148-1096-13EB7F96CE37}"/>
              </a:ext>
            </a:extLst>
          </p:cNvPr>
          <p:cNvSpPr/>
          <p:nvPr/>
        </p:nvSpPr>
        <p:spPr>
          <a:xfrm>
            <a:off x="6697437" y="4452106"/>
            <a:ext cx="624771" cy="616496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 dirty="0">
                <a:solidFill>
                  <a:schemeClr val="tx1"/>
                </a:solidFill>
              </a:rPr>
              <a:t>N2</a:t>
            </a: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68C72FE2-9B72-D4F1-C1E7-7045F2C6E5E9}"/>
              </a:ext>
            </a:extLst>
          </p:cNvPr>
          <p:cNvSpPr/>
          <p:nvPr/>
        </p:nvSpPr>
        <p:spPr>
          <a:xfrm>
            <a:off x="7650333" y="5723414"/>
            <a:ext cx="624771" cy="616496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5737C536-3EA6-B1F9-06ED-95A28260E287}"/>
              </a:ext>
            </a:extLst>
          </p:cNvPr>
          <p:cNvSpPr/>
          <p:nvPr/>
        </p:nvSpPr>
        <p:spPr>
          <a:xfrm>
            <a:off x="6229185" y="5420753"/>
            <a:ext cx="624771" cy="616496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 dirty="0">
                <a:solidFill>
                  <a:schemeClr val="tx1"/>
                </a:solidFill>
              </a:rPr>
              <a:t>N1</a:t>
            </a: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8A7D2D5E-19EF-B559-60D0-6A0508F6E9CD}"/>
              </a:ext>
            </a:extLst>
          </p:cNvPr>
          <p:cNvSpPr/>
          <p:nvPr/>
        </p:nvSpPr>
        <p:spPr>
          <a:xfrm>
            <a:off x="5389863" y="3309127"/>
            <a:ext cx="624771" cy="616496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 dirty="0">
                <a:solidFill>
                  <a:schemeClr val="tx1"/>
                </a:solidFill>
              </a:rPr>
              <a:t>N4</a:t>
            </a:r>
          </a:p>
        </p:txBody>
      </p: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AB612293-9312-FB80-ED55-597E1F3878E2}"/>
              </a:ext>
            </a:extLst>
          </p:cNvPr>
          <p:cNvCxnSpPr>
            <a:cxnSpLocks/>
            <a:stCxn id="39" idx="4"/>
            <a:endCxn id="41" idx="7"/>
          </p:cNvCxnSpPr>
          <p:nvPr/>
        </p:nvCxnSpPr>
        <p:spPr>
          <a:xfrm flipH="1">
            <a:off x="6762460" y="5068602"/>
            <a:ext cx="247363" cy="44243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636373A6-179B-67B8-1306-A77492174A24}"/>
              </a:ext>
            </a:extLst>
          </p:cNvPr>
          <p:cNvCxnSpPr>
            <a:cxnSpLocks/>
            <a:stCxn id="40" idx="1"/>
            <a:endCxn id="39" idx="5"/>
          </p:cNvCxnSpPr>
          <p:nvPr/>
        </p:nvCxnSpPr>
        <p:spPr>
          <a:xfrm flipH="1" flipV="1">
            <a:off x="7230712" y="4978318"/>
            <a:ext cx="511117" cy="83538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2C0F2EA8-005A-CA8E-4576-922963D2FAC9}"/>
              </a:ext>
            </a:extLst>
          </p:cNvPr>
          <p:cNvCxnSpPr>
            <a:cxnSpLocks/>
            <a:stCxn id="39" idx="1"/>
            <a:endCxn id="42" idx="5"/>
          </p:cNvCxnSpPr>
          <p:nvPr/>
        </p:nvCxnSpPr>
        <p:spPr>
          <a:xfrm flipH="1" flipV="1">
            <a:off x="5923138" y="3835339"/>
            <a:ext cx="865795" cy="70705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Ellipse 57">
            <a:extLst>
              <a:ext uri="{FF2B5EF4-FFF2-40B4-BE49-F238E27FC236}">
                <a16:creationId xmlns:a16="http://schemas.microsoft.com/office/drawing/2014/main" id="{EADF6938-FBB5-BD17-51FE-2BB992A91FE7}"/>
              </a:ext>
            </a:extLst>
          </p:cNvPr>
          <p:cNvSpPr/>
          <p:nvPr/>
        </p:nvSpPr>
        <p:spPr>
          <a:xfrm>
            <a:off x="8259659" y="4372542"/>
            <a:ext cx="624771" cy="616496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 dirty="0">
                <a:solidFill>
                  <a:schemeClr val="tx1"/>
                </a:solidFill>
              </a:rPr>
              <a:t>N3</a:t>
            </a:r>
          </a:p>
        </p:txBody>
      </p:sp>
      <p:sp>
        <p:nvSpPr>
          <p:cNvPr id="65" name="Ellipse 64">
            <a:extLst>
              <a:ext uri="{FF2B5EF4-FFF2-40B4-BE49-F238E27FC236}">
                <a16:creationId xmlns:a16="http://schemas.microsoft.com/office/drawing/2014/main" id="{695B52BF-BB44-0D60-216E-12A1F50768FD}"/>
              </a:ext>
            </a:extLst>
          </p:cNvPr>
          <p:cNvSpPr/>
          <p:nvPr/>
        </p:nvSpPr>
        <p:spPr>
          <a:xfrm>
            <a:off x="7656221" y="5721792"/>
            <a:ext cx="624771" cy="616496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F89EFEB8-1926-E695-A2BC-2CD0CDD306A5}"/>
              </a:ext>
            </a:extLst>
          </p:cNvPr>
          <p:cNvSpPr/>
          <p:nvPr/>
        </p:nvSpPr>
        <p:spPr>
          <a:xfrm>
            <a:off x="5388541" y="3321383"/>
            <a:ext cx="624771" cy="616496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 dirty="0">
                <a:solidFill>
                  <a:schemeClr val="tx1"/>
                </a:solidFill>
              </a:rPr>
              <a:t>N4</a:t>
            </a:r>
          </a:p>
        </p:txBody>
      </p:sp>
      <p:sp>
        <p:nvSpPr>
          <p:cNvPr id="67" name="Ellipse 66">
            <a:extLst>
              <a:ext uri="{FF2B5EF4-FFF2-40B4-BE49-F238E27FC236}">
                <a16:creationId xmlns:a16="http://schemas.microsoft.com/office/drawing/2014/main" id="{1F958644-4D48-DE4C-5061-206F8C5DA4EA}"/>
              </a:ext>
            </a:extLst>
          </p:cNvPr>
          <p:cNvSpPr/>
          <p:nvPr/>
        </p:nvSpPr>
        <p:spPr>
          <a:xfrm>
            <a:off x="9530092" y="3695896"/>
            <a:ext cx="624771" cy="616496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 dirty="0">
                <a:solidFill>
                  <a:schemeClr val="tx1"/>
                </a:solidFill>
              </a:rPr>
              <a:t>N5</a:t>
            </a:r>
          </a:p>
        </p:txBody>
      </p:sp>
      <p:cxnSp>
        <p:nvCxnSpPr>
          <p:cNvPr id="69" name="Gerader Verbinder 68">
            <a:extLst>
              <a:ext uri="{FF2B5EF4-FFF2-40B4-BE49-F238E27FC236}">
                <a16:creationId xmlns:a16="http://schemas.microsoft.com/office/drawing/2014/main" id="{B9B585D4-1CEE-3F3F-3272-115EFD6B5BC8}"/>
              </a:ext>
            </a:extLst>
          </p:cNvPr>
          <p:cNvCxnSpPr>
            <a:cxnSpLocks/>
            <a:stCxn id="58" idx="1"/>
            <a:endCxn id="66" idx="6"/>
          </p:cNvCxnSpPr>
          <p:nvPr/>
        </p:nvCxnSpPr>
        <p:spPr>
          <a:xfrm flipH="1" flipV="1">
            <a:off x="6013312" y="3629631"/>
            <a:ext cx="2337843" cy="83319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Gerader Verbinder 71">
            <a:extLst>
              <a:ext uri="{FF2B5EF4-FFF2-40B4-BE49-F238E27FC236}">
                <a16:creationId xmlns:a16="http://schemas.microsoft.com/office/drawing/2014/main" id="{F23CE3B4-C3BC-0EB5-5FC0-6EAF3975F040}"/>
              </a:ext>
            </a:extLst>
          </p:cNvPr>
          <p:cNvCxnSpPr>
            <a:cxnSpLocks/>
            <a:stCxn id="58" idx="6"/>
            <a:endCxn id="67" idx="3"/>
          </p:cNvCxnSpPr>
          <p:nvPr/>
        </p:nvCxnSpPr>
        <p:spPr>
          <a:xfrm flipV="1">
            <a:off x="8884430" y="4222108"/>
            <a:ext cx="737158" cy="45868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Gerader Verbinder 74">
            <a:extLst>
              <a:ext uri="{FF2B5EF4-FFF2-40B4-BE49-F238E27FC236}">
                <a16:creationId xmlns:a16="http://schemas.microsoft.com/office/drawing/2014/main" id="{6E431133-BF86-9FDE-73F1-64E15DE5F1C8}"/>
              </a:ext>
            </a:extLst>
          </p:cNvPr>
          <p:cNvCxnSpPr>
            <a:cxnSpLocks/>
            <a:stCxn id="65" idx="7"/>
            <a:endCxn id="58" idx="4"/>
          </p:cNvCxnSpPr>
          <p:nvPr/>
        </p:nvCxnSpPr>
        <p:spPr>
          <a:xfrm flipV="1">
            <a:off x="8189496" y="4989038"/>
            <a:ext cx="382549" cy="82303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04EABDA8-6E94-B75F-04CD-CFDA50619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223" y="1831289"/>
            <a:ext cx="9892107" cy="1920421"/>
          </a:xfrm>
        </p:spPr>
        <p:txBody>
          <a:bodyPr>
            <a:noAutofit/>
          </a:bodyPr>
          <a:lstStyle/>
          <a:p>
            <a:r>
              <a:rPr lang="de-DE" sz="2000" dirty="0"/>
              <a:t>Router-LSAs werden von jedem Router innerhalb einer Area per Flooding verschickt, um die eigene Nachbarschaft (Router, Link-Typen) bekannt zu machen</a:t>
            </a:r>
          </a:p>
          <a:p>
            <a:r>
              <a:rPr lang="de-DE" sz="2000" dirty="0"/>
              <a:t>Punkt-zu-Punkt-Verbindungen (Link-Typ 1)</a:t>
            </a:r>
          </a:p>
          <a:p>
            <a:r>
              <a:rPr lang="de-DE" sz="2000" dirty="0"/>
              <a:t>Transit-Netzwerke (Link-Typ 2)</a:t>
            </a:r>
          </a:p>
          <a:p>
            <a:r>
              <a:rPr lang="de-DE" sz="2000" dirty="0"/>
              <a:t>Stub-Netzwerke (Link-Typ 3)</a:t>
            </a:r>
          </a:p>
        </p:txBody>
      </p: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85BD9D3A-7BA5-C045-5B18-70089A01D63C}"/>
              </a:ext>
            </a:extLst>
          </p:cNvPr>
          <p:cNvCxnSpPr>
            <a:cxnSpLocks/>
          </p:cNvCxnSpPr>
          <p:nvPr/>
        </p:nvCxnSpPr>
        <p:spPr>
          <a:xfrm flipH="1" flipV="1">
            <a:off x="8800963" y="4893865"/>
            <a:ext cx="682104" cy="543943"/>
          </a:xfrm>
          <a:prstGeom prst="line">
            <a:avLst/>
          </a:prstGeom>
          <a:ln w="28575">
            <a:headEnd type="diamond" w="lg" len="lg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33BAC02F-8EC0-99AF-E628-8FE73225A18D}"/>
              </a:ext>
            </a:extLst>
          </p:cNvPr>
          <p:cNvCxnSpPr>
            <a:cxnSpLocks/>
            <a:endCxn id="41" idx="2"/>
          </p:cNvCxnSpPr>
          <p:nvPr/>
        </p:nvCxnSpPr>
        <p:spPr>
          <a:xfrm>
            <a:off x="5028448" y="5729001"/>
            <a:ext cx="1200737" cy="0"/>
          </a:xfrm>
          <a:prstGeom prst="line">
            <a:avLst/>
          </a:prstGeom>
          <a:ln w="28575">
            <a:headEnd type="diamond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7473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3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3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3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3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3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3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3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3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3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3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3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3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3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3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3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3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3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3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3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3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3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3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3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3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3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3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3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3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3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3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3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3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3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3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3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3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3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3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3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39" grpId="0" animBg="1"/>
      <p:bldP spid="40" grpId="0" animBg="1"/>
      <p:bldP spid="41" grpId="0" animBg="1"/>
      <p:bldP spid="42" grpId="0" animBg="1"/>
      <p:bldP spid="58" grpId="0" animBg="1"/>
      <p:bldP spid="65" grpId="0" animBg="1"/>
      <p:bldP spid="66" grpId="0" animBg="1"/>
      <p:bldP spid="6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BF0CD-A22B-A60C-D9FC-A2FE089B4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CCF1F3-5524-DEFB-5CB7-7DE44983C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477" y="319322"/>
            <a:ext cx="10515600" cy="900000"/>
          </a:xfrm>
        </p:spPr>
        <p:txBody>
          <a:bodyPr/>
          <a:lstStyle/>
          <a:p>
            <a:r>
              <a:rPr lang="de-DE" dirty="0"/>
              <a:t>Open </a:t>
            </a:r>
            <a:r>
              <a:rPr lang="de-DE" dirty="0" err="1"/>
              <a:t>Shortest</a:t>
            </a:r>
            <a:r>
              <a:rPr lang="de-DE" dirty="0"/>
              <a:t> Path First (OSPF)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8DE21DA-8A1D-1146-2358-19D927918DF5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14</a:t>
            </a:fld>
            <a:endParaRPr lang="de-DE" alt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CDC55955-3691-57AC-E7F6-62652A0AA136}"/>
              </a:ext>
            </a:extLst>
          </p:cNvPr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Mehrfachzugriffsnetze</a:t>
            </a:r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0DF8C57B-E25E-ED80-BFA0-65309B84E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223" y="1831290"/>
            <a:ext cx="9892107" cy="1047569"/>
          </a:xfrm>
        </p:spPr>
        <p:txBody>
          <a:bodyPr>
            <a:normAutofit fontScale="92500" lnSpcReduction="10000"/>
          </a:bodyPr>
          <a:lstStyle/>
          <a:p>
            <a:r>
              <a:rPr lang="de-DE" dirty="0"/>
              <a:t>In Mehrfachzugriffsnetzen sind alle Router miteinander benachbart: insgesamt n(n-1)/2 Nachbarschaftsbeziehungen</a:t>
            </a:r>
          </a:p>
          <a:p>
            <a:r>
              <a:rPr lang="de-DE" dirty="0"/>
              <a:t>Die Folge wären sehr aufwändige Berechnungen im Routing-Algorithmus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BBCCBE6A-CC1A-CF0B-FC68-0CEF919AA2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72255" y="2954500"/>
            <a:ext cx="3750405" cy="2600517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729CD472-20FD-C52E-FF0E-3ED3431439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36040" y="2851799"/>
            <a:ext cx="3580559" cy="2805918"/>
          </a:xfrm>
          <a:prstGeom prst="rect">
            <a:avLst/>
          </a:prstGeom>
        </p:spPr>
      </p:pic>
      <p:sp>
        <p:nvSpPr>
          <p:cNvPr id="26" name="Textfeld 25">
            <a:extLst>
              <a:ext uri="{FF2B5EF4-FFF2-40B4-BE49-F238E27FC236}">
                <a16:creationId xmlns:a16="http://schemas.microsoft.com/office/drawing/2014/main" id="{3DD9A11D-E1DF-444D-C903-929F21302F11}"/>
              </a:ext>
            </a:extLst>
          </p:cNvPr>
          <p:cNvSpPr txBox="1"/>
          <p:nvPr/>
        </p:nvSpPr>
        <p:spPr>
          <a:xfrm>
            <a:off x="2173902" y="5497553"/>
            <a:ext cx="3157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Reales Transit-Netzwerk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683FFAE4-3BF5-B6AD-570F-4BD8548E3FB2}"/>
              </a:ext>
            </a:extLst>
          </p:cNvPr>
          <p:cNvSpPr txBox="1"/>
          <p:nvPr/>
        </p:nvSpPr>
        <p:spPr>
          <a:xfrm>
            <a:off x="7153733" y="5682219"/>
            <a:ext cx="3157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6 Nachbarschaften</a:t>
            </a:r>
          </a:p>
        </p:txBody>
      </p:sp>
    </p:spTree>
    <p:extLst>
      <p:ext uri="{BB962C8B-B14F-4D97-AF65-F5344CB8AC3E}">
        <p14:creationId xmlns:p14="http://schemas.microsoft.com/office/powerpoint/2010/main" val="225853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FA14F-6638-9B86-E6D4-43FD145FD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47CECB-4975-E8B5-884A-E900376C7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477" y="319322"/>
            <a:ext cx="10515600" cy="900000"/>
          </a:xfrm>
        </p:spPr>
        <p:txBody>
          <a:bodyPr/>
          <a:lstStyle/>
          <a:p>
            <a:r>
              <a:rPr lang="de-DE" dirty="0"/>
              <a:t>Open </a:t>
            </a:r>
            <a:r>
              <a:rPr lang="de-DE" dirty="0" err="1"/>
              <a:t>Shortest</a:t>
            </a:r>
            <a:r>
              <a:rPr lang="de-DE" dirty="0"/>
              <a:t> Path First (OSPF)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0FECB99-8136-675F-547F-C6C4F769136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15</a:t>
            </a:fld>
            <a:endParaRPr lang="de-DE" alt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EAA49C3F-90F0-5930-72CD-5734EE44B225}"/>
              </a:ext>
            </a:extLst>
          </p:cNvPr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 err="1"/>
              <a:t>Designated</a:t>
            </a:r>
            <a:r>
              <a:rPr lang="de-DE" dirty="0"/>
              <a:t> Router</a:t>
            </a:r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4A51B08A-0406-08E0-9E17-5053F613E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223" y="1831290"/>
            <a:ext cx="9892107" cy="1047569"/>
          </a:xfrm>
        </p:spPr>
        <p:txBody>
          <a:bodyPr>
            <a:normAutofit fontScale="92500" lnSpcReduction="10000"/>
          </a:bodyPr>
          <a:lstStyle/>
          <a:p>
            <a:r>
              <a:rPr lang="de-DE" dirty="0"/>
              <a:t>Innerhalb von Mehrfachzugriffsnetzen wird zur Vereinfachung der Kommunikation ein zentraler </a:t>
            </a:r>
            <a:r>
              <a:rPr lang="de-DE" dirty="0" err="1"/>
              <a:t>Designated</a:t>
            </a:r>
            <a:r>
              <a:rPr lang="de-DE" dirty="0"/>
              <a:t> Router DR ausgehandelt.</a:t>
            </a:r>
          </a:p>
          <a:p>
            <a:r>
              <a:rPr lang="de-DE" dirty="0"/>
              <a:t>Alle Router sind nur mit dem DR benachbart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BB3A13F8-DA48-92F0-98F9-2D0F505141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8033" y="2984068"/>
            <a:ext cx="3738431" cy="2929636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2C4691C8-2D4C-27B1-EB11-CF76F17918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69990" y="2984068"/>
            <a:ext cx="3580559" cy="2805918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AA3B130D-1F9E-A022-B488-199721D6EC93}"/>
              </a:ext>
            </a:extLst>
          </p:cNvPr>
          <p:cNvSpPr txBox="1"/>
          <p:nvPr/>
        </p:nvSpPr>
        <p:spPr>
          <a:xfrm>
            <a:off x="2187683" y="5814488"/>
            <a:ext cx="3157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6 Nachbarschaften</a:t>
            </a:r>
          </a:p>
        </p:txBody>
      </p:sp>
      <p:sp>
        <p:nvSpPr>
          <p:cNvPr id="9" name="Pfeil: nach rechts 8">
            <a:extLst>
              <a:ext uri="{FF2B5EF4-FFF2-40B4-BE49-F238E27FC236}">
                <a16:creationId xmlns:a16="http://schemas.microsoft.com/office/drawing/2014/main" id="{3134ECB1-2A5D-B577-22E2-08710EBBDBB3}"/>
              </a:ext>
            </a:extLst>
          </p:cNvPr>
          <p:cNvSpPr/>
          <p:nvPr/>
        </p:nvSpPr>
        <p:spPr>
          <a:xfrm>
            <a:off x="5254012" y="4238572"/>
            <a:ext cx="1182153" cy="308168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431B949A-7093-078D-825F-C97D066555FF}"/>
              </a:ext>
            </a:extLst>
          </p:cNvPr>
          <p:cNvSpPr txBox="1"/>
          <p:nvPr/>
        </p:nvSpPr>
        <p:spPr>
          <a:xfrm>
            <a:off x="7365718" y="5868988"/>
            <a:ext cx="3157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4 Nachbarschaften</a:t>
            </a:r>
          </a:p>
        </p:txBody>
      </p:sp>
    </p:spTree>
    <p:extLst>
      <p:ext uri="{BB962C8B-B14F-4D97-AF65-F5344CB8AC3E}">
        <p14:creationId xmlns:p14="http://schemas.microsoft.com/office/powerpoint/2010/main" val="3240945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5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B9120-E7D1-E2BE-D1E8-699B4CF56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7A3635-D712-FF1A-58AC-A03A8764E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477" y="319322"/>
            <a:ext cx="10515600" cy="900000"/>
          </a:xfrm>
        </p:spPr>
        <p:txBody>
          <a:bodyPr/>
          <a:lstStyle/>
          <a:p>
            <a:r>
              <a:rPr lang="de-DE" dirty="0"/>
              <a:t>Open </a:t>
            </a:r>
            <a:r>
              <a:rPr lang="de-DE" dirty="0" err="1"/>
              <a:t>Shortest</a:t>
            </a:r>
            <a:r>
              <a:rPr lang="de-DE" dirty="0"/>
              <a:t> Path First (OSPF)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58BA0E6-6182-45AF-3A46-3AB7F7D33DC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16</a:t>
            </a:fld>
            <a:endParaRPr lang="de-DE" alt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1052B446-C135-2C1A-FE3E-AC07304B5CA4}"/>
              </a:ext>
            </a:extLst>
          </p:cNvPr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OSPF-Network-LSA</a:t>
            </a:r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33E076EF-CDC8-BBF7-A855-8511B36DC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223" y="1831290"/>
            <a:ext cx="9892107" cy="1391844"/>
          </a:xfrm>
        </p:spPr>
        <p:txBody>
          <a:bodyPr>
            <a:normAutofit fontScale="85000" lnSpcReduction="10000"/>
          </a:bodyPr>
          <a:lstStyle/>
          <a:p>
            <a:r>
              <a:rPr lang="de-DE" dirty="0"/>
              <a:t>Problem: Die Router-LSAs enthalten nur die eigene Adresse und diejenige des DR; damit wäre das Transit-Netzwerk selbst in den Routing-Tabellen nicht enthalten</a:t>
            </a:r>
          </a:p>
          <a:p>
            <a:r>
              <a:rPr lang="de-DE" dirty="0"/>
              <a:t>Zur vollständigen Einbindung von Transit-Netzwerken werden zusätzlich Network-LSAs verwendet, die die Netz-IP und die tatsächlich verbundenen Router enthalten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DBF0BDF5-8288-923E-89A0-D690DEF0BE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84796" y="3176547"/>
            <a:ext cx="5163076" cy="2930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0471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2B6D3-2F4A-F8F3-DAC1-3360E387F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48BCD6-0EC7-5163-98E6-1ACB54693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477" y="319322"/>
            <a:ext cx="10515600" cy="900000"/>
          </a:xfrm>
        </p:spPr>
        <p:txBody>
          <a:bodyPr/>
          <a:lstStyle/>
          <a:p>
            <a:r>
              <a:rPr lang="de-DE" dirty="0"/>
              <a:t>Open </a:t>
            </a:r>
            <a:r>
              <a:rPr lang="de-DE" dirty="0" err="1"/>
              <a:t>Shortest</a:t>
            </a:r>
            <a:r>
              <a:rPr lang="de-DE" dirty="0"/>
              <a:t> Path First (OSPF)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30F62D9-6F7E-AB9D-92E7-CDD9C0AC50C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17</a:t>
            </a:fld>
            <a:endParaRPr lang="de-DE" alt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AB4CFDEC-523D-A991-9B58-90A71A6F4318}"/>
              </a:ext>
            </a:extLst>
          </p:cNvPr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OSPF-Summary-LSA</a:t>
            </a:r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32C863E3-FB67-EC8C-9595-B738DE3BC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223" y="1831289"/>
            <a:ext cx="9892107" cy="3165073"/>
          </a:xfrm>
        </p:spPr>
        <p:txBody>
          <a:bodyPr>
            <a:normAutofit/>
          </a:bodyPr>
          <a:lstStyle/>
          <a:p>
            <a:r>
              <a:rPr lang="de-DE" dirty="0"/>
              <a:t>Ein OSPF-Netz kann in mehrere Abschnitte (Areas) aufgeteilt werden.</a:t>
            </a:r>
          </a:p>
          <a:p>
            <a:r>
              <a:rPr lang="de-DE" dirty="0"/>
              <a:t>Router-LSAs und Network-LSAs werden nur innerhalb der eigenen Area verteilt.</a:t>
            </a:r>
          </a:p>
          <a:p>
            <a:r>
              <a:rPr lang="de-DE" dirty="0"/>
              <a:t>Die vollständige Topologie nur innerhalb der eigenen Area bekannt.</a:t>
            </a:r>
          </a:p>
          <a:p>
            <a:r>
              <a:rPr lang="de-DE" dirty="0"/>
              <a:t>Zur Bekanntmachung von Netzwerken aus anderen Areas schicken die Grenz-Router (Area Border Router ABR) </a:t>
            </a:r>
            <a:r>
              <a:rPr lang="de-DE" b="1" dirty="0"/>
              <a:t>Summary-LSAs</a:t>
            </a:r>
            <a:r>
              <a:rPr lang="de-DE" dirty="0"/>
              <a:t> in die jeweils angrenzende Area.</a:t>
            </a:r>
          </a:p>
        </p:txBody>
      </p:sp>
    </p:spTree>
    <p:extLst>
      <p:ext uri="{BB962C8B-B14F-4D97-AF65-F5344CB8AC3E}">
        <p14:creationId xmlns:p14="http://schemas.microsoft.com/office/powerpoint/2010/main" val="3064797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Routing-algorithmen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076701"/>
            <a:ext cx="10515600" cy="4115093"/>
          </a:xfrm>
        </p:spPr>
        <p:txBody>
          <a:bodyPr>
            <a:normAutofit/>
          </a:bodyPr>
          <a:lstStyle/>
          <a:p>
            <a:r>
              <a:rPr lang="de-DE" dirty="0"/>
              <a:t>Der Dijkstra-Algorithmus berechnet (ausgehend 			         von einem der Knoten) die kürzesten Pfade in 			      einem </a:t>
            </a:r>
            <a:r>
              <a:rPr lang="de-DE" i="1" u="sng" dirty="0" err="1"/>
              <a:t>un</a:t>
            </a:r>
            <a:r>
              <a:rPr lang="de-DE" i="1" dirty="0" err="1"/>
              <a:t>gerichteten</a:t>
            </a:r>
            <a:r>
              <a:rPr lang="de-DE" i="1" dirty="0"/>
              <a:t> Graphen </a:t>
            </a:r>
            <a:r>
              <a:rPr lang="de-DE" dirty="0"/>
              <a:t>zu allen anderen Knoten. </a:t>
            </a:r>
          </a:p>
          <a:p>
            <a:r>
              <a:rPr lang="de-DE" dirty="0"/>
              <a:t>Die Kanten des Graphen können unterschiedliche Gewichtungen (Metriken) haben, die jedoch nicht negativ sein dürfen.</a:t>
            </a:r>
          </a:p>
          <a:p>
            <a:r>
              <a:rPr lang="de-DE" dirty="0"/>
              <a:t>Ausgehend vom Startknoten werden </a:t>
            </a:r>
            <a:r>
              <a:rPr lang="de-DE" b="1" dirty="0"/>
              <a:t>alle</a:t>
            </a:r>
            <a:r>
              <a:rPr lang="de-DE" dirty="0"/>
              <a:t> direkten Wege zu den Nachbar-Knoten betrachtet und die Metriken vorläufig in einem Array gespeichert. </a:t>
            </a:r>
          </a:p>
          <a:p>
            <a:r>
              <a:rPr lang="de-DE" dirty="0"/>
              <a:t>Da der direkte Weg nicht zwangsläufig der kürzeste sein muss, können diese Zwischenergebnisse im Laufe des Algorithmus noch verbessert werden.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18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Dijkstra-Algorithmus</a:t>
            </a:r>
          </a:p>
        </p:txBody>
      </p:sp>
    </p:spTree>
    <p:extLst>
      <p:ext uri="{BB962C8B-B14F-4D97-AF65-F5344CB8AC3E}">
        <p14:creationId xmlns:p14="http://schemas.microsoft.com/office/powerpoint/2010/main" val="18561216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88885" y="3243312"/>
            <a:ext cx="10496701" cy="2783573"/>
          </a:xfrm>
        </p:spPr>
        <p:txBody>
          <a:bodyPr>
            <a:normAutofit fontScale="92500"/>
          </a:bodyPr>
          <a:lstStyle/>
          <a:p>
            <a:r>
              <a:rPr lang="de-DE" dirty="0"/>
              <a:t>Der Dijkstra-Algorithmus berechnet ausgehend von einem Startknoten (im Beispiel Knoten A) den kürzesten Weg zu allen anderen Knoten</a:t>
            </a:r>
          </a:p>
          <a:p>
            <a:r>
              <a:rPr lang="de-DE" dirty="0"/>
              <a:t>Er funktioniert nur in </a:t>
            </a:r>
            <a:r>
              <a:rPr lang="de-DE" dirty="0" err="1"/>
              <a:t>ungerichteten</a:t>
            </a:r>
            <a:r>
              <a:rPr lang="de-DE" dirty="0"/>
              <a:t> Graphen mit Metriken größer Null</a:t>
            </a:r>
          </a:p>
          <a:p>
            <a:r>
              <a:rPr lang="de-DE" dirty="0"/>
              <a:t>Ausgehend vom Startknoten A werden alle Wege zu den Nachbarn betrachtet und zu der bereits ermittelten Gesamtweglänge die jeweilige Metrik hinzuaddiert</a:t>
            </a:r>
          </a:p>
          <a:p>
            <a:r>
              <a:rPr lang="de-DE" dirty="0"/>
              <a:t>Derjenige Knoten mit der kürzesten Gesamtweglänge wird als Startpunkt für den nächsten Schritt des Algorithmus verwendet</a:t>
            </a: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797" y="491074"/>
            <a:ext cx="7274659" cy="234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8834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1189202" y="565637"/>
            <a:ext cx="3610654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160" dirty="0">
                <a:latin typeface="HAW Frutiger Next Regular" panose="02000503050000020004" pitchFamily="2" charset="0"/>
              </a:rPr>
              <a:t>Start bei A: E(A,3) und C(A,1)</a:t>
            </a:r>
          </a:p>
        </p:txBody>
      </p:sp>
      <p:sp>
        <p:nvSpPr>
          <p:cNvPr id="3" name="Textfeld 2"/>
          <p:cNvSpPr txBox="1"/>
          <p:nvPr/>
        </p:nvSpPr>
        <p:spPr>
          <a:xfrm>
            <a:off x="4972675" y="510237"/>
            <a:ext cx="6135082" cy="20867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sz="1440" dirty="0">
                <a:latin typeface="HAW Frutiger Next Regular" panose="02000503050000020004" pitchFamily="2" charset="0"/>
              </a:rPr>
              <a:t>Die initiale Weglänge zu A ist Null, hierzu wird die jeweilige Metrik zum Nachbarn C bzw. E addiert.</a:t>
            </a:r>
          </a:p>
          <a:p>
            <a:r>
              <a:rPr lang="de-DE" sz="1440" dirty="0">
                <a:latin typeface="HAW Frutiger Next Regular" panose="02000503050000020004" pitchFamily="2" charset="0"/>
              </a:rPr>
              <a:t>Das bessere Ergebnis (hier C) ist bereits der kürzeste Weg von A nach C, da alle Alternativ-Routen geprüft wurden (hier nur der Weg zu E) und alle möglichen anderen Wege auf jeden Fall länger sind.</a:t>
            </a:r>
          </a:p>
          <a:p>
            <a:r>
              <a:rPr lang="de-DE" sz="1440" dirty="0">
                <a:latin typeface="HAW Frutiger Next Regular" panose="02000503050000020004" pitchFamily="2" charset="0"/>
              </a:rPr>
              <a:t>Das Ergebnis „A nach C direkt mit Weglänge 1“  ist also bereits ein Endergebnis und braucht im weiteren Verlauf des Algorithmus nicht weiter berücksichtigt zu werden.</a:t>
            </a:r>
          </a:p>
          <a:p>
            <a:r>
              <a:rPr lang="de-DE" sz="1440" dirty="0">
                <a:latin typeface="HAW Frutiger Next Regular" panose="02000503050000020004" pitchFamily="2" charset="0"/>
              </a:rPr>
              <a:t>Der Knoten C wird nun als Startpunkt für den zweiten Schritt verwendet.</a:t>
            </a:r>
          </a:p>
        </p:txBody>
      </p:sp>
      <p:sp>
        <p:nvSpPr>
          <p:cNvPr id="4" name="Textfeld 3"/>
          <p:cNvSpPr txBox="1"/>
          <p:nvPr/>
        </p:nvSpPr>
        <p:spPr>
          <a:xfrm>
            <a:off x="1190631" y="1210385"/>
            <a:ext cx="4214092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160" dirty="0">
                <a:latin typeface="HAW Frutiger Next Regular" panose="02000503050000020004" pitchFamily="2" charset="0"/>
              </a:rPr>
              <a:t>2. Schritt ab C: E(C,2) und F(C,4)</a:t>
            </a:r>
          </a:p>
        </p:txBody>
      </p:sp>
      <p:sp>
        <p:nvSpPr>
          <p:cNvPr id="6" name="Textfeld 5"/>
          <p:cNvSpPr txBox="1"/>
          <p:nvPr/>
        </p:nvSpPr>
        <p:spPr>
          <a:xfrm>
            <a:off x="3762941" y="528703"/>
            <a:ext cx="950506" cy="4247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de-DE" sz="2160" dirty="0">
                <a:solidFill>
                  <a:schemeClr val="accent3"/>
                </a:solidFill>
                <a:latin typeface="HAW Frutiger Next Regular" panose="02000503050000020004" pitchFamily="2" charset="0"/>
              </a:rPr>
              <a:t>C(A,1)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5058006" y="600988"/>
            <a:ext cx="6112252" cy="20867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sz="1440" dirty="0">
                <a:latin typeface="HAW Frutiger Next Regular" panose="02000503050000020004" pitchFamily="2" charset="0"/>
              </a:rPr>
              <a:t>Die Weglänge von A nach C wurde im vorherigen Schritt zu 1 bestimmt, hierzu wird die jeweilige Metrik zu den Nachbarn von C hinzuaddiert.</a:t>
            </a:r>
          </a:p>
          <a:p>
            <a:r>
              <a:rPr lang="de-DE" sz="1440" dirty="0">
                <a:latin typeface="HAW Frutiger Next Regular" panose="02000503050000020004" pitchFamily="2" charset="0"/>
              </a:rPr>
              <a:t>Nun werden ALLE Ergebnisse betrachtet, die noch kein Endergebnis darstellen (also noch nicht eingerahmt sind), </a:t>
            </a:r>
            <a:r>
              <a:rPr lang="de-DE" sz="1440" u="sng" dirty="0">
                <a:latin typeface="HAW Frutiger Next Regular" panose="02000503050000020004" pitchFamily="2" charset="0"/>
              </a:rPr>
              <a:t>auch</a:t>
            </a:r>
            <a:r>
              <a:rPr lang="de-DE" sz="1440" dirty="0">
                <a:latin typeface="HAW Frutiger Next Regular" panose="02000503050000020004" pitchFamily="2" charset="0"/>
              </a:rPr>
              <a:t> diejenigen Ergebnisse aus den früheren Schritten! Hier also E(A,3),  E(C,2),  F(C,4)</a:t>
            </a:r>
          </a:p>
          <a:p>
            <a:r>
              <a:rPr lang="de-DE" sz="1440" dirty="0">
                <a:latin typeface="HAW Frutiger Next Regular" panose="02000503050000020004" pitchFamily="2" charset="0"/>
              </a:rPr>
              <a:t>Es wird wieder der kürzeste Weg als Startpunkt für den nächsten Schritt festgelegt (hier E(C,2); auch wird dieser Wert als ein Endergebnis festgelegt. In diesem Fall gibt es zwei Ergebnisse für den Weg von A nach E, wobei nun der schlechtere Wert E(A,3) gestrichen wird.</a:t>
            </a:r>
          </a:p>
        </p:txBody>
      </p:sp>
      <p:sp>
        <p:nvSpPr>
          <p:cNvPr id="9" name="Rechteck 8"/>
          <p:cNvSpPr/>
          <p:nvPr/>
        </p:nvSpPr>
        <p:spPr>
          <a:xfrm>
            <a:off x="2604807" y="528704"/>
            <a:ext cx="779444" cy="480131"/>
          </a:xfrm>
          <a:prstGeom prst="rect">
            <a:avLst/>
          </a:prstGeom>
          <a:noFill/>
        </p:spPr>
        <p:txBody>
          <a:bodyPr wrap="none" lIns="109728" tIns="54864" rIns="109728" bIns="54864">
            <a:spAutoFit/>
          </a:bodyPr>
          <a:lstStyle/>
          <a:p>
            <a:pPr algn="ctr"/>
            <a:r>
              <a:rPr lang="de-DE" sz="2400" dirty="0" err="1">
                <a:ln w="10160">
                  <a:solidFill>
                    <a:schemeClr val="tx1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2000" dir="5400000" algn="tl">
                    <a:srgbClr val="000000">
                      <a:alpha val="30000"/>
                    </a:srgbClr>
                  </a:outerShdw>
                </a:effectLst>
                <a:latin typeface="HAW Frutiger Next Regular" panose="02000503050000020004" pitchFamily="2" charset="0"/>
              </a:rPr>
              <a:t>xxxx</a:t>
            </a:r>
            <a:endParaRPr lang="de-DE" sz="2400" dirty="0">
              <a:ln w="10160">
                <a:solidFill>
                  <a:schemeClr val="tx1"/>
                </a:solidFill>
                <a:prstDash val="solid"/>
              </a:ln>
              <a:solidFill>
                <a:srgbClr val="FFFFFF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  <a:latin typeface="HAW Frutiger Next Regular" panose="02000503050000020004" pitchFamily="2" charset="0"/>
            </a:endParaRPr>
          </a:p>
        </p:txBody>
      </p:sp>
      <p:sp>
        <p:nvSpPr>
          <p:cNvPr id="10" name="Textfeld 9"/>
          <p:cNvSpPr txBox="1"/>
          <p:nvPr/>
        </p:nvSpPr>
        <p:spPr>
          <a:xfrm>
            <a:off x="2907074" y="1177628"/>
            <a:ext cx="950506" cy="4247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de-DE" sz="2160" dirty="0">
                <a:solidFill>
                  <a:schemeClr val="accent3"/>
                </a:solidFill>
                <a:latin typeface="HAW Frutiger Next Regular" panose="02000503050000020004" pitchFamily="2" charset="0"/>
              </a:rPr>
              <a:t>E(C,2)</a:t>
            </a:r>
          </a:p>
        </p:txBody>
      </p:sp>
      <p:sp>
        <p:nvSpPr>
          <p:cNvPr id="11" name="Textfeld 10"/>
          <p:cNvSpPr txBox="1"/>
          <p:nvPr/>
        </p:nvSpPr>
        <p:spPr>
          <a:xfrm>
            <a:off x="1189199" y="1886341"/>
            <a:ext cx="4214092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160" dirty="0">
                <a:latin typeface="HAW Frutiger Next Regular" panose="02000503050000020004" pitchFamily="2" charset="0"/>
              </a:rPr>
              <a:t>3. Schritt ab E: D(E,4) und F(E,3)</a:t>
            </a:r>
          </a:p>
        </p:txBody>
      </p:sp>
      <p:sp>
        <p:nvSpPr>
          <p:cNvPr id="12" name="Textfeld 11"/>
          <p:cNvSpPr txBox="1"/>
          <p:nvPr/>
        </p:nvSpPr>
        <p:spPr>
          <a:xfrm>
            <a:off x="5255728" y="1800091"/>
            <a:ext cx="6112252" cy="9787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sz="1440" dirty="0">
                <a:latin typeface="HAW Frutiger Next Regular" panose="02000503050000020004" pitchFamily="2" charset="0"/>
              </a:rPr>
              <a:t>Es werden wieder ALLE Ergebnisse betrachtet, die noch kein Endergebnis sind oder noch nicht gestrichen wurden: F(C,4),  D(E,4) und F(E,3).</a:t>
            </a:r>
          </a:p>
          <a:p>
            <a:r>
              <a:rPr lang="de-DE" sz="1440" dirty="0">
                <a:latin typeface="HAW Frutiger Next Regular" panose="02000503050000020004" pitchFamily="2" charset="0"/>
              </a:rPr>
              <a:t>Der kürzeste Weg F(E,3) wird als Endergebnis festgelegt und als Startpunkt für den nächsten Schritt gewählt. Der längere Weg F(C,4) wird gestrichen.</a:t>
            </a:r>
          </a:p>
        </p:txBody>
      </p:sp>
      <p:sp>
        <p:nvSpPr>
          <p:cNvPr id="13" name="Textfeld 12"/>
          <p:cNvSpPr txBox="1"/>
          <p:nvPr/>
        </p:nvSpPr>
        <p:spPr>
          <a:xfrm>
            <a:off x="5403291" y="2270103"/>
            <a:ext cx="6112252" cy="9787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sz="1440" dirty="0">
                <a:latin typeface="HAW Frutiger Next Regular" panose="02000503050000020004" pitchFamily="2" charset="0"/>
              </a:rPr>
              <a:t>Es werden wieder ALLE Ergebnisse betrachtet, die noch kein Endergebnis sind oder noch nicht gestrichen wurden: D(E,4), D(F,5) und G(F,9)</a:t>
            </a:r>
          </a:p>
          <a:p>
            <a:r>
              <a:rPr lang="de-DE" sz="1440" dirty="0">
                <a:latin typeface="HAW Frutiger Next Regular" panose="02000503050000020004" pitchFamily="2" charset="0"/>
              </a:rPr>
              <a:t>Der kürzeste Weg D(E,4) wird als Endergebnis festgelegt und als Startpunkt für den nächsten Schritt gewählt. Der längere Weg D(F,5) wird gestrichen.</a:t>
            </a:r>
          </a:p>
        </p:txBody>
      </p:sp>
      <p:sp>
        <p:nvSpPr>
          <p:cNvPr id="14" name="Textfeld 13"/>
          <p:cNvSpPr txBox="1"/>
          <p:nvPr/>
        </p:nvSpPr>
        <p:spPr>
          <a:xfrm>
            <a:off x="4238193" y="1826905"/>
            <a:ext cx="950506" cy="4247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de-DE" sz="2160" dirty="0">
                <a:solidFill>
                  <a:schemeClr val="accent3"/>
                </a:solidFill>
                <a:latin typeface="HAW Frutiger Next Regular" panose="02000503050000020004" pitchFamily="2" charset="0"/>
              </a:rPr>
              <a:t>F(E,3)</a:t>
            </a:r>
          </a:p>
        </p:txBody>
      </p:sp>
      <p:sp>
        <p:nvSpPr>
          <p:cNvPr id="15" name="Rechteck 14"/>
          <p:cNvSpPr/>
          <p:nvPr/>
        </p:nvSpPr>
        <p:spPr>
          <a:xfrm>
            <a:off x="4236270" y="1159162"/>
            <a:ext cx="779444" cy="480131"/>
          </a:xfrm>
          <a:prstGeom prst="rect">
            <a:avLst/>
          </a:prstGeom>
          <a:noFill/>
        </p:spPr>
        <p:txBody>
          <a:bodyPr wrap="none" lIns="109728" tIns="54864" rIns="109728" bIns="54864">
            <a:spAutoFit/>
          </a:bodyPr>
          <a:lstStyle/>
          <a:p>
            <a:pPr algn="ctr"/>
            <a:r>
              <a:rPr lang="de-DE" sz="2400" dirty="0" err="1">
                <a:ln w="10160">
                  <a:solidFill>
                    <a:schemeClr val="tx1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2000" dir="5400000" algn="tl">
                    <a:srgbClr val="000000">
                      <a:alpha val="30000"/>
                    </a:srgbClr>
                  </a:outerShdw>
                </a:effectLst>
                <a:latin typeface="HAW Frutiger Next Regular" panose="02000503050000020004" pitchFamily="2" charset="0"/>
              </a:rPr>
              <a:t>xxxx</a:t>
            </a:r>
            <a:endParaRPr lang="de-DE" sz="2400" dirty="0">
              <a:ln w="10160">
                <a:solidFill>
                  <a:schemeClr val="tx1"/>
                </a:solidFill>
                <a:prstDash val="solid"/>
              </a:ln>
              <a:solidFill>
                <a:srgbClr val="FFFFFF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  <a:latin typeface="HAW Frutiger Next Regular" panose="02000503050000020004" pitchFamily="2" charset="0"/>
            </a:endParaRPr>
          </a:p>
        </p:txBody>
      </p:sp>
      <p:sp>
        <p:nvSpPr>
          <p:cNvPr id="16" name="Textfeld 15"/>
          <p:cNvSpPr txBox="1"/>
          <p:nvPr/>
        </p:nvSpPr>
        <p:spPr>
          <a:xfrm>
            <a:off x="1189202" y="2473444"/>
            <a:ext cx="4214092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160" dirty="0">
                <a:latin typeface="HAW Frutiger Next Regular" panose="02000503050000020004" pitchFamily="2" charset="0"/>
              </a:rPr>
              <a:t>4. Schritt ab F: D(F,5) und G(F,9)</a:t>
            </a:r>
          </a:p>
        </p:txBody>
      </p:sp>
      <p:sp>
        <p:nvSpPr>
          <p:cNvPr id="17" name="Textfeld 16"/>
          <p:cNvSpPr txBox="1"/>
          <p:nvPr/>
        </p:nvSpPr>
        <p:spPr>
          <a:xfrm>
            <a:off x="2881506" y="1826905"/>
            <a:ext cx="950506" cy="4247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de-DE" sz="2160" dirty="0">
                <a:solidFill>
                  <a:schemeClr val="accent3"/>
                </a:solidFill>
                <a:latin typeface="HAW Frutiger Next Regular" panose="02000503050000020004" pitchFamily="2" charset="0"/>
              </a:rPr>
              <a:t>D(E,4)</a:t>
            </a:r>
          </a:p>
        </p:txBody>
      </p:sp>
      <p:sp>
        <p:nvSpPr>
          <p:cNvPr id="18" name="Rechteck 17"/>
          <p:cNvSpPr/>
          <p:nvPr/>
        </p:nvSpPr>
        <p:spPr>
          <a:xfrm>
            <a:off x="2967036" y="2411319"/>
            <a:ext cx="779444" cy="480131"/>
          </a:xfrm>
          <a:prstGeom prst="rect">
            <a:avLst/>
          </a:prstGeom>
          <a:noFill/>
        </p:spPr>
        <p:txBody>
          <a:bodyPr wrap="none" lIns="109728" tIns="54864" rIns="109728" bIns="54864">
            <a:spAutoFit/>
          </a:bodyPr>
          <a:lstStyle/>
          <a:p>
            <a:pPr algn="ctr"/>
            <a:r>
              <a:rPr lang="de-DE" sz="2400" dirty="0" err="1">
                <a:ln w="10160">
                  <a:solidFill>
                    <a:schemeClr val="tx1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2000" dir="5400000" algn="tl">
                    <a:srgbClr val="000000">
                      <a:alpha val="30000"/>
                    </a:srgbClr>
                  </a:outerShdw>
                </a:effectLst>
                <a:latin typeface="HAW Frutiger Next Regular" panose="02000503050000020004" pitchFamily="2" charset="0"/>
              </a:rPr>
              <a:t>xxxx</a:t>
            </a:r>
            <a:endParaRPr lang="de-DE" sz="2400" dirty="0">
              <a:ln w="10160">
                <a:solidFill>
                  <a:schemeClr val="tx1"/>
                </a:solidFill>
                <a:prstDash val="solid"/>
              </a:ln>
              <a:solidFill>
                <a:srgbClr val="FFFFFF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  <a:latin typeface="HAW Frutiger Next Regular" panose="02000503050000020004" pitchFamily="2" charset="0"/>
            </a:endParaRPr>
          </a:p>
        </p:txBody>
      </p:sp>
      <p:sp>
        <p:nvSpPr>
          <p:cNvPr id="19" name="Textfeld 18"/>
          <p:cNvSpPr txBox="1"/>
          <p:nvPr/>
        </p:nvSpPr>
        <p:spPr>
          <a:xfrm>
            <a:off x="1189200" y="3149982"/>
            <a:ext cx="525243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160" dirty="0">
                <a:latin typeface="HAW Frutiger Next Regular" panose="02000503050000020004" pitchFamily="2" charset="0"/>
              </a:rPr>
              <a:t>5. Schritt ab D: F(D,6) , B(D,6) und G(D,8)</a:t>
            </a:r>
          </a:p>
        </p:txBody>
      </p:sp>
      <p:sp>
        <p:nvSpPr>
          <p:cNvPr id="20" name="Textfeld 19"/>
          <p:cNvSpPr txBox="1"/>
          <p:nvPr/>
        </p:nvSpPr>
        <p:spPr>
          <a:xfrm>
            <a:off x="5188700" y="3499968"/>
            <a:ext cx="6112252" cy="14219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sz="1440" dirty="0">
                <a:latin typeface="HAW Frutiger Next Regular" panose="02000503050000020004" pitchFamily="2" charset="0"/>
              </a:rPr>
              <a:t>Es werden wieder ALLE Ergebnisse betrachtet, die noch kein Endergebnis sind oder noch nicht gestrichen wurden: F(D,6), B(D,6), G(D,8) und G(F,9)</a:t>
            </a:r>
          </a:p>
          <a:p>
            <a:r>
              <a:rPr lang="de-DE" sz="1440" dirty="0">
                <a:latin typeface="HAW Frutiger Next Regular" panose="02000503050000020004" pitchFamily="2" charset="0"/>
              </a:rPr>
              <a:t>F(D,6) kann gestrichen werden, da bereits ein kürzerer Weg zu F gefunden wurde. Der kürzeste verbleibende Weg B(D,6) wird als Endergebnis festgelegt und als Startpunkt für den nächsten Schritt gewählt. Der längere Weg zu G G(F,9) wird gestrichen.</a:t>
            </a:r>
          </a:p>
        </p:txBody>
      </p:sp>
      <p:sp>
        <p:nvSpPr>
          <p:cNvPr id="21" name="Rechteck 20"/>
          <p:cNvSpPr/>
          <p:nvPr/>
        </p:nvSpPr>
        <p:spPr>
          <a:xfrm>
            <a:off x="3037899" y="3113049"/>
            <a:ext cx="779444" cy="480131"/>
          </a:xfrm>
          <a:prstGeom prst="rect">
            <a:avLst/>
          </a:prstGeom>
          <a:noFill/>
        </p:spPr>
        <p:txBody>
          <a:bodyPr wrap="none" lIns="109728" tIns="54864" rIns="109728" bIns="54864">
            <a:spAutoFit/>
          </a:bodyPr>
          <a:lstStyle/>
          <a:p>
            <a:pPr algn="ctr"/>
            <a:r>
              <a:rPr lang="de-DE" sz="2400" dirty="0" err="1">
                <a:ln w="10160">
                  <a:solidFill>
                    <a:schemeClr val="tx1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2000" dir="5400000" algn="tl">
                    <a:srgbClr val="000000">
                      <a:alpha val="30000"/>
                    </a:srgbClr>
                  </a:outerShdw>
                </a:effectLst>
                <a:latin typeface="HAW Frutiger Next Regular" panose="02000503050000020004" pitchFamily="2" charset="0"/>
              </a:rPr>
              <a:t>xxxx</a:t>
            </a:r>
            <a:endParaRPr lang="de-DE" sz="2400" dirty="0">
              <a:ln w="10160">
                <a:solidFill>
                  <a:schemeClr val="tx1"/>
                </a:solidFill>
                <a:prstDash val="solid"/>
              </a:ln>
              <a:solidFill>
                <a:srgbClr val="FFFFFF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  <a:latin typeface="HAW Frutiger Next Regular" panose="02000503050000020004" pitchFamily="2" charset="0"/>
            </a:endParaRPr>
          </a:p>
        </p:txBody>
      </p:sp>
      <p:sp>
        <p:nvSpPr>
          <p:cNvPr id="22" name="Rechteck 21"/>
          <p:cNvSpPr/>
          <p:nvPr/>
        </p:nvSpPr>
        <p:spPr>
          <a:xfrm>
            <a:off x="4203310" y="2454977"/>
            <a:ext cx="779444" cy="480131"/>
          </a:xfrm>
          <a:prstGeom prst="rect">
            <a:avLst/>
          </a:prstGeom>
          <a:noFill/>
        </p:spPr>
        <p:txBody>
          <a:bodyPr wrap="none" lIns="109728" tIns="54864" rIns="109728" bIns="54864">
            <a:spAutoFit/>
          </a:bodyPr>
          <a:lstStyle/>
          <a:p>
            <a:pPr algn="ctr"/>
            <a:r>
              <a:rPr lang="de-DE" sz="2400" dirty="0" err="1">
                <a:ln w="10160">
                  <a:solidFill>
                    <a:schemeClr val="tx1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2000" dir="5400000" algn="tl">
                    <a:srgbClr val="000000">
                      <a:alpha val="30000"/>
                    </a:srgbClr>
                  </a:outerShdw>
                </a:effectLst>
                <a:latin typeface="HAW Frutiger Next Regular" panose="02000503050000020004" pitchFamily="2" charset="0"/>
              </a:rPr>
              <a:t>xxxx</a:t>
            </a:r>
            <a:endParaRPr lang="de-DE" sz="2400" dirty="0">
              <a:ln w="10160">
                <a:solidFill>
                  <a:schemeClr val="tx1"/>
                </a:solidFill>
                <a:prstDash val="solid"/>
              </a:ln>
              <a:solidFill>
                <a:srgbClr val="FFFFFF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  <a:latin typeface="HAW Frutiger Next Regular" panose="02000503050000020004" pitchFamily="2" charset="0"/>
            </a:endParaRPr>
          </a:p>
        </p:txBody>
      </p:sp>
      <p:sp>
        <p:nvSpPr>
          <p:cNvPr id="23" name="Textfeld 22"/>
          <p:cNvSpPr txBox="1"/>
          <p:nvPr/>
        </p:nvSpPr>
        <p:spPr>
          <a:xfrm>
            <a:off x="3943105" y="3113048"/>
            <a:ext cx="950506" cy="4247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de-DE" sz="2160" dirty="0">
                <a:solidFill>
                  <a:schemeClr val="accent3"/>
                </a:solidFill>
                <a:latin typeface="HAW Frutiger Next Regular" panose="02000503050000020004" pitchFamily="2" charset="0"/>
              </a:rPr>
              <a:t>B(D,6)</a:t>
            </a:r>
          </a:p>
        </p:txBody>
      </p:sp>
      <p:sp>
        <p:nvSpPr>
          <p:cNvPr id="24" name="Textfeld 23"/>
          <p:cNvSpPr txBox="1"/>
          <p:nvPr/>
        </p:nvSpPr>
        <p:spPr>
          <a:xfrm>
            <a:off x="5288964" y="3764358"/>
            <a:ext cx="6112252" cy="5355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sz="1440" dirty="0">
                <a:latin typeface="HAW Frutiger Next Regular" panose="02000503050000020004" pitchFamily="2" charset="0"/>
              </a:rPr>
              <a:t>Von den beiden letzten verbleibenden Werten G(D,8) und G(B,7) wird letzterer als Endergebnis festgelegt und ersterer gestrichen.</a:t>
            </a:r>
          </a:p>
        </p:txBody>
      </p:sp>
      <p:sp>
        <p:nvSpPr>
          <p:cNvPr id="25" name="Textfeld 24"/>
          <p:cNvSpPr txBox="1"/>
          <p:nvPr/>
        </p:nvSpPr>
        <p:spPr>
          <a:xfrm>
            <a:off x="1185331" y="3763488"/>
            <a:ext cx="525243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160" dirty="0">
                <a:latin typeface="HAW Frutiger Next Regular" panose="02000503050000020004" pitchFamily="2" charset="0"/>
              </a:rPr>
              <a:t>6. Schritt ab B: G(B,7)</a:t>
            </a:r>
          </a:p>
        </p:txBody>
      </p:sp>
      <p:sp>
        <p:nvSpPr>
          <p:cNvPr id="26" name="Rechteck 25"/>
          <p:cNvSpPr/>
          <p:nvPr/>
        </p:nvSpPr>
        <p:spPr>
          <a:xfrm>
            <a:off x="5229981" y="3131516"/>
            <a:ext cx="779444" cy="480131"/>
          </a:xfrm>
          <a:prstGeom prst="rect">
            <a:avLst/>
          </a:prstGeom>
          <a:noFill/>
        </p:spPr>
        <p:txBody>
          <a:bodyPr wrap="none" lIns="109728" tIns="54864" rIns="109728" bIns="54864">
            <a:spAutoFit/>
          </a:bodyPr>
          <a:lstStyle/>
          <a:p>
            <a:pPr algn="ctr"/>
            <a:r>
              <a:rPr lang="de-DE" sz="2400" dirty="0" err="1">
                <a:ln w="10160">
                  <a:solidFill>
                    <a:schemeClr val="tx1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2000" dir="5400000" algn="tl">
                    <a:srgbClr val="000000">
                      <a:alpha val="30000"/>
                    </a:srgbClr>
                  </a:outerShdw>
                </a:effectLst>
                <a:latin typeface="HAW Frutiger Next Regular" panose="02000503050000020004" pitchFamily="2" charset="0"/>
              </a:rPr>
              <a:t>xxxx</a:t>
            </a:r>
            <a:endParaRPr lang="de-DE" sz="2400" dirty="0">
              <a:ln w="10160">
                <a:solidFill>
                  <a:schemeClr val="tx1"/>
                </a:solidFill>
                <a:prstDash val="solid"/>
              </a:ln>
              <a:solidFill>
                <a:srgbClr val="FFFFFF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  <a:latin typeface="HAW Frutiger Next Regular" panose="02000503050000020004" pitchFamily="2" charset="0"/>
            </a:endParaRPr>
          </a:p>
        </p:txBody>
      </p:sp>
      <p:sp>
        <p:nvSpPr>
          <p:cNvPr id="27" name="Textfeld 26"/>
          <p:cNvSpPr txBox="1"/>
          <p:nvPr/>
        </p:nvSpPr>
        <p:spPr>
          <a:xfrm>
            <a:off x="2968959" y="3776966"/>
            <a:ext cx="950506" cy="4247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de-DE" sz="2160" dirty="0">
                <a:solidFill>
                  <a:schemeClr val="accent3"/>
                </a:solidFill>
                <a:latin typeface="HAW Frutiger Next Regular" panose="02000503050000020004" pitchFamily="2" charset="0"/>
              </a:rPr>
              <a:t>G(B,7)</a:t>
            </a:r>
          </a:p>
        </p:txBody>
      </p:sp>
      <p:pic>
        <p:nvPicPr>
          <p:cNvPr id="28" name="Grafik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982" y="5033575"/>
            <a:ext cx="5148425" cy="1657968"/>
          </a:xfrm>
          <a:prstGeom prst="rect">
            <a:avLst/>
          </a:prstGeom>
        </p:spPr>
      </p:pic>
      <p:sp>
        <p:nvSpPr>
          <p:cNvPr id="29" name="Textfeld 28"/>
          <p:cNvSpPr txBox="1"/>
          <p:nvPr/>
        </p:nvSpPr>
        <p:spPr>
          <a:xfrm>
            <a:off x="3294281" y="4386364"/>
            <a:ext cx="6112252" cy="5355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sz="1440" b="1" dirty="0">
                <a:latin typeface="HAW Frutiger Next Regular" panose="02000503050000020004" pitchFamily="2" charset="0"/>
              </a:rPr>
              <a:t>Der Algorithmus ist nun vollständig abgearbeitet, da alle Werte entweder gestrichen oder als Endergebnis festgelegt wurden. </a:t>
            </a:r>
          </a:p>
        </p:txBody>
      </p:sp>
      <p:sp>
        <p:nvSpPr>
          <p:cNvPr id="5" name="Pfeil nach rechts 4"/>
          <p:cNvSpPr/>
          <p:nvPr/>
        </p:nvSpPr>
        <p:spPr>
          <a:xfrm rot="3156446">
            <a:off x="1206658" y="5878995"/>
            <a:ext cx="1209734" cy="172819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160"/>
          </a:p>
        </p:txBody>
      </p:sp>
      <p:sp>
        <p:nvSpPr>
          <p:cNvPr id="31" name="Pfeil nach rechts 30"/>
          <p:cNvSpPr/>
          <p:nvPr/>
        </p:nvSpPr>
        <p:spPr>
          <a:xfrm rot="2724446">
            <a:off x="3036368" y="5842669"/>
            <a:ext cx="986166" cy="168889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160"/>
          </a:p>
        </p:txBody>
      </p:sp>
      <p:sp>
        <p:nvSpPr>
          <p:cNvPr id="32" name="Pfeil nach rechts 31"/>
          <p:cNvSpPr/>
          <p:nvPr/>
        </p:nvSpPr>
        <p:spPr>
          <a:xfrm>
            <a:off x="1642629" y="5219706"/>
            <a:ext cx="1209734" cy="172819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160"/>
          </a:p>
        </p:txBody>
      </p:sp>
      <p:sp>
        <p:nvSpPr>
          <p:cNvPr id="33" name="Pfeil nach rechts 32"/>
          <p:cNvSpPr/>
          <p:nvPr/>
        </p:nvSpPr>
        <p:spPr>
          <a:xfrm rot="18839121">
            <a:off x="2235633" y="5775936"/>
            <a:ext cx="1032215" cy="181828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160"/>
          </a:p>
        </p:txBody>
      </p:sp>
      <p:sp>
        <p:nvSpPr>
          <p:cNvPr id="34" name="Pfeil nach rechts 33"/>
          <p:cNvSpPr/>
          <p:nvPr/>
        </p:nvSpPr>
        <p:spPr>
          <a:xfrm>
            <a:off x="2581616" y="6362231"/>
            <a:ext cx="1090537" cy="172819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160"/>
          </a:p>
        </p:txBody>
      </p:sp>
      <p:sp>
        <p:nvSpPr>
          <p:cNvPr id="35" name="Pfeil nach rechts 34"/>
          <p:cNvSpPr/>
          <p:nvPr/>
        </p:nvSpPr>
        <p:spPr>
          <a:xfrm>
            <a:off x="3293008" y="5219705"/>
            <a:ext cx="1125349" cy="172158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160"/>
          </a:p>
        </p:txBody>
      </p:sp>
      <p:sp>
        <p:nvSpPr>
          <p:cNvPr id="36" name="Pfeil nach rechts 35"/>
          <p:cNvSpPr/>
          <p:nvPr/>
        </p:nvSpPr>
        <p:spPr>
          <a:xfrm rot="18839121">
            <a:off x="3753838" y="5792278"/>
            <a:ext cx="1032215" cy="181828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160"/>
          </a:p>
        </p:txBody>
      </p:sp>
      <p:sp>
        <p:nvSpPr>
          <p:cNvPr id="37" name="Pfeil nach rechts 36"/>
          <p:cNvSpPr/>
          <p:nvPr/>
        </p:nvSpPr>
        <p:spPr>
          <a:xfrm>
            <a:off x="4080723" y="6374310"/>
            <a:ext cx="1090537" cy="172819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160"/>
          </a:p>
        </p:txBody>
      </p:sp>
      <p:sp>
        <p:nvSpPr>
          <p:cNvPr id="38" name="Pfeil nach rechts 37"/>
          <p:cNvSpPr/>
          <p:nvPr/>
        </p:nvSpPr>
        <p:spPr>
          <a:xfrm rot="8026783">
            <a:off x="3754948" y="5700113"/>
            <a:ext cx="1032215" cy="181828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160"/>
          </a:p>
        </p:txBody>
      </p:sp>
      <p:sp>
        <p:nvSpPr>
          <p:cNvPr id="39" name="Pfeil nach rechts 38"/>
          <p:cNvSpPr/>
          <p:nvPr/>
        </p:nvSpPr>
        <p:spPr>
          <a:xfrm>
            <a:off x="4803858" y="5214332"/>
            <a:ext cx="1125349" cy="172158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160"/>
          </a:p>
        </p:txBody>
      </p:sp>
      <p:sp>
        <p:nvSpPr>
          <p:cNvPr id="40" name="Pfeil nach rechts 39"/>
          <p:cNvSpPr/>
          <p:nvPr/>
        </p:nvSpPr>
        <p:spPr>
          <a:xfrm rot="2724446">
            <a:off x="4530740" y="5774678"/>
            <a:ext cx="986166" cy="168889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160"/>
          </a:p>
        </p:txBody>
      </p:sp>
      <p:sp>
        <p:nvSpPr>
          <p:cNvPr id="41" name="Pfeil nach rechts 40"/>
          <p:cNvSpPr/>
          <p:nvPr/>
        </p:nvSpPr>
        <p:spPr>
          <a:xfrm rot="7154279">
            <a:off x="5336905" y="5868636"/>
            <a:ext cx="1032215" cy="181828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160"/>
          </a:p>
        </p:txBody>
      </p:sp>
      <p:sp>
        <p:nvSpPr>
          <p:cNvPr id="42" name="Untertitel 4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0129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8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9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21" presetID="6" presetClass="exit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700"/>
                            </p:stCondLst>
                            <p:childTnLst>
                              <p:par>
                                <p:cTn id="2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xit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38" dur="1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6" presetClass="exit" presetSubtype="3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5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000"/>
                            </p:stCondLst>
                            <p:childTnLst>
                              <p:par>
                                <p:cTn id="60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31" presetClass="exit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 calcmode="lin" valueType="num">
                                      <p:cBhvr>
                                        <p:cTn id="73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100"/>
                            </p:stCondLst>
                            <p:childTnLst>
                              <p:par>
                                <p:cTn id="91" presetID="6" presetClass="exit" presetSubtype="3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9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3100"/>
                            </p:stCondLst>
                            <p:childTnLst>
                              <p:par>
                                <p:cTn id="9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31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8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4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200"/>
                            </p:stCondLst>
                            <p:childTnLst>
                              <p:par>
                                <p:cTn id="129" presetID="6" presetClass="exit" presetSubtype="3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3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3200"/>
                            </p:stCondLst>
                            <p:childTnLst>
                              <p:par>
                                <p:cTn id="133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5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500"/>
                            </p:stCondLst>
                            <p:childTnLst>
                              <p:par>
                                <p:cTn id="14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000"/>
                            </p:stCondLst>
                            <p:childTnLst>
                              <p:par>
                                <p:cTn id="14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31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0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3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31" presetClass="exit" presetSubtype="0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6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9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2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800"/>
                            </p:stCondLst>
                            <p:childTnLst>
                              <p:par>
                                <p:cTn id="171" presetID="6" presetClass="exit" presetSubtype="3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7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2800"/>
                            </p:stCondLst>
                            <p:childTnLst>
                              <p:par>
                                <p:cTn id="17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500"/>
                            </p:stCondLst>
                            <p:childTnLst>
                              <p:par>
                                <p:cTn id="18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31" presetClass="exit" presetSubtype="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8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6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96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9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1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6" grpId="0" animBg="1"/>
      <p:bldP spid="7" grpId="0" animBg="1"/>
      <p:bldP spid="7" grpId="1" animBg="1"/>
      <p:bldP spid="9" grpId="0"/>
      <p:bldP spid="10" grpId="0" animBg="1"/>
      <p:bldP spid="11" grpId="0"/>
      <p:bldP spid="12" grpId="0" animBg="1"/>
      <p:bldP spid="12" grpId="1" animBg="1"/>
      <p:bldP spid="13" grpId="0" animBg="1"/>
      <p:bldP spid="13" grpId="1" animBg="1"/>
      <p:bldP spid="14" grpId="0" animBg="1"/>
      <p:bldP spid="15" grpId="0"/>
      <p:bldP spid="16" grpId="0"/>
      <p:bldP spid="17" grpId="0" animBg="1"/>
      <p:bldP spid="18" grpId="0"/>
      <p:bldP spid="19" grpId="0"/>
      <p:bldP spid="20" grpId="0" animBg="1"/>
      <p:bldP spid="20" grpId="1" animBg="1"/>
      <p:bldP spid="21" grpId="0"/>
      <p:bldP spid="22" grpId="0"/>
      <p:bldP spid="23" grpId="0" animBg="1"/>
      <p:bldP spid="24" grpId="0" animBg="1"/>
      <p:bldP spid="24" grpId="1" animBg="1"/>
      <p:bldP spid="25" grpId="0"/>
      <p:bldP spid="26" grpId="0"/>
      <p:bldP spid="27" grpId="0" animBg="1"/>
      <p:bldP spid="29" grpId="0" animBg="1"/>
      <p:bldP spid="31" grpId="0" animBg="1"/>
      <p:bldP spid="32" grpId="0" animBg="1"/>
      <p:bldP spid="33" grpId="0" animBg="1"/>
      <p:bldP spid="34" grpId="0" animBg="1"/>
      <p:bldP spid="34" grpId="1" animBg="1"/>
      <p:bldP spid="35" grpId="0" animBg="1"/>
      <p:bldP spid="36" grpId="0" animBg="1"/>
      <p:bldP spid="36" grpId="1" animBg="1"/>
      <p:bldP spid="37" grpId="0" animBg="1"/>
      <p:bldP spid="37" grpId="1" animBg="1"/>
      <p:bldP spid="38" grpId="0" animBg="1"/>
      <p:bldP spid="38" grpId="1" animBg="1"/>
      <p:bldP spid="39" grpId="0" animBg="1"/>
      <p:bldP spid="40" grpId="0" animBg="1"/>
      <p:bldP spid="40" grpId="1" animBg="1"/>
      <p:bldP spid="4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Routing-algorithmen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076701"/>
            <a:ext cx="10515600" cy="4115093"/>
          </a:xfrm>
        </p:spPr>
        <p:txBody>
          <a:bodyPr>
            <a:normAutofit/>
          </a:bodyPr>
          <a:lstStyle/>
          <a:p>
            <a:r>
              <a:rPr lang="de-DE" dirty="0"/>
              <a:t>Der </a:t>
            </a:r>
            <a:r>
              <a:rPr lang="de-DE" dirty="0" err="1"/>
              <a:t>Bellman</a:t>
            </a:r>
            <a:r>
              <a:rPr lang="de-DE" dirty="0"/>
              <a:t>-Ford-Algorithmus kann im 			        Gegensatz zum Dijkstra-Algorithmus auch 				   kürzeste Wege in einem </a:t>
            </a:r>
            <a:r>
              <a:rPr lang="de-DE" i="1" dirty="0"/>
              <a:t>gerichteten</a:t>
            </a:r>
            <a:r>
              <a:rPr lang="de-DE" dirty="0"/>
              <a:t> Graphen berechnen</a:t>
            </a:r>
          </a:p>
          <a:p>
            <a:r>
              <a:rPr lang="de-DE" dirty="0"/>
              <a:t>Negative Gewichtungen sind zulässig (jedoch keine negativen Schleifen). </a:t>
            </a:r>
          </a:p>
          <a:p>
            <a:r>
              <a:rPr lang="de-DE" dirty="0" err="1"/>
              <a:t>Bellman</a:t>
            </a:r>
            <a:r>
              <a:rPr lang="de-DE" dirty="0"/>
              <a:t>-Ford berechnet ausgehend von jeder Kante des Graphen die Distanz vom ursprünglichen Anfangsknoten zum Endknoten der Kante. </a:t>
            </a:r>
          </a:p>
          <a:p>
            <a:r>
              <a:rPr lang="de-DE" dirty="0"/>
              <a:t>Im Laufe der Berechnungen können sich Distanzwerte verbessern, sodass Zwischenrechnungen wiederholt werden müssen.</a:t>
            </a:r>
          </a:p>
          <a:p>
            <a:r>
              <a:rPr lang="de-DE" dirty="0"/>
              <a:t>Falls ein Distanzwert noch gar nicht bestimmt wurde, muss sein initialer Wert (unendlich) </a:t>
            </a:r>
            <a:r>
              <a:rPr lang="de-DE" dirty="0" err="1"/>
              <a:t>werwendet</a:t>
            </a:r>
            <a:r>
              <a:rPr lang="de-DE" dirty="0"/>
              <a:t> werden.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21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 err="1"/>
              <a:t>Bellman</a:t>
            </a:r>
            <a:r>
              <a:rPr lang="de-DE" dirty="0"/>
              <a:t>-Ford-Algorithmus</a:t>
            </a:r>
          </a:p>
        </p:txBody>
      </p:sp>
    </p:spTree>
    <p:extLst>
      <p:ext uri="{BB962C8B-B14F-4D97-AF65-F5344CB8AC3E}">
        <p14:creationId xmlns:p14="http://schemas.microsoft.com/office/powerpoint/2010/main" val="34907267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Routing-algorithmen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22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 err="1"/>
              <a:t>Bellman</a:t>
            </a:r>
            <a:r>
              <a:rPr lang="de-DE" dirty="0"/>
              <a:t>-Ford-Algorithmus</a:t>
            </a:r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708" y="1854683"/>
            <a:ext cx="11478452" cy="3831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4128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5"/>
          <p:cNvSpPr>
            <a:spLocks noGrp="1"/>
          </p:cNvSpPr>
          <p:nvPr>
            <p:ph idx="1"/>
          </p:nvPr>
        </p:nvSpPr>
        <p:spPr>
          <a:xfrm>
            <a:off x="888274" y="3461658"/>
            <a:ext cx="11012781" cy="2715305"/>
          </a:xfrm>
        </p:spPr>
        <p:txBody>
          <a:bodyPr>
            <a:normAutofit lnSpcReduction="10000"/>
          </a:bodyPr>
          <a:lstStyle/>
          <a:p>
            <a:r>
              <a:rPr lang="de-DE" sz="1700" dirty="0"/>
              <a:t>Aufgabe: Berechnung des kürzesten Weges von </a:t>
            </a:r>
            <a:r>
              <a:rPr lang="de-DE" sz="1700" b="1" dirty="0"/>
              <a:t>Knoten A </a:t>
            </a:r>
            <a:r>
              <a:rPr lang="de-DE" sz="1700" dirty="0"/>
              <a:t>zu allen anderen Knoten</a:t>
            </a:r>
          </a:p>
          <a:p>
            <a:r>
              <a:rPr lang="de-DE" sz="1700" dirty="0"/>
              <a:t>Metriken: M(X,Y) , z.B.  M(E,D)=2, Startwerte der Gesamtentfernungen: d(A) = 0, alle anderen d(X) = ∞</a:t>
            </a:r>
          </a:p>
          <a:p>
            <a:r>
              <a:rPr lang="de-DE" sz="1700" dirty="0"/>
              <a:t>Metriken können negative Werte haben; der Algorithmus berechnet auch gerichtete Graphen</a:t>
            </a:r>
          </a:p>
          <a:p>
            <a:r>
              <a:rPr lang="de-DE" sz="1700" dirty="0"/>
              <a:t>Bearbeitung der Knoten in alphabetischer Reihenfolge</a:t>
            </a:r>
          </a:p>
          <a:p>
            <a:r>
              <a:rPr lang="de-DE" sz="1700" dirty="0"/>
              <a:t>Berechnung für jeden Knoten X:  d(Y) = d(X) + M(X,Y)     mit Knoten Y als Nachbar von X und d(X) als aktuell berechnete </a:t>
            </a:r>
            <a:r>
              <a:rPr lang="de-DE" sz="1700" u="sng" dirty="0"/>
              <a:t>Gesamt</a:t>
            </a:r>
            <a:r>
              <a:rPr lang="de-DE" sz="1700" dirty="0"/>
              <a:t>entfernung von Knoten A zu Knoten X und d(Y) als neue Gesamtentfernung von A zu Y</a:t>
            </a:r>
          </a:p>
          <a:p>
            <a:r>
              <a:rPr lang="de-DE" sz="1700" dirty="0"/>
              <a:t>Es kann vorkommen, dass für d(X) im Laufe des Algorithmus bessere Werte berechnet werden, als diejenigen d(X), die in den Schritten zuvor eingesetzt wurden; in diesem Fall startet nach der Abarbeitung aller Knoten X die Berechnung von vorne (es sind also ggf. mehrere „Runden“ erforderlich)</a:t>
            </a:r>
          </a:p>
          <a:p>
            <a:endParaRPr lang="de-DE" dirty="0">
              <a:latin typeface="HAW Frutiger Next Regular" panose="02000503050000020004" pitchFamily="2" charset="0"/>
            </a:endParaRP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413" y="499855"/>
            <a:ext cx="8233723" cy="2651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221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/>
          <p:cNvSpPr txBox="1"/>
          <p:nvPr/>
        </p:nvSpPr>
        <p:spPr>
          <a:xfrm>
            <a:off x="666205" y="1110344"/>
            <a:ext cx="4758026" cy="1015661"/>
          </a:xfrm>
          <a:prstGeom prst="rect">
            <a:avLst/>
          </a:prstGeom>
          <a:noFill/>
        </p:spPr>
        <p:txBody>
          <a:bodyPr wrap="none" lIns="91436" tIns="45719" rIns="91436" bIns="45719" rtlCol="0">
            <a:spAutoFit/>
          </a:bodyPr>
          <a:lstStyle/>
          <a:p>
            <a:r>
              <a:rPr lang="de-DE" sz="2400" dirty="0">
                <a:latin typeface="HAW Frutiger Next Regular" panose="02000503050000020004" pitchFamily="2" charset="0"/>
              </a:rPr>
              <a:t>A: </a:t>
            </a:r>
            <a:r>
              <a:rPr lang="de-DE" dirty="0">
                <a:latin typeface="HAW Frutiger Next Regular" panose="02000503050000020004" pitchFamily="2" charset="0"/>
              </a:rPr>
              <a:t>Nachbarn C und E, M(A,C)=1 und M(A,E)=3</a:t>
            </a:r>
          </a:p>
          <a:p>
            <a:r>
              <a:rPr lang="de-DE" dirty="0">
                <a:latin typeface="HAW Frutiger Next Regular" panose="02000503050000020004" pitchFamily="2" charset="0"/>
              </a:rPr>
              <a:t>	</a:t>
            </a:r>
            <a:r>
              <a:rPr lang="de-DE" b="1" dirty="0">
                <a:latin typeface="HAW Frutiger Next Regular" panose="02000503050000020004" pitchFamily="2" charset="0"/>
              </a:rPr>
              <a:t>d(C) = d(A) + M(A,C) = 0 + 1 = 1</a:t>
            </a:r>
          </a:p>
          <a:p>
            <a:r>
              <a:rPr lang="de-DE" b="1" dirty="0">
                <a:latin typeface="HAW Frutiger Next Regular" panose="02000503050000020004" pitchFamily="2" charset="0"/>
              </a:rPr>
              <a:t>	d(E) = d(A) + M(A,E) = 0 + 3 = 3</a:t>
            </a:r>
          </a:p>
        </p:txBody>
      </p:sp>
      <p:sp>
        <p:nvSpPr>
          <p:cNvPr id="5" name="Textfeld 4"/>
          <p:cNvSpPr txBox="1"/>
          <p:nvPr/>
        </p:nvSpPr>
        <p:spPr>
          <a:xfrm>
            <a:off x="666207" y="574766"/>
            <a:ext cx="1593668" cy="369330"/>
          </a:xfrm>
          <a:prstGeom prst="rect">
            <a:avLst/>
          </a:prstGeom>
          <a:noFill/>
        </p:spPr>
        <p:txBody>
          <a:bodyPr wrap="square" lIns="91436" tIns="45719" rIns="91436" bIns="45719" rtlCol="0">
            <a:spAutoFit/>
          </a:bodyPr>
          <a:lstStyle/>
          <a:p>
            <a:r>
              <a:rPr lang="de-DE" b="1" dirty="0">
                <a:latin typeface="HAW Frutiger Next Regular" panose="02000503050000020004" pitchFamily="2" charset="0"/>
              </a:rPr>
              <a:t>Runde 1</a:t>
            </a:r>
          </a:p>
        </p:txBody>
      </p:sp>
      <p:graphicFrame>
        <p:nvGraphicFramePr>
          <p:cNvPr id="7" name="Tabelle 6"/>
          <p:cNvGraphicFramePr>
            <a:graphicFrameLocks noGrp="1"/>
          </p:cNvGraphicFramePr>
          <p:nvPr/>
        </p:nvGraphicFramePr>
        <p:xfrm>
          <a:off x="6988631" y="1128262"/>
          <a:ext cx="4347028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1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d(A)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d(B)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d(C)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d(F)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d(G)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>
                          <a:latin typeface="HAW Frutiger Next Regular" panose="02000503050000020004" pitchFamily="2" charset="0"/>
                        </a:rPr>
                        <a:t>∞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>
                          <a:latin typeface="HAW Frutiger Next Regular" panose="02000503050000020004" pitchFamily="2" charset="0"/>
                        </a:rPr>
                        <a:t>∞</a:t>
                      </a:r>
                      <a:endParaRPr lang="de-DE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>
                          <a:latin typeface="HAW Frutiger Next Regular" panose="02000503050000020004" pitchFamily="2" charset="0"/>
                        </a:rPr>
                        <a:t>∞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>
                          <a:latin typeface="HAW Frutiger Next Regular" panose="02000503050000020004" pitchFamily="2" charset="0"/>
                        </a:rPr>
                        <a:t>∞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>
                          <a:latin typeface="HAW Frutiger Next Regular" panose="02000503050000020004" pitchFamily="2" charset="0"/>
                        </a:rPr>
                        <a:t>∞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>
                          <a:latin typeface="HAW Frutiger Next Regular" panose="02000503050000020004" pitchFamily="2" charset="0"/>
                        </a:rPr>
                        <a:t>∞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feld 7"/>
          <p:cNvSpPr txBox="1"/>
          <p:nvPr/>
        </p:nvSpPr>
        <p:spPr>
          <a:xfrm>
            <a:off x="7184571" y="574766"/>
            <a:ext cx="3458824" cy="369330"/>
          </a:xfrm>
          <a:prstGeom prst="rect">
            <a:avLst/>
          </a:prstGeom>
          <a:noFill/>
        </p:spPr>
        <p:txBody>
          <a:bodyPr wrap="none" lIns="91436" tIns="45719" rIns="91436" bIns="45719" rtlCol="0">
            <a:spAutoFit/>
          </a:bodyPr>
          <a:lstStyle/>
          <a:p>
            <a:r>
              <a:rPr lang="de-DE" dirty="0"/>
              <a:t>Zwischenergebnis, Entfernung zu A</a:t>
            </a:r>
          </a:p>
        </p:txBody>
      </p:sp>
      <p:sp>
        <p:nvSpPr>
          <p:cNvPr id="9" name="Textfeld 8"/>
          <p:cNvSpPr txBox="1"/>
          <p:nvPr/>
        </p:nvSpPr>
        <p:spPr>
          <a:xfrm>
            <a:off x="666205" y="3325330"/>
            <a:ext cx="6100355" cy="1569658"/>
          </a:xfrm>
          <a:prstGeom prst="rect">
            <a:avLst/>
          </a:prstGeom>
          <a:noFill/>
        </p:spPr>
        <p:txBody>
          <a:bodyPr wrap="square" lIns="91436" tIns="45719" rIns="91436" bIns="45719" rtlCol="0">
            <a:spAutoFit/>
          </a:bodyPr>
          <a:lstStyle/>
          <a:p>
            <a:r>
              <a:rPr lang="de-DE" sz="2400" dirty="0">
                <a:latin typeface="HAW Frutiger Next Regular" panose="02000503050000020004" pitchFamily="2" charset="0"/>
              </a:rPr>
              <a:t>C: </a:t>
            </a:r>
            <a:r>
              <a:rPr lang="de-DE" dirty="0">
                <a:latin typeface="HAW Frutiger Next Regular" panose="02000503050000020004" pitchFamily="2" charset="0"/>
              </a:rPr>
              <a:t>Nachbarn A, E und F, M(C,A)=1 , M(C,E)=1 und M(C,F)=3 , aktueller Wert für d(C) aus Schritt A: d(C)=1</a:t>
            </a:r>
          </a:p>
          <a:p>
            <a:r>
              <a:rPr lang="de-DE" dirty="0">
                <a:latin typeface="HAW Frutiger Next Regular" panose="02000503050000020004" pitchFamily="2" charset="0"/>
              </a:rPr>
              <a:t>	</a:t>
            </a:r>
            <a:r>
              <a:rPr lang="de-DE" b="1" dirty="0">
                <a:latin typeface="HAW Frutiger Next Regular" panose="02000503050000020004" pitchFamily="2" charset="0"/>
              </a:rPr>
              <a:t>d(A) = d(C) + M(C,A) = 1 + 1 = 2</a:t>
            </a:r>
          </a:p>
          <a:p>
            <a:r>
              <a:rPr lang="de-DE" b="1" dirty="0">
                <a:latin typeface="HAW Frutiger Next Regular" panose="02000503050000020004" pitchFamily="2" charset="0"/>
              </a:rPr>
              <a:t>	d(E) = d(C) + M(C,E) = 1 + 1 = 2</a:t>
            </a:r>
          </a:p>
          <a:p>
            <a:r>
              <a:rPr lang="de-DE" b="1" dirty="0">
                <a:latin typeface="HAW Frutiger Next Regular" panose="02000503050000020004" pitchFamily="2" charset="0"/>
              </a:rPr>
              <a:t>	d(F) = d(C) + M(C,F) = 1 + 3 = 4</a:t>
            </a:r>
          </a:p>
        </p:txBody>
      </p:sp>
      <p:sp>
        <p:nvSpPr>
          <p:cNvPr id="11" name="Textfeld 10"/>
          <p:cNvSpPr txBox="1"/>
          <p:nvPr/>
        </p:nvSpPr>
        <p:spPr>
          <a:xfrm>
            <a:off x="666208" y="2217837"/>
            <a:ext cx="5290457" cy="1015661"/>
          </a:xfrm>
          <a:prstGeom prst="rect">
            <a:avLst/>
          </a:prstGeom>
          <a:noFill/>
        </p:spPr>
        <p:txBody>
          <a:bodyPr wrap="square" lIns="91436" tIns="45719" rIns="91436" bIns="45719" rtlCol="0">
            <a:spAutoFit/>
          </a:bodyPr>
          <a:lstStyle/>
          <a:p>
            <a:r>
              <a:rPr lang="de-DE" sz="2400" dirty="0">
                <a:latin typeface="HAW Frutiger Next Regular" panose="02000503050000020004" pitchFamily="2" charset="0"/>
              </a:rPr>
              <a:t>B: </a:t>
            </a:r>
            <a:r>
              <a:rPr lang="de-DE" dirty="0">
                <a:latin typeface="HAW Frutiger Next Regular" panose="02000503050000020004" pitchFamily="2" charset="0"/>
              </a:rPr>
              <a:t>Nachbarn D und G, M(B,D)=2 und M(B,G)=1</a:t>
            </a:r>
          </a:p>
          <a:p>
            <a:r>
              <a:rPr lang="de-DE" dirty="0">
                <a:latin typeface="HAW Frutiger Next Regular" panose="02000503050000020004" pitchFamily="2" charset="0"/>
              </a:rPr>
              <a:t>	</a:t>
            </a:r>
            <a:r>
              <a:rPr lang="de-DE" b="1" dirty="0">
                <a:latin typeface="HAW Frutiger Next Regular" panose="02000503050000020004" pitchFamily="2" charset="0"/>
              </a:rPr>
              <a:t>d(D) = d(B) + M(B,D) = ∞ + 2 = ∞</a:t>
            </a:r>
          </a:p>
          <a:p>
            <a:r>
              <a:rPr lang="de-DE" b="1" dirty="0">
                <a:latin typeface="HAW Frutiger Next Regular" panose="02000503050000020004" pitchFamily="2" charset="0"/>
              </a:rPr>
              <a:t>	d(G) = d(B) + M(B,G) = ∞ + 1 = ∞</a:t>
            </a:r>
          </a:p>
        </p:txBody>
      </p:sp>
      <p:graphicFrame>
        <p:nvGraphicFramePr>
          <p:cNvPr id="13" name="Tabelle 12"/>
          <p:cNvGraphicFramePr>
            <a:graphicFrameLocks noGrp="1"/>
          </p:cNvGraphicFramePr>
          <p:nvPr/>
        </p:nvGraphicFramePr>
        <p:xfrm>
          <a:off x="7022599" y="3883687"/>
          <a:ext cx="4347028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1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d(A)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d(B)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d(C)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d(F)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d(G)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>
                          <a:latin typeface="HAW Frutiger Next Regular" panose="02000503050000020004" pitchFamily="2" charset="0"/>
                        </a:rPr>
                        <a:t>∞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>
                          <a:latin typeface="HAW Frutiger Next Regular" panose="02000503050000020004" pitchFamily="2" charset="0"/>
                        </a:rPr>
                        <a:t>∞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 dirty="0">
                          <a:solidFill>
                            <a:schemeClr val="accent2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1" dirty="0">
                          <a:solidFill>
                            <a:schemeClr val="accent2"/>
                          </a:solidFill>
                          <a:latin typeface="+mn-lt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>
                          <a:latin typeface="HAW Frutiger Next Regular" panose="02000503050000020004" pitchFamily="2" charset="0"/>
                        </a:rPr>
                        <a:t>∞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Rechteck 15"/>
          <p:cNvSpPr/>
          <p:nvPr/>
        </p:nvSpPr>
        <p:spPr>
          <a:xfrm>
            <a:off x="4722223" y="3905557"/>
            <a:ext cx="404948" cy="415496"/>
          </a:xfrm>
          <a:prstGeom prst="rect">
            <a:avLst/>
          </a:prstGeom>
          <a:noFill/>
        </p:spPr>
        <p:txBody>
          <a:bodyPr wrap="square" lIns="91436" tIns="45719" rIns="91436" bIns="45719">
            <a:spAutoFit/>
          </a:bodyPr>
          <a:lstStyle/>
          <a:p>
            <a:pPr algn="ctr"/>
            <a:r>
              <a:rPr lang="de-DE" sz="21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/</a:t>
            </a:r>
          </a:p>
        </p:txBody>
      </p:sp>
      <p:sp>
        <p:nvSpPr>
          <p:cNvPr id="21" name="Textfeld 20"/>
          <p:cNvSpPr txBox="1"/>
          <p:nvPr/>
        </p:nvSpPr>
        <p:spPr>
          <a:xfrm>
            <a:off x="666206" y="5002713"/>
            <a:ext cx="5388231" cy="1292660"/>
          </a:xfrm>
          <a:prstGeom prst="rect">
            <a:avLst/>
          </a:prstGeom>
          <a:noFill/>
        </p:spPr>
        <p:txBody>
          <a:bodyPr wrap="square" lIns="91436" tIns="45719" rIns="91436" bIns="45719" rtlCol="0">
            <a:spAutoFit/>
          </a:bodyPr>
          <a:lstStyle/>
          <a:p>
            <a:r>
              <a:rPr lang="de-DE" sz="2400" dirty="0">
                <a:latin typeface="HAW Frutiger Next Regular" panose="02000503050000020004" pitchFamily="2" charset="0"/>
              </a:rPr>
              <a:t>D: </a:t>
            </a:r>
            <a:r>
              <a:rPr lang="de-DE" dirty="0">
                <a:latin typeface="HAW Frutiger Next Regular" panose="02000503050000020004" pitchFamily="2" charset="0"/>
              </a:rPr>
              <a:t>Nachbarn B, E, F und G, M(D,B)=2 usw.       aktueller Wert für d(D)=∞</a:t>
            </a:r>
          </a:p>
          <a:p>
            <a:r>
              <a:rPr lang="de-DE" dirty="0">
                <a:latin typeface="HAW Frutiger Next Regular" panose="02000503050000020004" pitchFamily="2" charset="0"/>
              </a:rPr>
              <a:t>	</a:t>
            </a:r>
            <a:r>
              <a:rPr lang="de-DE" b="1" dirty="0">
                <a:latin typeface="HAW Frutiger Next Regular" panose="02000503050000020004" pitchFamily="2" charset="0"/>
              </a:rPr>
              <a:t>d(B) = d(D) + M(D,B) = ∞ + 2 = ∞</a:t>
            </a:r>
          </a:p>
          <a:p>
            <a:r>
              <a:rPr lang="de-DE" dirty="0">
                <a:latin typeface="HAW Frutiger Next Regular" panose="02000503050000020004" pitchFamily="2" charset="0"/>
              </a:rPr>
              <a:t>auch für d(E), d(F) und d(G) ergibt sich ∞</a:t>
            </a:r>
            <a:endParaRPr lang="de-DE" dirty="0"/>
          </a:p>
        </p:txBody>
      </p:sp>
      <p:graphicFrame>
        <p:nvGraphicFramePr>
          <p:cNvPr id="23" name="Tabelle 22"/>
          <p:cNvGraphicFramePr>
            <a:graphicFrameLocks noGrp="1"/>
          </p:cNvGraphicFramePr>
          <p:nvPr/>
        </p:nvGraphicFramePr>
        <p:xfrm>
          <a:off x="7028530" y="3887134"/>
          <a:ext cx="4347028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1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d(A)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d(B)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d(C)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d(F)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d(G)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>
                          <a:latin typeface="HAW Frutiger Next Regular" panose="02000503050000020004" pitchFamily="2" charset="0"/>
                        </a:rPr>
                        <a:t>∞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>
                          <a:latin typeface="HAW Frutiger Next Regular" panose="02000503050000020004" pitchFamily="2" charset="0"/>
                        </a:rPr>
                        <a:t>∞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>
                          <a:latin typeface="HAW Frutiger Next Regular" panose="02000503050000020004" pitchFamily="2" charset="0"/>
                        </a:rPr>
                        <a:t>∞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" name="Rechteck 23"/>
          <p:cNvSpPr/>
          <p:nvPr/>
        </p:nvSpPr>
        <p:spPr>
          <a:xfrm>
            <a:off x="4779799" y="5639800"/>
            <a:ext cx="404948" cy="415496"/>
          </a:xfrm>
          <a:prstGeom prst="rect">
            <a:avLst/>
          </a:prstGeom>
          <a:noFill/>
        </p:spPr>
        <p:txBody>
          <a:bodyPr wrap="square" lIns="91436" tIns="45719" rIns="91436" bIns="45719">
            <a:spAutoFit/>
          </a:bodyPr>
          <a:lstStyle/>
          <a:p>
            <a:pPr algn="ctr"/>
            <a:endParaRPr lang="de-DE" sz="21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" name="Textfeld 1"/>
          <p:cNvSpPr txBox="1"/>
          <p:nvPr/>
        </p:nvSpPr>
        <p:spPr>
          <a:xfrm>
            <a:off x="6078353" y="4631533"/>
            <a:ext cx="5334000" cy="461663"/>
          </a:xfrm>
          <a:prstGeom prst="rect">
            <a:avLst/>
          </a:prstGeom>
          <a:noFill/>
        </p:spPr>
        <p:txBody>
          <a:bodyPr wrap="square" lIns="91436" tIns="45719" rIns="91436" bIns="45719" rtlCol="0">
            <a:spAutoFit/>
          </a:bodyPr>
          <a:lstStyle/>
          <a:p>
            <a:r>
              <a:rPr lang="de-DE" sz="1200" dirty="0"/>
              <a:t>d(A) verbessert sich nicht und kann gestrichen  werden, für d(E) und d(F) ergeben sich bessere Werte, die die bisherigen Werte überschreiben</a:t>
            </a:r>
          </a:p>
        </p:txBody>
      </p:sp>
      <p:sp>
        <p:nvSpPr>
          <p:cNvPr id="17" name="Textfeld 16"/>
          <p:cNvSpPr txBox="1"/>
          <p:nvPr/>
        </p:nvSpPr>
        <p:spPr>
          <a:xfrm>
            <a:off x="6078353" y="6041948"/>
            <a:ext cx="5334000" cy="276997"/>
          </a:xfrm>
          <a:prstGeom prst="rect">
            <a:avLst/>
          </a:prstGeom>
          <a:noFill/>
        </p:spPr>
        <p:txBody>
          <a:bodyPr wrap="square" lIns="91436" tIns="45719" rIns="91436" bIns="45719" rtlCol="0">
            <a:spAutoFit/>
          </a:bodyPr>
          <a:lstStyle/>
          <a:p>
            <a:r>
              <a:rPr lang="de-DE" sz="1200" dirty="0"/>
              <a:t>Es ergibt sich keine Verbesserung der Werte </a:t>
            </a:r>
          </a:p>
        </p:txBody>
      </p:sp>
      <p:sp>
        <p:nvSpPr>
          <p:cNvPr id="22" name="Rechteck 21"/>
          <p:cNvSpPr/>
          <p:nvPr/>
        </p:nvSpPr>
        <p:spPr>
          <a:xfrm>
            <a:off x="4736482" y="1356565"/>
            <a:ext cx="447679" cy="523218"/>
          </a:xfrm>
          <a:prstGeom prst="rect">
            <a:avLst/>
          </a:prstGeom>
          <a:noFill/>
        </p:spPr>
        <p:txBody>
          <a:bodyPr wrap="square" lIns="91436" tIns="45719" rIns="91436" bIns="45719">
            <a:spAutoFit/>
          </a:bodyPr>
          <a:lstStyle/>
          <a:p>
            <a:pPr algn="ctr"/>
            <a:r>
              <a:rPr lang="de-DE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1</a:t>
            </a:r>
          </a:p>
        </p:txBody>
      </p:sp>
      <p:sp>
        <p:nvSpPr>
          <p:cNvPr id="25" name="Rechteck 24"/>
          <p:cNvSpPr/>
          <p:nvPr/>
        </p:nvSpPr>
        <p:spPr>
          <a:xfrm>
            <a:off x="4697846" y="1694617"/>
            <a:ext cx="447679" cy="523218"/>
          </a:xfrm>
          <a:prstGeom prst="rect">
            <a:avLst/>
          </a:prstGeom>
          <a:noFill/>
        </p:spPr>
        <p:txBody>
          <a:bodyPr wrap="square" lIns="91436" tIns="45719" rIns="91436" bIns="45719">
            <a:spAutoFit/>
          </a:bodyPr>
          <a:lstStyle/>
          <a:p>
            <a:pPr algn="ctr"/>
            <a:r>
              <a:rPr lang="de-DE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3</a:t>
            </a:r>
          </a:p>
        </p:txBody>
      </p:sp>
      <p:graphicFrame>
        <p:nvGraphicFramePr>
          <p:cNvPr id="26" name="Tabelle 25"/>
          <p:cNvGraphicFramePr>
            <a:graphicFrameLocks noGrp="1"/>
          </p:cNvGraphicFramePr>
          <p:nvPr/>
        </p:nvGraphicFramePr>
        <p:xfrm>
          <a:off x="6999365" y="1110343"/>
          <a:ext cx="4347028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1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d(A)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d(B)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d(C)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d(F)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d(G)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>
                          <a:latin typeface="HAW Frutiger Next Regular" panose="02000503050000020004" pitchFamily="2" charset="0"/>
                        </a:rPr>
                        <a:t>∞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>
                          <a:solidFill>
                            <a:schemeClr val="accent2"/>
                          </a:solidFill>
                          <a:latin typeface="HAW Frutiger Next Regular" panose="02000503050000020004" pitchFamily="2" charset="0"/>
                        </a:rPr>
                        <a:t>1</a:t>
                      </a:r>
                      <a:endParaRPr lang="de-DE" sz="1400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>
                          <a:latin typeface="HAW Frutiger Next Regular" panose="02000503050000020004" pitchFamily="2" charset="0"/>
                        </a:rPr>
                        <a:t>∞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>
                          <a:solidFill>
                            <a:schemeClr val="accent2"/>
                          </a:solidFill>
                          <a:latin typeface="HAW Frutiger Next Regular" panose="02000503050000020004" pitchFamily="2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>
                          <a:latin typeface="HAW Frutiger Next Regular" panose="02000503050000020004" pitchFamily="2" charset="0"/>
                        </a:rPr>
                        <a:t>∞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>
                          <a:latin typeface="HAW Frutiger Next Regular" panose="02000503050000020004" pitchFamily="2" charset="0"/>
                        </a:rPr>
                        <a:t>∞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7" name="Textfeld 26"/>
          <p:cNvSpPr txBox="1"/>
          <p:nvPr/>
        </p:nvSpPr>
        <p:spPr>
          <a:xfrm>
            <a:off x="6054436" y="1870802"/>
            <a:ext cx="5334000" cy="461663"/>
          </a:xfrm>
          <a:prstGeom prst="rect">
            <a:avLst/>
          </a:prstGeom>
          <a:noFill/>
        </p:spPr>
        <p:txBody>
          <a:bodyPr wrap="square" lIns="91436" tIns="45719" rIns="91436" bIns="45719" rtlCol="0">
            <a:spAutoFit/>
          </a:bodyPr>
          <a:lstStyle/>
          <a:p>
            <a:r>
              <a:rPr lang="de-DE" sz="1200" dirty="0"/>
              <a:t>Es werden die Entfernungen  zu den Nachbarn C und E berechnet; beide Werte sind besser als die ursprünglichen und überschreiben  somit diese alten Werte</a:t>
            </a:r>
          </a:p>
        </p:txBody>
      </p:sp>
      <p:sp>
        <p:nvSpPr>
          <p:cNvPr id="28" name="Textfeld 27"/>
          <p:cNvSpPr txBox="1"/>
          <p:nvPr/>
        </p:nvSpPr>
        <p:spPr>
          <a:xfrm>
            <a:off x="6054436" y="2952141"/>
            <a:ext cx="5334000" cy="461663"/>
          </a:xfrm>
          <a:prstGeom prst="rect">
            <a:avLst/>
          </a:prstGeom>
          <a:noFill/>
        </p:spPr>
        <p:txBody>
          <a:bodyPr wrap="square" lIns="91436" tIns="45719" rIns="91436" bIns="45719" rtlCol="0">
            <a:spAutoFit/>
          </a:bodyPr>
          <a:lstStyle/>
          <a:p>
            <a:r>
              <a:rPr lang="de-DE" sz="1200" dirty="0"/>
              <a:t>Da d(B) bisher noch nicht berechnet wurde, ergibt der initiale Wert von d(B) (unendlich) auch für die beiden Nachbarn von B nur die Werte unendlich</a:t>
            </a:r>
          </a:p>
        </p:txBody>
      </p:sp>
      <p:graphicFrame>
        <p:nvGraphicFramePr>
          <p:cNvPr id="29" name="Tabelle 28"/>
          <p:cNvGraphicFramePr>
            <a:graphicFrameLocks noGrp="1"/>
          </p:cNvGraphicFramePr>
          <p:nvPr/>
        </p:nvGraphicFramePr>
        <p:xfrm>
          <a:off x="6976135" y="2217836"/>
          <a:ext cx="4347028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1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d(A)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d(B)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d(C)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d(F)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d(G)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>
                          <a:latin typeface="HAW Frutiger Next Regular" panose="02000503050000020004" pitchFamily="2" charset="0"/>
                        </a:rPr>
                        <a:t>∞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>
                          <a:solidFill>
                            <a:schemeClr val="tx1"/>
                          </a:solidFill>
                          <a:latin typeface="HAW Frutiger Next Regular" panose="02000503050000020004" pitchFamily="2" charset="0"/>
                        </a:rPr>
                        <a:t>1</a:t>
                      </a:r>
                      <a:endParaRPr lang="de-DE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>
                          <a:latin typeface="HAW Frutiger Next Regular" panose="02000503050000020004" pitchFamily="2" charset="0"/>
                        </a:rPr>
                        <a:t>∞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>
                          <a:solidFill>
                            <a:schemeClr val="tx1"/>
                          </a:solidFill>
                          <a:latin typeface="HAW Frutiger Next Regular" panose="02000503050000020004" pitchFamily="2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>
                          <a:latin typeface="HAW Frutiger Next Regular" panose="02000503050000020004" pitchFamily="2" charset="0"/>
                        </a:rPr>
                        <a:t>∞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>
                          <a:latin typeface="HAW Frutiger Next Regular" panose="02000503050000020004" pitchFamily="2" charset="0"/>
                        </a:rPr>
                        <a:t>∞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Rechteck 17"/>
          <p:cNvSpPr/>
          <p:nvPr/>
        </p:nvSpPr>
        <p:spPr>
          <a:xfrm>
            <a:off x="4643263" y="4063994"/>
            <a:ext cx="447679" cy="523218"/>
          </a:xfrm>
          <a:prstGeom prst="rect">
            <a:avLst/>
          </a:prstGeom>
          <a:noFill/>
        </p:spPr>
        <p:txBody>
          <a:bodyPr wrap="square" lIns="91436" tIns="45719" rIns="91436" bIns="45719">
            <a:spAutoFit/>
          </a:bodyPr>
          <a:lstStyle/>
          <a:p>
            <a:pPr algn="ctr"/>
            <a:r>
              <a:rPr lang="de-DE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2</a:t>
            </a:r>
          </a:p>
        </p:txBody>
      </p:sp>
      <p:sp>
        <p:nvSpPr>
          <p:cNvPr id="20" name="Rechteck 19"/>
          <p:cNvSpPr/>
          <p:nvPr/>
        </p:nvSpPr>
        <p:spPr>
          <a:xfrm>
            <a:off x="4643263" y="4328589"/>
            <a:ext cx="447679" cy="523218"/>
          </a:xfrm>
          <a:prstGeom prst="rect">
            <a:avLst/>
          </a:prstGeom>
          <a:noFill/>
        </p:spPr>
        <p:txBody>
          <a:bodyPr wrap="square" lIns="91436" tIns="45719" rIns="91436" bIns="45719">
            <a:spAutoFit/>
          </a:bodyPr>
          <a:lstStyle/>
          <a:p>
            <a:pPr algn="ctr"/>
            <a:r>
              <a:rPr lang="de-DE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4</a:t>
            </a:r>
          </a:p>
        </p:txBody>
      </p:sp>
      <p:sp>
        <p:nvSpPr>
          <p:cNvPr id="30" name="Textfeld 29"/>
          <p:cNvSpPr txBox="1"/>
          <p:nvPr/>
        </p:nvSpPr>
        <p:spPr>
          <a:xfrm>
            <a:off x="9223404" y="6452867"/>
            <a:ext cx="2839997" cy="276997"/>
          </a:xfrm>
          <a:prstGeom prst="rect">
            <a:avLst/>
          </a:prstGeom>
          <a:noFill/>
        </p:spPr>
        <p:txBody>
          <a:bodyPr wrap="square" lIns="91436" tIns="45719" rIns="91436" bIns="45719" rtlCol="0">
            <a:spAutoFit/>
          </a:bodyPr>
          <a:lstStyle/>
          <a:p>
            <a:r>
              <a:rPr lang="de-DE" sz="1200" dirty="0"/>
              <a:t>Weiter mit Runde 1 auf der nächsten Seite</a:t>
            </a:r>
          </a:p>
        </p:txBody>
      </p:sp>
      <p:sp>
        <p:nvSpPr>
          <p:cNvPr id="6" name="Untertitel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6866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path" presetSubtype="0" accel="50000" decel="50000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-2.15801E-6 -1.42461E-6 L 0.29247 0.00948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617" y="463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45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grpId="1" nodeType="withEffect">
                                  <p:stCondLst>
                                    <p:cond delay="3400"/>
                                  </p:stCondLst>
                                  <p:childTnLst>
                                    <p:animMotion origin="layout" path="M 1.77925E-6 0.00185 L 0.39372 -0.03561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80" y="-18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5236E-8 2.63645E-6 L -0.00104 0.1672 " pathEditMode="relative" rAng="0" ptsTypes="AA">
                                      <p:cBhvr>
                                        <p:cTn id="49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834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7945E-6 -3.65402E-6 L 1.27945E-6 0.24052 " pathEditMode="relative" rAng="0" ptsTypes="AA">
                                      <p:cBhvr>
                                        <p:cTn id="68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0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45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path" presetSubtype="0" accel="50000" decel="5000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-2.86607E-6 -3.51526E-6 L 0.39802 0.01504 " pathEditMode="relative" rAng="0" ptsTypes="AA">
                                      <p:cBhvr>
                                        <p:cTn id="7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901" y="740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45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path" presetSubtype="0" accel="50000" decel="50000" fill="hold" grpId="1" nodeType="withEffect">
                                  <p:stCondLst>
                                    <p:cond delay="4500"/>
                                  </p:stCondLst>
                                  <p:childTnLst>
                                    <p:animMotion origin="layout" path="M -2.86607E-6 -3.89454E-6 L 0.45347 -0.02659 " pathEditMode="relative" rAng="0" ptsTypes="AA">
                                      <p:cBhvr>
                                        <p:cTn id="8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673" y="-13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1" presetClass="exit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grpId="1" nodeType="withEffect">
                                  <p:stCondLst>
                                    <p:cond delay="2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42" presetClass="path" presetSubtype="0" accel="50000" decel="5000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animMotion origin="layout" path="M -4.375E-6 3.33333E-6 L 0.00013 0.18935 " pathEditMode="relative" rAng="0" ptsTypes="AA">
                                      <p:cBhvr>
                                        <p:cTn id="116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468"/>
                                    </p:animMotion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1" grpId="0"/>
      <p:bldP spid="16" grpId="0"/>
      <p:bldP spid="21" grpId="0"/>
      <p:bldP spid="2" grpId="0"/>
      <p:bldP spid="2" grpId="1"/>
      <p:bldP spid="17" grpId="0"/>
      <p:bldP spid="22" grpId="0"/>
      <p:bldP spid="22" grpId="1"/>
      <p:bldP spid="22" grpId="2"/>
      <p:bldP spid="25" grpId="0"/>
      <p:bldP spid="25" grpId="1"/>
      <p:bldP spid="25" grpId="2"/>
      <p:bldP spid="27" grpId="0"/>
      <p:bldP spid="27" grpId="1"/>
      <p:bldP spid="28" grpId="0"/>
      <p:bldP spid="28" grpId="1"/>
      <p:bldP spid="18" grpId="0"/>
      <p:bldP spid="18" grpId="1"/>
      <p:bldP spid="18" grpId="2"/>
      <p:bldP spid="20" grpId="0"/>
      <p:bldP spid="20" grpId="1"/>
      <p:bldP spid="20" grpId="2"/>
      <p:bldP spid="3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/>
          <p:cNvSpPr txBox="1"/>
          <p:nvPr/>
        </p:nvSpPr>
        <p:spPr>
          <a:xfrm>
            <a:off x="666206" y="574766"/>
            <a:ext cx="2340231" cy="369330"/>
          </a:xfrm>
          <a:prstGeom prst="rect">
            <a:avLst/>
          </a:prstGeom>
          <a:noFill/>
        </p:spPr>
        <p:txBody>
          <a:bodyPr wrap="square" lIns="91436" tIns="45719" rIns="91436" bIns="45719" rtlCol="0">
            <a:spAutoFit/>
          </a:bodyPr>
          <a:lstStyle/>
          <a:p>
            <a:r>
              <a:rPr lang="de-DE" b="1" dirty="0">
                <a:latin typeface="HAW Frutiger Next Regular" panose="02000503050000020004" pitchFamily="2" charset="0"/>
              </a:rPr>
              <a:t>weiter mit Runde 1</a:t>
            </a:r>
          </a:p>
        </p:txBody>
      </p:sp>
      <p:sp>
        <p:nvSpPr>
          <p:cNvPr id="5" name="Textfeld 4"/>
          <p:cNvSpPr txBox="1"/>
          <p:nvPr/>
        </p:nvSpPr>
        <p:spPr>
          <a:xfrm>
            <a:off x="666207" y="1110343"/>
            <a:ext cx="5983976" cy="2123656"/>
          </a:xfrm>
          <a:prstGeom prst="rect">
            <a:avLst/>
          </a:prstGeom>
          <a:noFill/>
        </p:spPr>
        <p:txBody>
          <a:bodyPr wrap="square" lIns="91436" tIns="45719" rIns="91436" bIns="45719" rtlCol="0">
            <a:spAutoFit/>
          </a:bodyPr>
          <a:lstStyle/>
          <a:p>
            <a:r>
              <a:rPr lang="de-DE" sz="2400" dirty="0">
                <a:latin typeface="HAW Frutiger Next Regular" panose="02000503050000020004" pitchFamily="2" charset="0"/>
              </a:rPr>
              <a:t>E: </a:t>
            </a:r>
            <a:r>
              <a:rPr lang="de-DE" dirty="0">
                <a:latin typeface="HAW Frutiger Next Regular" panose="02000503050000020004" pitchFamily="2" charset="0"/>
              </a:rPr>
              <a:t>Nachbarn A, C, D und F, M(E,A)=3, M(E,C)=1, M(E,D)=2 und M(E,F)=1 , aktueller Werte von d(E) =2</a:t>
            </a:r>
          </a:p>
          <a:p>
            <a:r>
              <a:rPr lang="de-DE" dirty="0">
                <a:latin typeface="HAW Frutiger Next Regular" panose="02000503050000020004" pitchFamily="2" charset="0"/>
              </a:rPr>
              <a:t>	</a:t>
            </a:r>
            <a:r>
              <a:rPr lang="de-DE" b="1" dirty="0">
                <a:latin typeface="HAW Frutiger Next Regular" panose="02000503050000020004" pitchFamily="2" charset="0"/>
              </a:rPr>
              <a:t>d(A) = d(E) + M(E,A) = 2 + 3 = 5</a:t>
            </a:r>
          </a:p>
          <a:p>
            <a:r>
              <a:rPr lang="de-DE" b="1" dirty="0">
                <a:latin typeface="HAW Frutiger Next Regular" panose="02000503050000020004" pitchFamily="2" charset="0"/>
              </a:rPr>
              <a:t>	d(C) = d(E) + M(E,C) = 2 + 1 = 3</a:t>
            </a:r>
          </a:p>
          <a:p>
            <a:r>
              <a:rPr lang="de-DE" b="1" dirty="0">
                <a:latin typeface="HAW Frutiger Next Regular" panose="02000503050000020004" pitchFamily="2" charset="0"/>
              </a:rPr>
              <a:t>	d(D) = d(E) + M(E,D) = 2 + 2 = 4</a:t>
            </a:r>
          </a:p>
          <a:p>
            <a:r>
              <a:rPr lang="de-DE" b="1" dirty="0">
                <a:latin typeface="HAW Frutiger Next Regular" panose="02000503050000020004" pitchFamily="2" charset="0"/>
              </a:rPr>
              <a:t>	d(F) = d(E) + M(E,F) = 2 + 1 = 3</a:t>
            </a:r>
          </a:p>
          <a:p>
            <a:endParaRPr lang="de-DE" b="1" dirty="0">
              <a:latin typeface="HAW Frutiger Next Regular" panose="02000503050000020004" pitchFamily="2" charset="0"/>
            </a:endParaRPr>
          </a:p>
        </p:txBody>
      </p:sp>
      <p:graphicFrame>
        <p:nvGraphicFramePr>
          <p:cNvPr id="6" name="Tabelle 5"/>
          <p:cNvGraphicFramePr>
            <a:graphicFrameLocks noGrp="1"/>
          </p:cNvGraphicFramePr>
          <p:nvPr/>
        </p:nvGraphicFramePr>
        <p:xfrm>
          <a:off x="6858989" y="1217720"/>
          <a:ext cx="4347028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1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d(A)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d(B)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d(C)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d(F)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d(G)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>
                          <a:latin typeface="HAW Frutiger Next Regular" panose="02000503050000020004" pitchFamily="2" charset="0"/>
                        </a:rPr>
                        <a:t>∞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>
                          <a:latin typeface="HAW Frutiger Next Regular" panose="02000503050000020004" pitchFamily="2" charset="0"/>
                        </a:rPr>
                        <a:t>∞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>
                          <a:latin typeface="HAW Frutiger Next Regular" panose="02000503050000020004" pitchFamily="2" charset="0"/>
                        </a:rPr>
                        <a:t>∞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feld 6"/>
          <p:cNvSpPr txBox="1"/>
          <p:nvPr/>
        </p:nvSpPr>
        <p:spPr>
          <a:xfrm>
            <a:off x="7184571" y="574766"/>
            <a:ext cx="3458824" cy="369330"/>
          </a:xfrm>
          <a:prstGeom prst="rect">
            <a:avLst/>
          </a:prstGeom>
          <a:noFill/>
        </p:spPr>
        <p:txBody>
          <a:bodyPr wrap="none" lIns="91436" tIns="45719" rIns="91436" bIns="45719" rtlCol="0">
            <a:spAutoFit/>
          </a:bodyPr>
          <a:lstStyle/>
          <a:p>
            <a:r>
              <a:rPr lang="de-DE" dirty="0"/>
              <a:t>Zwischenergebnis, Entfernung zu A</a:t>
            </a:r>
          </a:p>
        </p:txBody>
      </p:sp>
      <p:sp>
        <p:nvSpPr>
          <p:cNvPr id="9" name="Rechteck 8"/>
          <p:cNvSpPr/>
          <p:nvPr/>
        </p:nvSpPr>
        <p:spPr>
          <a:xfrm>
            <a:off x="4643263" y="2172172"/>
            <a:ext cx="447679" cy="523218"/>
          </a:xfrm>
          <a:prstGeom prst="rect">
            <a:avLst/>
          </a:prstGeom>
          <a:noFill/>
        </p:spPr>
        <p:txBody>
          <a:bodyPr wrap="square" lIns="91436" tIns="45719" rIns="91436" bIns="45719">
            <a:spAutoFit/>
          </a:bodyPr>
          <a:lstStyle/>
          <a:p>
            <a:pPr algn="ctr"/>
            <a:r>
              <a:rPr lang="de-DE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4</a:t>
            </a:r>
          </a:p>
        </p:txBody>
      </p:sp>
      <p:sp>
        <p:nvSpPr>
          <p:cNvPr id="10" name="Rechteck 9"/>
          <p:cNvSpPr/>
          <p:nvPr/>
        </p:nvSpPr>
        <p:spPr>
          <a:xfrm>
            <a:off x="4643263" y="2466103"/>
            <a:ext cx="447679" cy="523218"/>
          </a:xfrm>
          <a:prstGeom prst="rect">
            <a:avLst/>
          </a:prstGeom>
          <a:noFill/>
        </p:spPr>
        <p:txBody>
          <a:bodyPr wrap="square" lIns="91436" tIns="45719" rIns="91436" bIns="45719">
            <a:spAutoFit/>
          </a:bodyPr>
          <a:lstStyle/>
          <a:p>
            <a:pPr algn="ctr"/>
            <a:r>
              <a:rPr lang="de-DE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3</a:t>
            </a:r>
          </a:p>
        </p:txBody>
      </p:sp>
      <p:sp>
        <p:nvSpPr>
          <p:cNvPr id="11" name="Rechteck 10"/>
          <p:cNvSpPr/>
          <p:nvPr/>
        </p:nvSpPr>
        <p:spPr>
          <a:xfrm>
            <a:off x="4664629" y="1742928"/>
            <a:ext cx="404948" cy="415496"/>
          </a:xfrm>
          <a:prstGeom prst="rect">
            <a:avLst/>
          </a:prstGeom>
          <a:noFill/>
        </p:spPr>
        <p:txBody>
          <a:bodyPr wrap="square" lIns="91436" tIns="45719" rIns="91436" bIns="45719">
            <a:spAutoFit/>
          </a:bodyPr>
          <a:lstStyle/>
          <a:p>
            <a:pPr algn="ctr"/>
            <a:r>
              <a:rPr lang="de-DE" sz="21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/</a:t>
            </a:r>
          </a:p>
        </p:txBody>
      </p:sp>
      <p:sp>
        <p:nvSpPr>
          <p:cNvPr id="12" name="Rechteck 11"/>
          <p:cNvSpPr/>
          <p:nvPr/>
        </p:nvSpPr>
        <p:spPr>
          <a:xfrm>
            <a:off x="4664629" y="2032247"/>
            <a:ext cx="404948" cy="415496"/>
          </a:xfrm>
          <a:prstGeom prst="rect">
            <a:avLst/>
          </a:prstGeom>
          <a:noFill/>
        </p:spPr>
        <p:txBody>
          <a:bodyPr wrap="square" lIns="91436" tIns="45719" rIns="91436" bIns="45719">
            <a:spAutoFit/>
          </a:bodyPr>
          <a:lstStyle/>
          <a:p>
            <a:pPr algn="ctr"/>
            <a:r>
              <a:rPr lang="de-DE" sz="21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/</a:t>
            </a:r>
          </a:p>
        </p:txBody>
      </p:sp>
      <p:graphicFrame>
        <p:nvGraphicFramePr>
          <p:cNvPr id="13" name="Tabelle 12"/>
          <p:cNvGraphicFramePr>
            <a:graphicFrameLocks noGrp="1"/>
          </p:cNvGraphicFramePr>
          <p:nvPr/>
        </p:nvGraphicFramePr>
        <p:xfrm>
          <a:off x="6886698" y="1211464"/>
          <a:ext cx="4347028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1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d(A)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d(B)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d(C)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d(F)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d(G)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>
                          <a:latin typeface="HAW Frutiger Next Regular" panose="02000503050000020004" pitchFamily="2" charset="0"/>
                        </a:rPr>
                        <a:t>∞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>
                          <a:solidFill>
                            <a:srgbClr val="FF0000"/>
                          </a:solidFill>
                          <a:latin typeface="HAW Frutiger Next Regular" panose="02000503050000020004" pitchFamily="2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dirty="0">
                          <a:solidFill>
                            <a:srgbClr val="FF0000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>
                          <a:latin typeface="HAW Frutiger Next Regular" panose="02000503050000020004" pitchFamily="2" charset="0"/>
                        </a:rPr>
                        <a:t>∞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Textfeld 13"/>
          <p:cNvSpPr txBox="1"/>
          <p:nvPr/>
        </p:nvSpPr>
        <p:spPr>
          <a:xfrm>
            <a:off x="735479" y="2991302"/>
            <a:ext cx="5983976" cy="2123656"/>
          </a:xfrm>
          <a:prstGeom prst="rect">
            <a:avLst/>
          </a:prstGeom>
          <a:noFill/>
        </p:spPr>
        <p:txBody>
          <a:bodyPr wrap="square" lIns="91436" tIns="45719" rIns="91436" bIns="45719" rtlCol="0">
            <a:spAutoFit/>
          </a:bodyPr>
          <a:lstStyle/>
          <a:p>
            <a:r>
              <a:rPr lang="de-DE" sz="2400" dirty="0">
                <a:latin typeface="HAW Frutiger Next Regular" panose="02000503050000020004" pitchFamily="2" charset="0"/>
              </a:rPr>
              <a:t>F: </a:t>
            </a:r>
            <a:r>
              <a:rPr lang="de-DE" dirty="0">
                <a:latin typeface="HAW Frutiger Next Regular" panose="02000503050000020004" pitchFamily="2" charset="0"/>
              </a:rPr>
              <a:t>Nachbarn C, D, E und G, M(F,C)=3, M(F,D)=2, M(F,E)=1 und M(F,G)=6 , aktueller Werte von d(F) =3</a:t>
            </a:r>
          </a:p>
          <a:p>
            <a:r>
              <a:rPr lang="de-DE" dirty="0">
                <a:latin typeface="HAW Frutiger Next Regular" panose="02000503050000020004" pitchFamily="2" charset="0"/>
              </a:rPr>
              <a:t>	</a:t>
            </a:r>
            <a:r>
              <a:rPr lang="de-DE" b="1" dirty="0">
                <a:latin typeface="HAW Frutiger Next Regular" panose="02000503050000020004" pitchFamily="2" charset="0"/>
              </a:rPr>
              <a:t>d(C) = d(F) + M(F,C) = 3 + 3 = 6</a:t>
            </a:r>
          </a:p>
          <a:p>
            <a:r>
              <a:rPr lang="de-DE" b="1" dirty="0">
                <a:latin typeface="HAW Frutiger Next Regular" panose="02000503050000020004" pitchFamily="2" charset="0"/>
              </a:rPr>
              <a:t>	d(D) = d(F) + M(F,D) = 3 + 2 = 5</a:t>
            </a:r>
          </a:p>
          <a:p>
            <a:r>
              <a:rPr lang="de-DE" b="1" dirty="0">
                <a:latin typeface="HAW Frutiger Next Regular" panose="02000503050000020004" pitchFamily="2" charset="0"/>
              </a:rPr>
              <a:t>	d(E) = d(F) + M(F,E) = 3 + 1 = 4</a:t>
            </a:r>
          </a:p>
          <a:p>
            <a:r>
              <a:rPr lang="de-DE" b="1" dirty="0">
                <a:latin typeface="HAW Frutiger Next Regular" panose="02000503050000020004" pitchFamily="2" charset="0"/>
              </a:rPr>
              <a:t>	d(G) = d(F) + M(F,G) = 3 + 6 = 9</a:t>
            </a:r>
          </a:p>
          <a:p>
            <a:endParaRPr lang="de-DE" b="1" dirty="0">
              <a:latin typeface="HAW Frutiger Next Regular" panose="02000503050000020004" pitchFamily="2" charset="0"/>
            </a:endParaRPr>
          </a:p>
        </p:txBody>
      </p:sp>
      <p:sp>
        <p:nvSpPr>
          <p:cNvPr id="15" name="Textfeld 14"/>
          <p:cNvSpPr txBox="1"/>
          <p:nvPr/>
        </p:nvSpPr>
        <p:spPr>
          <a:xfrm>
            <a:off x="5888181" y="2098620"/>
            <a:ext cx="6068291" cy="830995"/>
          </a:xfrm>
          <a:prstGeom prst="rect">
            <a:avLst/>
          </a:prstGeom>
          <a:noFill/>
        </p:spPr>
        <p:txBody>
          <a:bodyPr wrap="square" lIns="91436" tIns="45719" rIns="91436" bIns="45719" rtlCol="0">
            <a:spAutoFit/>
          </a:bodyPr>
          <a:lstStyle/>
          <a:p>
            <a:r>
              <a:rPr lang="de-DE" sz="1200" dirty="0"/>
              <a:t>d(A) und d(C) verbessern sich nicht und können gestrichen  werden, für d(D) und d(F) ergeben sich bessere Werte, die die bisherigen Werte überschreiben</a:t>
            </a:r>
          </a:p>
          <a:p>
            <a:r>
              <a:rPr lang="de-DE" sz="1200" dirty="0"/>
              <a:t>Wichtig: Hier ergibt sich ein besserer Wert für d(D) als derjenige, der im vorherigen Schritt verwendet wurde, es ist daher später eine erneute Berechnung von Schritt D erforderlich</a:t>
            </a:r>
          </a:p>
        </p:txBody>
      </p:sp>
      <p:sp>
        <p:nvSpPr>
          <p:cNvPr id="16" name="Rechteck 15"/>
          <p:cNvSpPr/>
          <p:nvPr/>
        </p:nvSpPr>
        <p:spPr>
          <a:xfrm>
            <a:off x="4699849" y="3597601"/>
            <a:ext cx="404948" cy="415496"/>
          </a:xfrm>
          <a:prstGeom prst="rect">
            <a:avLst/>
          </a:prstGeom>
          <a:noFill/>
        </p:spPr>
        <p:txBody>
          <a:bodyPr wrap="square" lIns="91436" tIns="45719" rIns="91436" bIns="45719">
            <a:spAutoFit/>
          </a:bodyPr>
          <a:lstStyle/>
          <a:p>
            <a:pPr algn="ctr"/>
            <a:r>
              <a:rPr lang="de-DE" sz="21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/</a:t>
            </a:r>
          </a:p>
        </p:txBody>
      </p:sp>
      <p:sp>
        <p:nvSpPr>
          <p:cNvPr id="17" name="Rechteck 16"/>
          <p:cNvSpPr/>
          <p:nvPr/>
        </p:nvSpPr>
        <p:spPr>
          <a:xfrm>
            <a:off x="4720043" y="3878041"/>
            <a:ext cx="404948" cy="415496"/>
          </a:xfrm>
          <a:prstGeom prst="rect">
            <a:avLst/>
          </a:prstGeom>
          <a:noFill/>
        </p:spPr>
        <p:txBody>
          <a:bodyPr wrap="square" lIns="91436" tIns="45719" rIns="91436" bIns="45719">
            <a:spAutoFit/>
          </a:bodyPr>
          <a:lstStyle/>
          <a:p>
            <a:pPr algn="ctr"/>
            <a:r>
              <a:rPr lang="de-DE" sz="21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/</a:t>
            </a:r>
          </a:p>
        </p:txBody>
      </p:sp>
      <p:sp>
        <p:nvSpPr>
          <p:cNvPr id="18" name="Rechteck 17"/>
          <p:cNvSpPr/>
          <p:nvPr/>
        </p:nvSpPr>
        <p:spPr>
          <a:xfrm>
            <a:off x="4664629" y="4178422"/>
            <a:ext cx="404948" cy="415496"/>
          </a:xfrm>
          <a:prstGeom prst="rect">
            <a:avLst/>
          </a:prstGeom>
          <a:noFill/>
        </p:spPr>
        <p:txBody>
          <a:bodyPr wrap="square" lIns="91436" tIns="45719" rIns="91436" bIns="45719">
            <a:spAutoFit/>
          </a:bodyPr>
          <a:lstStyle/>
          <a:p>
            <a:pPr algn="ctr"/>
            <a:r>
              <a:rPr lang="de-DE" sz="21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/</a:t>
            </a:r>
          </a:p>
        </p:txBody>
      </p:sp>
      <p:sp>
        <p:nvSpPr>
          <p:cNvPr id="19" name="Rechteck 18"/>
          <p:cNvSpPr/>
          <p:nvPr/>
        </p:nvSpPr>
        <p:spPr>
          <a:xfrm>
            <a:off x="4726366" y="4375216"/>
            <a:ext cx="447679" cy="523218"/>
          </a:xfrm>
          <a:prstGeom prst="rect">
            <a:avLst/>
          </a:prstGeom>
          <a:noFill/>
        </p:spPr>
        <p:txBody>
          <a:bodyPr wrap="square" lIns="91436" tIns="45719" rIns="91436" bIns="45719">
            <a:spAutoFit/>
          </a:bodyPr>
          <a:lstStyle/>
          <a:p>
            <a:pPr algn="ctr"/>
            <a:r>
              <a:rPr lang="de-DE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9</a:t>
            </a:r>
          </a:p>
        </p:txBody>
      </p:sp>
      <p:graphicFrame>
        <p:nvGraphicFramePr>
          <p:cNvPr id="20" name="Tabelle 19"/>
          <p:cNvGraphicFramePr>
            <a:graphicFrameLocks noGrp="1"/>
          </p:cNvGraphicFramePr>
          <p:nvPr/>
        </p:nvGraphicFramePr>
        <p:xfrm>
          <a:off x="6983679" y="3631951"/>
          <a:ext cx="4347028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1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d(A)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d(B)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d(C)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d(F)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d(G)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>
                          <a:latin typeface="HAW Frutiger Next Regular" panose="02000503050000020004" pitchFamily="2" charset="0"/>
                        </a:rPr>
                        <a:t>∞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>
                          <a:solidFill>
                            <a:schemeClr val="tx1"/>
                          </a:solidFill>
                          <a:latin typeface="HAW Frutiger Next Regular" panose="02000503050000020004" pitchFamily="2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>
                          <a:solidFill>
                            <a:schemeClr val="accent2"/>
                          </a:solidFill>
                          <a:latin typeface="HAW Frutiger Next Regular" panose="02000503050000020004" pitchFamily="2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Textfeld 20"/>
          <p:cNvSpPr txBox="1"/>
          <p:nvPr/>
        </p:nvSpPr>
        <p:spPr>
          <a:xfrm>
            <a:off x="6040583" y="4378477"/>
            <a:ext cx="5334000" cy="461663"/>
          </a:xfrm>
          <a:prstGeom prst="rect">
            <a:avLst/>
          </a:prstGeom>
          <a:noFill/>
        </p:spPr>
        <p:txBody>
          <a:bodyPr wrap="square" lIns="91436" tIns="45719" rIns="91436" bIns="45719" rtlCol="0">
            <a:spAutoFit/>
          </a:bodyPr>
          <a:lstStyle/>
          <a:p>
            <a:r>
              <a:rPr lang="de-DE" sz="1200" dirty="0"/>
              <a:t>d(C), d(D) und d(E) verbessern sich nicht und können gestrichen  werden, für d(G)  ergibt sich ein besserer Wert, der den bisherigen Wert überschreibt</a:t>
            </a:r>
          </a:p>
        </p:txBody>
      </p:sp>
      <p:sp>
        <p:nvSpPr>
          <p:cNvPr id="22" name="Textfeld 21"/>
          <p:cNvSpPr txBox="1"/>
          <p:nvPr/>
        </p:nvSpPr>
        <p:spPr>
          <a:xfrm>
            <a:off x="666207" y="5002752"/>
            <a:ext cx="5983976" cy="1846657"/>
          </a:xfrm>
          <a:prstGeom prst="rect">
            <a:avLst/>
          </a:prstGeom>
          <a:noFill/>
        </p:spPr>
        <p:txBody>
          <a:bodyPr wrap="square" lIns="91436" tIns="45719" rIns="91436" bIns="45719" rtlCol="0">
            <a:spAutoFit/>
          </a:bodyPr>
          <a:lstStyle/>
          <a:p>
            <a:r>
              <a:rPr lang="de-DE" sz="2400" dirty="0">
                <a:latin typeface="HAW Frutiger Next Regular" panose="02000503050000020004" pitchFamily="2" charset="0"/>
              </a:rPr>
              <a:t>G: </a:t>
            </a:r>
            <a:r>
              <a:rPr lang="de-DE" dirty="0">
                <a:latin typeface="HAW Frutiger Next Regular" panose="02000503050000020004" pitchFamily="2" charset="0"/>
              </a:rPr>
              <a:t>Nachbarn B, D und F, M(G,B)=1, M(G,D)=4, M(G,F)=6 aktueller Werte von d(G) =9</a:t>
            </a:r>
          </a:p>
          <a:p>
            <a:r>
              <a:rPr lang="de-DE" dirty="0">
                <a:latin typeface="HAW Frutiger Next Regular" panose="02000503050000020004" pitchFamily="2" charset="0"/>
              </a:rPr>
              <a:t>	</a:t>
            </a:r>
            <a:r>
              <a:rPr lang="de-DE" b="1" dirty="0">
                <a:latin typeface="HAW Frutiger Next Regular" panose="02000503050000020004" pitchFamily="2" charset="0"/>
              </a:rPr>
              <a:t>d(B) = d(G) + M(G,B) = 9 + 1 = 10</a:t>
            </a:r>
          </a:p>
          <a:p>
            <a:r>
              <a:rPr lang="de-DE" b="1" dirty="0">
                <a:latin typeface="HAW Frutiger Next Regular" panose="02000503050000020004" pitchFamily="2" charset="0"/>
              </a:rPr>
              <a:t>	d(D) = d(G) + M(G,D) = 9 + 4 = 13</a:t>
            </a:r>
          </a:p>
          <a:p>
            <a:r>
              <a:rPr lang="de-DE" b="1" dirty="0">
                <a:latin typeface="HAW Frutiger Next Regular" panose="02000503050000020004" pitchFamily="2" charset="0"/>
              </a:rPr>
              <a:t>	d(F) = d(G) + M(G,F) = 9 + 6 = 15</a:t>
            </a:r>
          </a:p>
          <a:p>
            <a:endParaRPr lang="de-DE" b="1" dirty="0">
              <a:latin typeface="HAW Frutiger Next Regular" panose="02000503050000020004" pitchFamily="2" charset="0"/>
            </a:endParaRPr>
          </a:p>
        </p:txBody>
      </p:sp>
      <p:sp>
        <p:nvSpPr>
          <p:cNvPr id="23" name="Rechteck 22"/>
          <p:cNvSpPr/>
          <p:nvPr/>
        </p:nvSpPr>
        <p:spPr>
          <a:xfrm>
            <a:off x="4769097" y="6151372"/>
            <a:ext cx="404948" cy="415496"/>
          </a:xfrm>
          <a:prstGeom prst="rect">
            <a:avLst/>
          </a:prstGeom>
          <a:noFill/>
        </p:spPr>
        <p:txBody>
          <a:bodyPr wrap="square" lIns="91436" tIns="45719" rIns="91436" bIns="45719">
            <a:spAutoFit/>
          </a:bodyPr>
          <a:lstStyle/>
          <a:p>
            <a:pPr algn="ctr"/>
            <a:r>
              <a:rPr lang="de-DE" sz="21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/</a:t>
            </a:r>
          </a:p>
        </p:txBody>
      </p:sp>
      <p:sp>
        <p:nvSpPr>
          <p:cNvPr id="24" name="Rechteck 23"/>
          <p:cNvSpPr/>
          <p:nvPr/>
        </p:nvSpPr>
        <p:spPr>
          <a:xfrm>
            <a:off x="4824539" y="5869816"/>
            <a:ext cx="404948" cy="415496"/>
          </a:xfrm>
          <a:prstGeom prst="rect">
            <a:avLst/>
          </a:prstGeom>
          <a:noFill/>
        </p:spPr>
        <p:txBody>
          <a:bodyPr wrap="square" lIns="91436" tIns="45719" rIns="91436" bIns="45719">
            <a:spAutoFit/>
          </a:bodyPr>
          <a:lstStyle/>
          <a:p>
            <a:pPr algn="ctr"/>
            <a:r>
              <a:rPr lang="de-DE" sz="21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/</a:t>
            </a:r>
          </a:p>
        </p:txBody>
      </p:sp>
      <p:sp>
        <p:nvSpPr>
          <p:cNvPr id="25" name="Rechteck 24"/>
          <p:cNvSpPr/>
          <p:nvPr/>
        </p:nvSpPr>
        <p:spPr>
          <a:xfrm>
            <a:off x="4706173" y="5608207"/>
            <a:ext cx="586223" cy="523218"/>
          </a:xfrm>
          <a:prstGeom prst="rect">
            <a:avLst/>
          </a:prstGeom>
          <a:noFill/>
        </p:spPr>
        <p:txBody>
          <a:bodyPr wrap="square" lIns="91436" tIns="45719" rIns="91436" bIns="45719">
            <a:spAutoFit/>
          </a:bodyPr>
          <a:lstStyle/>
          <a:p>
            <a:pPr algn="ctr"/>
            <a:r>
              <a:rPr lang="de-DE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10</a:t>
            </a:r>
          </a:p>
        </p:txBody>
      </p:sp>
      <p:graphicFrame>
        <p:nvGraphicFramePr>
          <p:cNvPr id="26" name="Tabelle 25"/>
          <p:cNvGraphicFramePr>
            <a:graphicFrameLocks noGrp="1"/>
          </p:cNvGraphicFramePr>
          <p:nvPr/>
        </p:nvGraphicFramePr>
        <p:xfrm>
          <a:off x="7027555" y="5134565"/>
          <a:ext cx="4347028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1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d(A)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d(B)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d(C)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d(F)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d(G)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>
                          <a:latin typeface="HAW Frutiger Next Regular" panose="02000503050000020004" pitchFamily="2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>
                          <a:solidFill>
                            <a:schemeClr val="tx1"/>
                          </a:solidFill>
                          <a:latin typeface="HAW Frutiger Next Regular" panose="02000503050000020004" pitchFamily="2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>
                          <a:solidFill>
                            <a:schemeClr val="tx1"/>
                          </a:solidFill>
                          <a:latin typeface="HAW Frutiger Next Regular" panose="02000503050000020004" pitchFamily="2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8" name="Textfeld 27"/>
          <p:cNvSpPr txBox="1"/>
          <p:nvPr/>
        </p:nvSpPr>
        <p:spPr>
          <a:xfrm>
            <a:off x="6040583" y="6039094"/>
            <a:ext cx="5334000" cy="646329"/>
          </a:xfrm>
          <a:prstGeom prst="rect">
            <a:avLst/>
          </a:prstGeom>
          <a:noFill/>
        </p:spPr>
        <p:txBody>
          <a:bodyPr wrap="square" lIns="91436" tIns="45719" rIns="91436" bIns="45719" rtlCol="0">
            <a:spAutoFit/>
          </a:bodyPr>
          <a:lstStyle/>
          <a:p>
            <a:r>
              <a:rPr lang="de-DE" sz="1200" dirty="0"/>
              <a:t>Endergebnis von Runde 1, aber: in Schritt B wurde mit d(B)=</a:t>
            </a:r>
            <a:r>
              <a:rPr lang="de-DE" sz="1200" b="1" dirty="0">
                <a:latin typeface="HAW Frutiger Next Regular" panose="02000503050000020004" pitchFamily="2" charset="0"/>
              </a:rPr>
              <a:t>∞</a:t>
            </a:r>
            <a:r>
              <a:rPr lang="de-DE" sz="1200" dirty="0"/>
              <a:t> gerechnet, hier bei Schritt G hat sich aber ein besserer Wert ergeben, sodass die Berechnung  von Schritt B erneut durchgeführt werden muss (entsprechendes gilt für d(D)  s.o. )</a:t>
            </a:r>
            <a:endParaRPr lang="de-DE" sz="1200" b="1" dirty="0">
              <a:latin typeface="HAW Frutiger Next Regular" panose="02000503050000020004" pitchFamily="2" charset="0"/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7604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45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path" presetSubtype="0" accel="50000" decel="50000" fill="hold" grpId="1" nodeType="withEffect">
                                  <p:stCondLst>
                                    <p:cond delay="2300"/>
                                  </p:stCondLst>
                                  <p:childTnLst>
                                    <p:animMotion origin="layout" path="M 3.95833E-6 -3.7037E-6 L 0.33567 -0.09421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784" y="-4722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grpId="1" nodeType="withEffect">
                                  <p:stCondLst>
                                    <p:cond delay="5500"/>
                                  </p:stCondLst>
                                  <p:childTnLst>
                                    <p:animMotion origin="layout" path="M 1.25E-6 4.81481E-6 L 0.44713 -0.13681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357" y="-68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8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8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8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42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082 0.03079 L -0.00937 0.32917 " pathEditMode="relative" rAng="0" ptsTypes="AA">
                                      <p:cBhvr>
                                        <p:cTn id="57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" y="149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45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path" presetSubtype="0" accel="50000" decel="50000" fill="hold" grpId="1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-0.00339 2.59259E-6 L 0.48464 -0.10648 " pathEditMode="relative" rAng="0" ptsTypes="AA">
                                      <p:cBhvr>
                                        <p:cTn id="72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401" y="-5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6" presetClass="entr" presetSubtype="21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1" dur="8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2.59259E-6 L -0.00117 0.21157 " pathEditMode="relative" rAng="0" ptsTypes="AA">
                                      <p:cBhvr>
                                        <p:cTn id="88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" y="10579"/>
                                    </p:animMotion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45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path" presetSubtype="0" accel="50000" decel="50000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3.95833E-6 2.96296E-6 L 0.2414 -0.03959 " pathEditMode="relative" rAng="0" ptsTypes="AA">
                                      <p:cBhvr>
                                        <p:cTn id="108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070" y="-19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6" presetClass="entr" presetSubtype="21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7" dur="8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9" grpId="1"/>
      <p:bldP spid="9" grpId="2"/>
      <p:bldP spid="10" grpId="0"/>
      <p:bldP spid="10" grpId="1"/>
      <p:bldP spid="10" grpId="2"/>
      <p:bldP spid="11" grpId="0"/>
      <p:bldP spid="12" grpId="0"/>
      <p:bldP spid="14" grpId="0"/>
      <p:bldP spid="15" grpId="0"/>
      <p:bldP spid="15" grpId="1"/>
      <p:bldP spid="16" grpId="0"/>
      <p:bldP spid="17" grpId="0"/>
      <p:bldP spid="18" grpId="0"/>
      <p:bldP spid="19" grpId="0"/>
      <p:bldP spid="19" grpId="1"/>
      <p:bldP spid="19" grpId="2"/>
      <p:bldP spid="21" grpId="0"/>
      <p:bldP spid="21" grpId="1"/>
      <p:bldP spid="22" grpId="0"/>
      <p:bldP spid="23" grpId="0"/>
      <p:bldP spid="24" grpId="0"/>
      <p:bldP spid="25" grpId="0"/>
      <p:bldP spid="25" grpId="1"/>
      <p:bldP spid="25" grpId="2"/>
      <p:bldP spid="2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666204" y="366948"/>
            <a:ext cx="6177941" cy="1015661"/>
          </a:xfrm>
          <a:prstGeom prst="rect">
            <a:avLst/>
          </a:prstGeom>
          <a:noFill/>
        </p:spPr>
        <p:txBody>
          <a:bodyPr wrap="square" lIns="91436" tIns="45719" rIns="91436" bIns="45719" rtlCol="0">
            <a:spAutoFit/>
          </a:bodyPr>
          <a:lstStyle/>
          <a:p>
            <a:r>
              <a:rPr lang="de-DE" b="1" dirty="0">
                <a:latin typeface="HAW Frutiger Next Regular" panose="02000503050000020004" pitchFamily="2" charset="0"/>
              </a:rPr>
              <a:t>Runde 2 </a:t>
            </a:r>
          </a:p>
          <a:p>
            <a:r>
              <a:rPr lang="de-DE" dirty="0">
                <a:latin typeface="HAW Frutiger Next Regular" panose="02000503050000020004" pitchFamily="2" charset="0"/>
              </a:rPr>
              <a:t>(erforderlich wegen der verbesserten Werte für d(B) und d(D) )</a:t>
            </a:r>
          </a:p>
          <a:p>
            <a:r>
              <a:rPr lang="de-DE" sz="1200" dirty="0">
                <a:latin typeface="HAW Frutiger Next Regular" panose="02000503050000020004" pitchFamily="2" charset="0"/>
              </a:rPr>
              <a:t>Der Übersichtlichkeit halber werden hier nur die relevanten Schritte gezeigt, prinzipiell muss der Algorithmus vollständig für alle Knoten gerechnet werden</a:t>
            </a:r>
          </a:p>
        </p:txBody>
      </p:sp>
      <p:sp>
        <p:nvSpPr>
          <p:cNvPr id="3" name="Textfeld 2"/>
          <p:cNvSpPr txBox="1"/>
          <p:nvPr/>
        </p:nvSpPr>
        <p:spPr>
          <a:xfrm>
            <a:off x="666206" y="1525111"/>
            <a:ext cx="5776159" cy="1015661"/>
          </a:xfrm>
          <a:prstGeom prst="rect">
            <a:avLst/>
          </a:prstGeom>
          <a:noFill/>
        </p:spPr>
        <p:txBody>
          <a:bodyPr wrap="square" lIns="91436" tIns="45719" rIns="91436" bIns="45719" rtlCol="0">
            <a:spAutoFit/>
          </a:bodyPr>
          <a:lstStyle/>
          <a:p>
            <a:r>
              <a:rPr lang="de-DE" sz="2400" dirty="0">
                <a:latin typeface="HAW Frutiger Next Regular" panose="02000503050000020004" pitchFamily="2" charset="0"/>
              </a:rPr>
              <a:t>B: </a:t>
            </a:r>
            <a:r>
              <a:rPr lang="de-DE" dirty="0">
                <a:latin typeface="HAW Frutiger Next Regular" panose="02000503050000020004" pitchFamily="2" charset="0"/>
              </a:rPr>
              <a:t>Nachbarn D und G, M(B,D)=2 und M(B,G)=1,  d(B)=10</a:t>
            </a:r>
          </a:p>
          <a:p>
            <a:r>
              <a:rPr lang="de-DE" dirty="0">
                <a:latin typeface="HAW Frutiger Next Regular" panose="02000503050000020004" pitchFamily="2" charset="0"/>
              </a:rPr>
              <a:t>	</a:t>
            </a:r>
            <a:r>
              <a:rPr lang="de-DE" b="1" dirty="0">
                <a:latin typeface="HAW Frutiger Next Regular" panose="02000503050000020004" pitchFamily="2" charset="0"/>
              </a:rPr>
              <a:t>d(D) = d(B) + M(B,D) = 10 + 2 = 12</a:t>
            </a:r>
          </a:p>
          <a:p>
            <a:r>
              <a:rPr lang="de-DE" b="1" dirty="0">
                <a:latin typeface="HAW Frutiger Next Regular" panose="02000503050000020004" pitchFamily="2" charset="0"/>
              </a:rPr>
              <a:t>	d(G) = d(B) + M(B,G) = 10 + 1 = 11</a:t>
            </a:r>
          </a:p>
        </p:txBody>
      </p:sp>
      <p:graphicFrame>
        <p:nvGraphicFramePr>
          <p:cNvPr id="4" name="Tabelle 3"/>
          <p:cNvGraphicFramePr>
            <a:graphicFrameLocks noGrp="1"/>
          </p:cNvGraphicFramePr>
          <p:nvPr/>
        </p:nvGraphicFramePr>
        <p:xfrm>
          <a:off x="7221518" y="1661373"/>
          <a:ext cx="4347028" cy="7399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1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29010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d(A)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d(B)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d(C)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d(F)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d(G)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>
                          <a:latin typeface="HAW Frutiger Next Regular" panose="02000503050000020004" pitchFamily="2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>
                          <a:solidFill>
                            <a:schemeClr val="tx1"/>
                          </a:solidFill>
                          <a:latin typeface="HAW Frutiger Next Regular" panose="02000503050000020004" pitchFamily="2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>
                          <a:solidFill>
                            <a:schemeClr val="tx1"/>
                          </a:solidFill>
                          <a:latin typeface="HAW Frutiger Next Regular" panose="02000503050000020004" pitchFamily="2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Rechteck 4"/>
          <p:cNvSpPr/>
          <p:nvPr/>
        </p:nvSpPr>
        <p:spPr>
          <a:xfrm>
            <a:off x="4900086" y="2140617"/>
            <a:ext cx="404948" cy="415496"/>
          </a:xfrm>
          <a:prstGeom prst="rect">
            <a:avLst/>
          </a:prstGeom>
          <a:noFill/>
        </p:spPr>
        <p:txBody>
          <a:bodyPr wrap="square" lIns="91436" tIns="45719" rIns="91436" bIns="45719">
            <a:spAutoFit/>
          </a:bodyPr>
          <a:lstStyle/>
          <a:p>
            <a:pPr algn="ctr"/>
            <a:r>
              <a:rPr lang="de-DE" sz="21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/</a:t>
            </a:r>
          </a:p>
        </p:txBody>
      </p:sp>
      <p:sp>
        <p:nvSpPr>
          <p:cNvPr id="6" name="Rechteck 5"/>
          <p:cNvSpPr/>
          <p:nvPr/>
        </p:nvSpPr>
        <p:spPr>
          <a:xfrm>
            <a:off x="4900086" y="1832885"/>
            <a:ext cx="404948" cy="415496"/>
          </a:xfrm>
          <a:prstGeom prst="rect">
            <a:avLst/>
          </a:prstGeom>
          <a:noFill/>
        </p:spPr>
        <p:txBody>
          <a:bodyPr wrap="square" lIns="91436" tIns="45719" rIns="91436" bIns="45719">
            <a:spAutoFit/>
          </a:bodyPr>
          <a:lstStyle/>
          <a:p>
            <a:pPr algn="ctr"/>
            <a:r>
              <a:rPr lang="de-DE" sz="21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/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6220691" y="2428217"/>
            <a:ext cx="5334000" cy="276997"/>
          </a:xfrm>
          <a:prstGeom prst="rect">
            <a:avLst/>
          </a:prstGeom>
          <a:noFill/>
        </p:spPr>
        <p:txBody>
          <a:bodyPr wrap="square" lIns="91436" tIns="45719" rIns="91436" bIns="45719" rtlCol="0">
            <a:spAutoFit/>
          </a:bodyPr>
          <a:lstStyle/>
          <a:p>
            <a:r>
              <a:rPr lang="de-DE" sz="1200" dirty="0"/>
              <a:t>Keine Verbesserung von d(D) und d(G)</a:t>
            </a:r>
          </a:p>
        </p:txBody>
      </p:sp>
      <p:sp>
        <p:nvSpPr>
          <p:cNvPr id="8" name="Textfeld 7"/>
          <p:cNvSpPr txBox="1"/>
          <p:nvPr/>
        </p:nvSpPr>
        <p:spPr>
          <a:xfrm>
            <a:off x="555370" y="2686671"/>
            <a:ext cx="5388231" cy="2123656"/>
          </a:xfrm>
          <a:prstGeom prst="rect">
            <a:avLst/>
          </a:prstGeom>
          <a:noFill/>
        </p:spPr>
        <p:txBody>
          <a:bodyPr wrap="square" lIns="91436" tIns="45719" rIns="91436" bIns="45719" rtlCol="0">
            <a:spAutoFit/>
          </a:bodyPr>
          <a:lstStyle/>
          <a:p>
            <a:r>
              <a:rPr lang="de-DE" sz="2400" dirty="0">
                <a:latin typeface="HAW Frutiger Next Regular" panose="02000503050000020004" pitchFamily="2" charset="0"/>
              </a:rPr>
              <a:t>D: </a:t>
            </a:r>
            <a:r>
              <a:rPr lang="de-DE" dirty="0">
                <a:latin typeface="HAW Frutiger Next Regular" panose="02000503050000020004" pitchFamily="2" charset="0"/>
              </a:rPr>
              <a:t>Nachbarn B, E, F und G, M(D,B)=2 usw.      d(D)=4</a:t>
            </a:r>
          </a:p>
          <a:p>
            <a:r>
              <a:rPr lang="de-DE" dirty="0">
                <a:latin typeface="HAW Frutiger Next Regular" panose="02000503050000020004" pitchFamily="2" charset="0"/>
              </a:rPr>
              <a:t>	</a:t>
            </a:r>
            <a:r>
              <a:rPr lang="de-DE" b="1" dirty="0">
                <a:latin typeface="HAW Frutiger Next Regular" panose="02000503050000020004" pitchFamily="2" charset="0"/>
              </a:rPr>
              <a:t>d(B) = d(D) + M(D,B) = 4 + 2 = 6</a:t>
            </a:r>
          </a:p>
          <a:p>
            <a:r>
              <a:rPr lang="de-DE" dirty="0">
                <a:latin typeface="HAW Frutiger Next Regular" panose="02000503050000020004" pitchFamily="2" charset="0"/>
              </a:rPr>
              <a:t>	</a:t>
            </a:r>
            <a:r>
              <a:rPr lang="de-DE" b="1" dirty="0">
                <a:latin typeface="HAW Frutiger Next Regular" panose="02000503050000020004" pitchFamily="2" charset="0"/>
              </a:rPr>
              <a:t>d(E) = d(D) + M(D,E) = 4 + 2 = 6</a:t>
            </a:r>
          </a:p>
          <a:p>
            <a:r>
              <a:rPr lang="de-DE" dirty="0">
                <a:latin typeface="HAW Frutiger Next Regular" panose="02000503050000020004" pitchFamily="2" charset="0"/>
              </a:rPr>
              <a:t>	</a:t>
            </a:r>
            <a:r>
              <a:rPr lang="de-DE" b="1" dirty="0">
                <a:latin typeface="HAW Frutiger Next Regular" panose="02000503050000020004" pitchFamily="2" charset="0"/>
              </a:rPr>
              <a:t>d(F) = d(D) + M(D,F) = 4 + 2 = 6</a:t>
            </a:r>
          </a:p>
          <a:p>
            <a:r>
              <a:rPr lang="de-DE" dirty="0">
                <a:latin typeface="HAW Frutiger Next Regular" panose="02000503050000020004" pitchFamily="2" charset="0"/>
              </a:rPr>
              <a:t>	</a:t>
            </a:r>
            <a:r>
              <a:rPr lang="de-DE" b="1" dirty="0">
                <a:latin typeface="HAW Frutiger Next Regular" panose="02000503050000020004" pitchFamily="2" charset="0"/>
              </a:rPr>
              <a:t>d(G) = d(D) + M(D,G) = 4 + 4 = 8</a:t>
            </a:r>
          </a:p>
          <a:p>
            <a:endParaRPr lang="de-DE" b="1" dirty="0">
              <a:latin typeface="HAW Frutiger Next Regular" panose="02000503050000020004" pitchFamily="2" charset="0"/>
            </a:endParaRPr>
          </a:p>
          <a:p>
            <a:endParaRPr lang="de-DE" b="1" dirty="0">
              <a:latin typeface="HAW Frutiger Next Regular" panose="02000503050000020004" pitchFamily="2" charset="0"/>
            </a:endParaRPr>
          </a:p>
        </p:txBody>
      </p:sp>
      <p:sp>
        <p:nvSpPr>
          <p:cNvPr id="9" name="Rechteck 8"/>
          <p:cNvSpPr/>
          <p:nvPr/>
        </p:nvSpPr>
        <p:spPr>
          <a:xfrm>
            <a:off x="4604715" y="3576154"/>
            <a:ext cx="404948" cy="415496"/>
          </a:xfrm>
          <a:prstGeom prst="rect">
            <a:avLst/>
          </a:prstGeom>
          <a:noFill/>
        </p:spPr>
        <p:txBody>
          <a:bodyPr wrap="square" lIns="91436" tIns="45719" rIns="91436" bIns="45719">
            <a:spAutoFit/>
          </a:bodyPr>
          <a:lstStyle/>
          <a:p>
            <a:pPr algn="ctr"/>
            <a:r>
              <a:rPr lang="de-DE" sz="21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/</a:t>
            </a:r>
          </a:p>
        </p:txBody>
      </p:sp>
      <p:sp>
        <p:nvSpPr>
          <p:cNvPr id="10" name="Rechteck 9"/>
          <p:cNvSpPr/>
          <p:nvPr/>
        </p:nvSpPr>
        <p:spPr>
          <a:xfrm>
            <a:off x="4604715" y="3292969"/>
            <a:ext cx="404948" cy="415496"/>
          </a:xfrm>
          <a:prstGeom prst="rect">
            <a:avLst/>
          </a:prstGeom>
          <a:noFill/>
        </p:spPr>
        <p:txBody>
          <a:bodyPr wrap="square" lIns="91436" tIns="45719" rIns="91436" bIns="45719">
            <a:spAutoFit/>
          </a:bodyPr>
          <a:lstStyle/>
          <a:p>
            <a:pPr algn="ctr"/>
            <a:r>
              <a:rPr lang="de-DE" sz="21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/</a:t>
            </a:r>
          </a:p>
        </p:txBody>
      </p:sp>
      <p:sp>
        <p:nvSpPr>
          <p:cNvPr id="11" name="Rechteck 10"/>
          <p:cNvSpPr/>
          <p:nvPr/>
        </p:nvSpPr>
        <p:spPr>
          <a:xfrm>
            <a:off x="4567239" y="2969805"/>
            <a:ext cx="586223" cy="523218"/>
          </a:xfrm>
          <a:prstGeom prst="rect">
            <a:avLst/>
          </a:prstGeom>
          <a:noFill/>
        </p:spPr>
        <p:txBody>
          <a:bodyPr wrap="square" lIns="91436" tIns="45719" rIns="91436" bIns="45719">
            <a:spAutoFit/>
          </a:bodyPr>
          <a:lstStyle/>
          <a:p>
            <a:pPr algn="ctr"/>
            <a:r>
              <a:rPr lang="de-DE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6</a:t>
            </a:r>
          </a:p>
        </p:txBody>
      </p:sp>
      <p:sp>
        <p:nvSpPr>
          <p:cNvPr id="12" name="Rechteck 11"/>
          <p:cNvSpPr/>
          <p:nvPr/>
        </p:nvSpPr>
        <p:spPr>
          <a:xfrm>
            <a:off x="4567239" y="3776210"/>
            <a:ext cx="586223" cy="523218"/>
          </a:xfrm>
          <a:prstGeom prst="rect">
            <a:avLst/>
          </a:prstGeom>
          <a:noFill/>
        </p:spPr>
        <p:txBody>
          <a:bodyPr wrap="square" lIns="91436" tIns="45719" rIns="91436" bIns="45719">
            <a:spAutoFit/>
          </a:bodyPr>
          <a:lstStyle/>
          <a:p>
            <a:pPr algn="ctr"/>
            <a:r>
              <a:rPr lang="de-DE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8</a:t>
            </a:r>
          </a:p>
        </p:txBody>
      </p:sp>
      <p:sp>
        <p:nvSpPr>
          <p:cNvPr id="13" name="Textfeld 12"/>
          <p:cNvSpPr txBox="1"/>
          <p:nvPr/>
        </p:nvSpPr>
        <p:spPr>
          <a:xfrm>
            <a:off x="6220691" y="3943803"/>
            <a:ext cx="5597236" cy="646329"/>
          </a:xfrm>
          <a:prstGeom prst="rect">
            <a:avLst/>
          </a:prstGeom>
          <a:noFill/>
        </p:spPr>
        <p:txBody>
          <a:bodyPr wrap="square" lIns="91436" tIns="45719" rIns="91436" bIns="45719" rtlCol="0">
            <a:spAutoFit/>
          </a:bodyPr>
          <a:lstStyle/>
          <a:p>
            <a:r>
              <a:rPr lang="de-DE" sz="1200" dirty="0"/>
              <a:t>Verbesserung von d(B) und d(G), die bisherigen Werte können überschrieben werden</a:t>
            </a:r>
          </a:p>
          <a:p>
            <a:r>
              <a:rPr lang="de-DE" sz="1200" dirty="0"/>
              <a:t>Es ergibt sich ein besserer Wert für d(G), sodass auch dieser Schritt erneut berechnet werden muss</a:t>
            </a:r>
          </a:p>
        </p:txBody>
      </p:sp>
      <p:graphicFrame>
        <p:nvGraphicFramePr>
          <p:cNvPr id="14" name="Tabelle 13"/>
          <p:cNvGraphicFramePr>
            <a:graphicFrameLocks noGrp="1"/>
          </p:cNvGraphicFramePr>
          <p:nvPr/>
        </p:nvGraphicFramePr>
        <p:xfrm>
          <a:off x="7207663" y="3044689"/>
          <a:ext cx="4347028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1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d(A)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d(B)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d(C)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d(F)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d(G)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>
                          <a:solidFill>
                            <a:schemeClr val="accent2"/>
                          </a:solidFill>
                          <a:latin typeface="HAW Frutiger Next Regular" panose="02000503050000020004" pitchFamily="2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>
                          <a:solidFill>
                            <a:schemeClr val="tx1"/>
                          </a:solidFill>
                          <a:latin typeface="HAW Frutiger Next Regular" panose="02000503050000020004" pitchFamily="2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>
                          <a:solidFill>
                            <a:schemeClr val="accent2"/>
                          </a:solidFill>
                          <a:latin typeface="HAW Frutiger Next Regular" panose="02000503050000020004" pitchFamily="2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Textfeld 14"/>
          <p:cNvSpPr txBox="1"/>
          <p:nvPr/>
        </p:nvSpPr>
        <p:spPr>
          <a:xfrm>
            <a:off x="555371" y="4684540"/>
            <a:ext cx="5983976" cy="1569658"/>
          </a:xfrm>
          <a:prstGeom prst="rect">
            <a:avLst/>
          </a:prstGeom>
          <a:noFill/>
        </p:spPr>
        <p:txBody>
          <a:bodyPr wrap="square" lIns="91436" tIns="45719" rIns="91436" bIns="45719" rtlCol="0">
            <a:spAutoFit/>
          </a:bodyPr>
          <a:lstStyle/>
          <a:p>
            <a:r>
              <a:rPr lang="de-DE" sz="2400" dirty="0">
                <a:latin typeface="HAW Frutiger Next Regular" panose="02000503050000020004" pitchFamily="2" charset="0"/>
              </a:rPr>
              <a:t>G: </a:t>
            </a:r>
            <a:r>
              <a:rPr lang="de-DE" dirty="0">
                <a:latin typeface="HAW Frutiger Next Regular" panose="02000503050000020004" pitchFamily="2" charset="0"/>
              </a:rPr>
              <a:t>Nachbarn B, D und F, M(G,B)=1 usw.    d(G) =8</a:t>
            </a:r>
          </a:p>
          <a:p>
            <a:r>
              <a:rPr lang="de-DE" dirty="0">
                <a:latin typeface="HAW Frutiger Next Regular" panose="02000503050000020004" pitchFamily="2" charset="0"/>
              </a:rPr>
              <a:t>	</a:t>
            </a:r>
            <a:r>
              <a:rPr lang="de-DE" b="1" dirty="0">
                <a:latin typeface="HAW Frutiger Next Regular" panose="02000503050000020004" pitchFamily="2" charset="0"/>
              </a:rPr>
              <a:t>d(B) = d(G) + M(G,B) = 8 + 1 = 9</a:t>
            </a:r>
          </a:p>
          <a:p>
            <a:r>
              <a:rPr lang="de-DE" b="1" dirty="0">
                <a:latin typeface="HAW Frutiger Next Regular" panose="02000503050000020004" pitchFamily="2" charset="0"/>
              </a:rPr>
              <a:t>	d(D) = d(G) + M(G,D) = 8 + 4 = 12</a:t>
            </a:r>
          </a:p>
          <a:p>
            <a:r>
              <a:rPr lang="de-DE" b="1" dirty="0">
                <a:latin typeface="HAW Frutiger Next Regular" panose="02000503050000020004" pitchFamily="2" charset="0"/>
              </a:rPr>
              <a:t>	d(F) = d(G) + M(G,F) = 8 + 6 = 14</a:t>
            </a:r>
          </a:p>
          <a:p>
            <a:endParaRPr lang="de-DE" b="1" dirty="0">
              <a:latin typeface="HAW Frutiger Next Regular" panose="02000503050000020004" pitchFamily="2" charset="0"/>
            </a:endParaRPr>
          </a:p>
        </p:txBody>
      </p:sp>
      <p:sp>
        <p:nvSpPr>
          <p:cNvPr id="16" name="Rechteck 15"/>
          <p:cNvSpPr/>
          <p:nvPr/>
        </p:nvSpPr>
        <p:spPr>
          <a:xfrm>
            <a:off x="4660130" y="5557414"/>
            <a:ext cx="404948" cy="415496"/>
          </a:xfrm>
          <a:prstGeom prst="rect">
            <a:avLst/>
          </a:prstGeom>
          <a:noFill/>
        </p:spPr>
        <p:txBody>
          <a:bodyPr wrap="square" lIns="91436" tIns="45719" rIns="91436" bIns="45719">
            <a:spAutoFit/>
          </a:bodyPr>
          <a:lstStyle/>
          <a:p>
            <a:pPr algn="ctr"/>
            <a:r>
              <a:rPr lang="de-DE" sz="21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/</a:t>
            </a:r>
          </a:p>
        </p:txBody>
      </p:sp>
      <p:sp>
        <p:nvSpPr>
          <p:cNvPr id="17" name="Rechteck 16"/>
          <p:cNvSpPr/>
          <p:nvPr/>
        </p:nvSpPr>
        <p:spPr>
          <a:xfrm>
            <a:off x="4715546" y="5280310"/>
            <a:ext cx="404948" cy="415496"/>
          </a:xfrm>
          <a:prstGeom prst="rect">
            <a:avLst/>
          </a:prstGeom>
          <a:noFill/>
        </p:spPr>
        <p:txBody>
          <a:bodyPr wrap="square" lIns="91436" tIns="45719" rIns="91436" bIns="45719">
            <a:spAutoFit/>
          </a:bodyPr>
          <a:lstStyle/>
          <a:p>
            <a:pPr algn="ctr"/>
            <a:r>
              <a:rPr lang="de-DE" sz="21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/</a:t>
            </a:r>
          </a:p>
        </p:txBody>
      </p:sp>
      <p:sp>
        <p:nvSpPr>
          <p:cNvPr id="18" name="Rechteck 17"/>
          <p:cNvSpPr/>
          <p:nvPr/>
        </p:nvSpPr>
        <p:spPr>
          <a:xfrm>
            <a:off x="4618555" y="4989349"/>
            <a:ext cx="404948" cy="415496"/>
          </a:xfrm>
          <a:prstGeom prst="rect">
            <a:avLst/>
          </a:prstGeom>
          <a:noFill/>
        </p:spPr>
        <p:txBody>
          <a:bodyPr wrap="square" lIns="91436" tIns="45719" rIns="91436" bIns="45719">
            <a:spAutoFit/>
          </a:bodyPr>
          <a:lstStyle/>
          <a:p>
            <a:pPr algn="ctr"/>
            <a:r>
              <a:rPr lang="de-DE" sz="21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/</a:t>
            </a:r>
          </a:p>
        </p:txBody>
      </p:sp>
      <p:graphicFrame>
        <p:nvGraphicFramePr>
          <p:cNvPr id="19" name="Tabelle 18"/>
          <p:cNvGraphicFramePr>
            <a:graphicFrameLocks noGrp="1"/>
          </p:cNvGraphicFramePr>
          <p:nvPr/>
        </p:nvGraphicFramePr>
        <p:xfrm>
          <a:off x="7193255" y="4810328"/>
          <a:ext cx="4347028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1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d(A)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d(B)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d(C)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d(F)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d(G)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>
                          <a:solidFill>
                            <a:schemeClr val="tx1"/>
                          </a:solidFill>
                          <a:latin typeface="HAW Frutiger Next Regular" panose="02000503050000020004" pitchFamily="2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>
                          <a:solidFill>
                            <a:schemeClr val="tx1"/>
                          </a:solidFill>
                          <a:latin typeface="HAW Frutiger Next Regular" panose="02000503050000020004" pitchFamily="2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>
                          <a:solidFill>
                            <a:schemeClr val="tx1"/>
                          </a:solidFill>
                          <a:latin typeface="HAW Frutiger Next Regular" panose="02000503050000020004" pitchFamily="2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Textfeld 19"/>
          <p:cNvSpPr txBox="1"/>
          <p:nvPr/>
        </p:nvSpPr>
        <p:spPr>
          <a:xfrm>
            <a:off x="6220691" y="5691635"/>
            <a:ext cx="5597236" cy="646329"/>
          </a:xfrm>
          <a:prstGeom prst="rect">
            <a:avLst/>
          </a:prstGeom>
          <a:noFill/>
        </p:spPr>
        <p:txBody>
          <a:bodyPr wrap="square" lIns="91436" tIns="45719" rIns="91436" bIns="45719" rtlCol="0">
            <a:spAutoFit/>
          </a:bodyPr>
          <a:lstStyle/>
          <a:p>
            <a:r>
              <a:rPr lang="de-DE" sz="1200" dirty="0"/>
              <a:t>Endergebnis von Runde 2, aber: In Schritt D wurde erneut ein besserer Wert von d(B) berechnet (6) als derjenige, der zuvor in Schritt B verwendet wurde (10), daher ist eine dritte Runde erforderlich</a:t>
            </a:r>
          </a:p>
        </p:txBody>
      </p:sp>
      <p:sp>
        <p:nvSpPr>
          <p:cNvPr id="22" name="Untertitel 2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7932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6" presetClass="entr" presetSubtype="2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3 0.00093 L -0.00117 0.19681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7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45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path" presetSubtype="0" accel="50000" decel="50000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-2.07862E-6 9.52821E-7 L 0.27099 0.04995 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549" y="2498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45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path" presetSubtype="0" accel="50000" decel="50000" fill="hold" grpId="1" nodeType="withEffect">
                                  <p:stCondLst>
                                    <p:cond delay="4300"/>
                                  </p:stCondLst>
                                  <p:childTnLst>
                                    <p:animMotion origin="layout" path="M 2.29167E-6 2.59259E-6 L 0.52213 -0.06181 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107" y="-31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6" presetClass="entr" presetSubtype="2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8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58768E-7 3.33333E-6 L -0.00039 0.23518 " pathEditMode="relative" rAng="0" ptsTypes="AA">
                                      <p:cBhvr>
                                        <p:cTn id="73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11759"/>
                                    </p:animMotion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8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8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6" presetClass="entr" presetSubtype="21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0" dur="8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  <p:bldP spid="7" grpId="1"/>
      <p:bldP spid="8" grpId="0"/>
      <p:bldP spid="9" grpId="0"/>
      <p:bldP spid="10" grpId="0"/>
      <p:bldP spid="11" grpId="0"/>
      <p:bldP spid="11" grpId="1"/>
      <p:bldP spid="11" grpId="2"/>
      <p:bldP spid="12" grpId="0"/>
      <p:bldP spid="12" grpId="1"/>
      <p:bldP spid="12" grpId="2"/>
      <p:bldP spid="13" grpId="0"/>
      <p:bldP spid="13" grpId="1"/>
      <p:bldP spid="15" grpId="0"/>
      <p:bldP spid="16" grpId="0"/>
      <p:bldP spid="17" grpId="0"/>
      <p:bldP spid="18" grpId="0"/>
      <p:bldP spid="2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666204" y="366949"/>
            <a:ext cx="6177941" cy="830995"/>
          </a:xfrm>
          <a:prstGeom prst="rect">
            <a:avLst/>
          </a:prstGeom>
          <a:noFill/>
        </p:spPr>
        <p:txBody>
          <a:bodyPr wrap="square" lIns="91436" tIns="45719" rIns="91436" bIns="45719" rtlCol="0">
            <a:spAutoFit/>
          </a:bodyPr>
          <a:lstStyle/>
          <a:p>
            <a:r>
              <a:rPr lang="de-DE" b="1" dirty="0">
                <a:latin typeface="HAW Frutiger Next Regular" panose="02000503050000020004" pitchFamily="2" charset="0"/>
              </a:rPr>
              <a:t>Runde 3 </a:t>
            </a:r>
          </a:p>
          <a:p>
            <a:r>
              <a:rPr lang="de-DE" dirty="0">
                <a:latin typeface="HAW Frutiger Next Regular" panose="02000503050000020004" pitchFamily="2" charset="0"/>
              </a:rPr>
              <a:t>(erforderlich wegen des verbesserten Wertes für d(B) )</a:t>
            </a:r>
          </a:p>
          <a:p>
            <a:r>
              <a:rPr lang="de-DE" sz="1200" dirty="0">
                <a:latin typeface="HAW Frutiger Next Regular" panose="02000503050000020004" pitchFamily="2" charset="0"/>
              </a:rPr>
              <a:t>Der Übersichtlichkeit halber werden auch hier nur die relevanten Schritte gezeigt</a:t>
            </a:r>
          </a:p>
        </p:txBody>
      </p:sp>
      <p:sp>
        <p:nvSpPr>
          <p:cNvPr id="3" name="Textfeld 2"/>
          <p:cNvSpPr txBox="1"/>
          <p:nvPr/>
        </p:nvSpPr>
        <p:spPr>
          <a:xfrm>
            <a:off x="666203" y="1525109"/>
            <a:ext cx="5776159" cy="1015661"/>
          </a:xfrm>
          <a:prstGeom prst="rect">
            <a:avLst/>
          </a:prstGeom>
          <a:noFill/>
        </p:spPr>
        <p:txBody>
          <a:bodyPr wrap="square" lIns="91436" tIns="45719" rIns="91436" bIns="45719" rtlCol="0">
            <a:spAutoFit/>
          </a:bodyPr>
          <a:lstStyle/>
          <a:p>
            <a:r>
              <a:rPr lang="de-DE" sz="2400" dirty="0">
                <a:latin typeface="HAW Frutiger Next Regular" panose="02000503050000020004" pitchFamily="2" charset="0"/>
              </a:rPr>
              <a:t>B: </a:t>
            </a:r>
            <a:r>
              <a:rPr lang="de-DE" dirty="0">
                <a:latin typeface="HAW Frutiger Next Regular" panose="02000503050000020004" pitchFamily="2" charset="0"/>
              </a:rPr>
              <a:t>Nachbarn D und G, M(B,D)=2 und M(B,G)=1,  d(B)=6</a:t>
            </a:r>
          </a:p>
          <a:p>
            <a:r>
              <a:rPr lang="de-DE" dirty="0">
                <a:latin typeface="HAW Frutiger Next Regular" panose="02000503050000020004" pitchFamily="2" charset="0"/>
              </a:rPr>
              <a:t>	</a:t>
            </a:r>
            <a:r>
              <a:rPr lang="de-DE" b="1" dirty="0">
                <a:latin typeface="HAW Frutiger Next Regular" panose="02000503050000020004" pitchFamily="2" charset="0"/>
              </a:rPr>
              <a:t>d(D) = d(B) + M(B,D) = 6 + 2 = 8</a:t>
            </a:r>
          </a:p>
          <a:p>
            <a:r>
              <a:rPr lang="de-DE" b="1" dirty="0">
                <a:latin typeface="HAW Frutiger Next Regular" panose="02000503050000020004" pitchFamily="2" charset="0"/>
              </a:rPr>
              <a:t>	d(G) = d(B) + M(B,G) = 6 + 1 = 7</a:t>
            </a:r>
          </a:p>
        </p:txBody>
      </p:sp>
      <p:graphicFrame>
        <p:nvGraphicFramePr>
          <p:cNvPr id="4" name="Tabelle 3"/>
          <p:cNvGraphicFramePr>
            <a:graphicFrameLocks noGrp="1"/>
          </p:cNvGraphicFramePr>
          <p:nvPr/>
        </p:nvGraphicFramePr>
        <p:xfrm>
          <a:off x="6844145" y="1667179"/>
          <a:ext cx="4347028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1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d(A)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d(B)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d(C)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d(F)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d(G)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>
                          <a:solidFill>
                            <a:schemeClr val="tx1"/>
                          </a:solidFill>
                          <a:latin typeface="HAW Frutiger Next Regular" panose="02000503050000020004" pitchFamily="2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>
                          <a:solidFill>
                            <a:schemeClr val="tx1"/>
                          </a:solidFill>
                          <a:latin typeface="HAW Frutiger Next Regular" panose="02000503050000020004" pitchFamily="2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>
                          <a:solidFill>
                            <a:schemeClr val="tx1"/>
                          </a:solidFill>
                          <a:latin typeface="HAW Frutiger Next Regular" panose="02000503050000020004" pitchFamily="2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Rechteck 4"/>
          <p:cNvSpPr/>
          <p:nvPr/>
        </p:nvSpPr>
        <p:spPr>
          <a:xfrm>
            <a:off x="4741303" y="1845763"/>
            <a:ext cx="404948" cy="415496"/>
          </a:xfrm>
          <a:prstGeom prst="rect">
            <a:avLst/>
          </a:prstGeom>
          <a:noFill/>
        </p:spPr>
        <p:txBody>
          <a:bodyPr wrap="square" lIns="91436" tIns="45719" rIns="91436" bIns="45719">
            <a:spAutoFit/>
          </a:bodyPr>
          <a:lstStyle/>
          <a:p>
            <a:pPr algn="ctr"/>
            <a:r>
              <a:rPr lang="de-DE" sz="21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/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6442361" y="2540773"/>
            <a:ext cx="5151355" cy="461663"/>
          </a:xfrm>
          <a:prstGeom prst="rect">
            <a:avLst/>
          </a:prstGeom>
          <a:noFill/>
        </p:spPr>
        <p:txBody>
          <a:bodyPr wrap="square" lIns="91436" tIns="45719" rIns="91436" bIns="45719" rtlCol="0">
            <a:spAutoFit/>
          </a:bodyPr>
          <a:lstStyle/>
          <a:p>
            <a:r>
              <a:rPr lang="de-DE" sz="1200" dirty="0"/>
              <a:t>Verbesserung von d(G), der bisherige Wert kann überschrieben werden</a:t>
            </a:r>
          </a:p>
          <a:p>
            <a:r>
              <a:rPr lang="de-DE" sz="1200" dirty="0"/>
              <a:t>Schritt G muss daher erneut berechnet werden</a:t>
            </a:r>
          </a:p>
        </p:txBody>
      </p:sp>
      <p:graphicFrame>
        <p:nvGraphicFramePr>
          <p:cNvPr id="8" name="Tabelle 7"/>
          <p:cNvGraphicFramePr>
            <a:graphicFrameLocks noGrp="1"/>
          </p:cNvGraphicFramePr>
          <p:nvPr/>
        </p:nvGraphicFramePr>
        <p:xfrm>
          <a:off x="6844145" y="1680058"/>
          <a:ext cx="4347028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1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d(A)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d(B)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d(C)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d(F)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d(G)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>
                          <a:solidFill>
                            <a:schemeClr val="tx1"/>
                          </a:solidFill>
                          <a:latin typeface="HAW Frutiger Next Regular" panose="02000503050000020004" pitchFamily="2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>
                          <a:solidFill>
                            <a:schemeClr val="tx1"/>
                          </a:solidFill>
                          <a:latin typeface="HAW Frutiger Next Regular" panose="02000503050000020004" pitchFamily="2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>
                          <a:solidFill>
                            <a:schemeClr val="accent2"/>
                          </a:solidFill>
                          <a:latin typeface="HAW Frutiger Next Regular" panose="02000503050000020004" pitchFamily="2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feld 8"/>
          <p:cNvSpPr txBox="1"/>
          <p:nvPr/>
        </p:nvSpPr>
        <p:spPr>
          <a:xfrm>
            <a:off x="666203" y="3114880"/>
            <a:ext cx="5983976" cy="1569658"/>
          </a:xfrm>
          <a:prstGeom prst="rect">
            <a:avLst/>
          </a:prstGeom>
          <a:noFill/>
        </p:spPr>
        <p:txBody>
          <a:bodyPr wrap="square" lIns="91436" tIns="45719" rIns="91436" bIns="45719" rtlCol="0">
            <a:spAutoFit/>
          </a:bodyPr>
          <a:lstStyle/>
          <a:p>
            <a:r>
              <a:rPr lang="de-DE" sz="2400" dirty="0">
                <a:latin typeface="HAW Frutiger Next Regular" panose="02000503050000020004" pitchFamily="2" charset="0"/>
              </a:rPr>
              <a:t>G: </a:t>
            </a:r>
            <a:r>
              <a:rPr lang="de-DE" dirty="0">
                <a:latin typeface="HAW Frutiger Next Regular" panose="02000503050000020004" pitchFamily="2" charset="0"/>
              </a:rPr>
              <a:t>Nachbarn B, D und F, M(G,B)=1 usw.    d(G) =7</a:t>
            </a:r>
          </a:p>
          <a:p>
            <a:r>
              <a:rPr lang="de-DE" dirty="0">
                <a:latin typeface="HAW Frutiger Next Regular" panose="02000503050000020004" pitchFamily="2" charset="0"/>
              </a:rPr>
              <a:t>	</a:t>
            </a:r>
            <a:r>
              <a:rPr lang="de-DE" b="1" dirty="0">
                <a:latin typeface="HAW Frutiger Next Regular" panose="02000503050000020004" pitchFamily="2" charset="0"/>
              </a:rPr>
              <a:t>d(B) = d(G) + M(G,B) = 7 + 1 = 8</a:t>
            </a:r>
          </a:p>
          <a:p>
            <a:r>
              <a:rPr lang="de-DE" b="1" dirty="0">
                <a:latin typeface="HAW Frutiger Next Regular" panose="02000503050000020004" pitchFamily="2" charset="0"/>
              </a:rPr>
              <a:t>	d(D) = d(G) + M(G,D) = 7 + 4 = 11</a:t>
            </a:r>
          </a:p>
          <a:p>
            <a:r>
              <a:rPr lang="de-DE" b="1" dirty="0">
                <a:latin typeface="HAW Frutiger Next Regular" panose="02000503050000020004" pitchFamily="2" charset="0"/>
              </a:rPr>
              <a:t>	d(F) = d(G) + M(G,F) = 7 + 6 = 13</a:t>
            </a:r>
          </a:p>
          <a:p>
            <a:endParaRPr lang="de-DE" b="1" dirty="0">
              <a:latin typeface="HAW Frutiger Next Regular" panose="02000503050000020004" pitchFamily="2" charset="0"/>
            </a:endParaRPr>
          </a:p>
        </p:txBody>
      </p:sp>
      <p:sp>
        <p:nvSpPr>
          <p:cNvPr id="10" name="Rechteck 9"/>
          <p:cNvSpPr/>
          <p:nvPr/>
        </p:nvSpPr>
        <p:spPr>
          <a:xfrm>
            <a:off x="4728425" y="3460962"/>
            <a:ext cx="404948" cy="415496"/>
          </a:xfrm>
          <a:prstGeom prst="rect">
            <a:avLst/>
          </a:prstGeom>
          <a:noFill/>
        </p:spPr>
        <p:txBody>
          <a:bodyPr wrap="square" lIns="91436" tIns="45719" rIns="91436" bIns="45719">
            <a:spAutoFit/>
          </a:bodyPr>
          <a:lstStyle/>
          <a:p>
            <a:pPr algn="ctr"/>
            <a:r>
              <a:rPr lang="de-DE" sz="21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/</a:t>
            </a:r>
          </a:p>
        </p:txBody>
      </p:sp>
      <p:sp>
        <p:nvSpPr>
          <p:cNvPr id="11" name="Rechteck 10"/>
          <p:cNvSpPr/>
          <p:nvPr/>
        </p:nvSpPr>
        <p:spPr>
          <a:xfrm>
            <a:off x="4860501" y="3699654"/>
            <a:ext cx="404948" cy="415496"/>
          </a:xfrm>
          <a:prstGeom prst="rect">
            <a:avLst/>
          </a:prstGeom>
          <a:noFill/>
        </p:spPr>
        <p:txBody>
          <a:bodyPr wrap="square" lIns="91436" tIns="45719" rIns="91436" bIns="45719">
            <a:spAutoFit/>
          </a:bodyPr>
          <a:lstStyle/>
          <a:p>
            <a:pPr algn="ctr"/>
            <a:r>
              <a:rPr lang="de-DE" sz="21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/</a:t>
            </a:r>
          </a:p>
        </p:txBody>
      </p:sp>
      <p:sp>
        <p:nvSpPr>
          <p:cNvPr id="12" name="Rechteck 11"/>
          <p:cNvSpPr/>
          <p:nvPr/>
        </p:nvSpPr>
        <p:spPr>
          <a:xfrm>
            <a:off x="4783713" y="3990095"/>
            <a:ext cx="404948" cy="415496"/>
          </a:xfrm>
          <a:prstGeom prst="rect">
            <a:avLst/>
          </a:prstGeom>
          <a:noFill/>
        </p:spPr>
        <p:txBody>
          <a:bodyPr wrap="square" lIns="91436" tIns="45719" rIns="91436" bIns="45719">
            <a:spAutoFit/>
          </a:bodyPr>
          <a:lstStyle/>
          <a:p>
            <a:pPr algn="ctr"/>
            <a:r>
              <a:rPr lang="de-DE" sz="21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/</a:t>
            </a:r>
          </a:p>
        </p:txBody>
      </p:sp>
      <p:graphicFrame>
        <p:nvGraphicFramePr>
          <p:cNvPr id="13" name="Tabelle 12"/>
          <p:cNvGraphicFramePr>
            <a:graphicFrameLocks noGrp="1"/>
          </p:cNvGraphicFramePr>
          <p:nvPr/>
        </p:nvGraphicFramePr>
        <p:xfrm>
          <a:off x="6844525" y="3430715"/>
          <a:ext cx="4347028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1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10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d(A)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d(B)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d(C)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d(F)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d(G)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>
                          <a:solidFill>
                            <a:schemeClr val="tx1"/>
                          </a:solidFill>
                          <a:latin typeface="HAW Frutiger Next Regular" panose="02000503050000020004" pitchFamily="2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>
                          <a:solidFill>
                            <a:schemeClr val="tx1"/>
                          </a:solidFill>
                          <a:latin typeface="HAW Frutiger Next Regular" panose="02000503050000020004" pitchFamily="2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>
                          <a:solidFill>
                            <a:schemeClr val="tx1"/>
                          </a:solidFill>
                          <a:latin typeface="HAW Frutiger Next Regular" panose="02000503050000020004" pitchFamily="2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Textfeld 13"/>
          <p:cNvSpPr txBox="1"/>
          <p:nvPr/>
        </p:nvSpPr>
        <p:spPr>
          <a:xfrm>
            <a:off x="6118241" y="4453706"/>
            <a:ext cx="5151355" cy="646329"/>
          </a:xfrm>
          <a:prstGeom prst="rect">
            <a:avLst/>
          </a:prstGeom>
          <a:noFill/>
        </p:spPr>
        <p:txBody>
          <a:bodyPr wrap="square" lIns="91436" tIns="45719" rIns="91436" bIns="45719" rtlCol="0">
            <a:spAutoFit/>
          </a:bodyPr>
          <a:lstStyle/>
          <a:p>
            <a:r>
              <a:rPr lang="de-DE" dirty="0"/>
              <a:t>Es gibt keine weiteren Verbesserungen, daher ist der Algorithmus nun beendet</a:t>
            </a:r>
          </a:p>
        </p:txBody>
      </p:sp>
      <p:sp>
        <p:nvSpPr>
          <p:cNvPr id="6" name="Rechteck 5"/>
          <p:cNvSpPr/>
          <p:nvPr/>
        </p:nvSpPr>
        <p:spPr>
          <a:xfrm>
            <a:off x="4650666" y="2094025"/>
            <a:ext cx="586223" cy="523218"/>
          </a:xfrm>
          <a:prstGeom prst="rect">
            <a:avLst/>
          </a:prstGeom>
          <a:noFill/>
        </p:spPr>
        <p:txBody>
          <a:bodyPr wrap="square" lIns="91436" tIns="45719" rIns="91436" bIns="45719">
            <a:spAutoFit/>
          </a:bodyPr>
          <a:lstStyle/>
          <a:p>
            <a:pPr algn="ctr"/>
            <a:r>
              <a:rPr lang="de-DE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7</a:t>
            </a:r>
          </a:p>
        </p:txBody>
      </p:sp>
      <p:sp>
        <p:nvSpPr>
          <p:cNvPr id="16" name="Untertitel 1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9406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6" presetClass="entr" presetSubtype="21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45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grpId="1" nodeType="withEffect">
                                  <p:stCondLst>
                                    <p:cond delay="1900"/>
                                  </p:stCondLst>
                                  <p:childTnLst>
                                    <p:animMotion origin="layout" path="M -4.25615E-7 -7.40056E-7 L 0.48731 -0.02058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365" y="-10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464E-6 -2.34043E-6 L -4.5464E-6 0.25555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766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6" presetClass="entr" presetSubtype="2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8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1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/>
      <p:bldP spid="7" grpId="1"/>
      <p:bldP spid="9" grpId="0"/>
      <p:bldP spid="10" grpId="0"/>
      <p:bldP spid="11" grpId="0"/>
      <p:bldP spid="12" grpId="0"/>
      <p:bldP spid="14" grpId="0"/>
      <p:bldP spid="6" grpId="0"/>
      <p:bldP spid="6" grpId="1"/>
      <p:bldP spid="6" grpId="2"/>
    </p:bld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4397</Words>
  <Application>Microsoft Office PowerPoint</Application>
  <PresentationFormat>Breitbild</PresentationFormat>
  <Paragraphs>590</Paragraphs>
  <Slides>27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27</vt:i4>
      </vt:variant>
    </vt:vector>
  </HeadingPairs>
  <TitlesOfParts>
    <vt:vector size="35" baseType="lpstr">
      <vt:lpstr>Arial</vt:lpstr>
      <vt:lpstr>Calibri</vt:lpstr>
      <vt:lpstr>Calibri Light</vt:lpstr>
      <vt:lpstr>Courier New</vt:lpstr>
      <vt:lpstr>HAW Frutiger Next Regular</vt:lpstr>
      <vt:lpstr>Symbol</vt:lpstr>
      <vt:lpstr>ヒラギノ角ゴ Pro W3</vt:lpstr>
      <vt:lpstr>Office</vt:lpstr>
      <vt:lpstr>Informatik 2   </vt:lpstr>
      <vt:lpstr>routing</vt:lpstr>
      <vt:lpstr>routing</vt:lpstr>
      <vt:lpstr>Vermittlungsschicht</vt:lpstr>
      <vt:lpstr>Routing Information Protocol (RIP)</vt:lpstr>
      <vt:lpstr>routing</vt:lpstr>
      <vt:lpstr>Vermittlungsschicht</vt:lpstr>
      <vt:lpstr>Routing</vt:lpstr>
      <vt:lpstr>Routing</vt:lpstr>
      <vt:lpstr>Routing</vt:lpstr>
      <vt:lpstr>Routing</vt:lpstr>
      <vt:lpstr>Open Shortest Path First (OSPF)</vt:lpstr>
      <vt:lpstr>Open Shortest Path First (OSPF)</vt:lpstr>
      <vt:lpstr>Open Shortest Path First (OSPF)</vt:lpstr>
      <vt:lpstr>Open Shortest Path First (OSPF)</vt:lpstr>
      <vt:lpstr>Open Shortest Path First (OSPF)</vt:lpstr>
      <vt:lpstr>Open Shortest Path First (OSPF)</vt:lpstr>
      <vt:lpstr>Routing-algorithmen</vt:lpstr>
      <vt:lpstr>PowerPoint-Präsentation</vt:lpstr>
      <vt:lpstr>PowerPoint-Präsentation</vt:lpstr>
      <vt:lpstr>Routing-algorithmen</vt:lpstr>
      <vt:lpstr>Routing-algorithmen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Martini, Nils</dc:creator>
  <cp:lastModifiedBy>Martini, Nils</cp:lastModifiedBy>
  <cp:revision>97</cp:revision>
  <dcterms:created xsi:type="dcterms:W3CDTF">2020-07-09T08:29:18Z</dcterms:created>
  <dcterms:modified xsi:type="dcterms:W3CDTF">2025-09-17T08:43:29Z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2024-09-09T11:46:01Z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2c6cac8d-ab61-47b3-8209-4df2e46aefbc</vt:lpwstr>
  </property>
  <property fmtid="{D5CDD505-2E9C-101B-9397-08002B2CF9AE}" pid="7" name="MSIP_Label_defa4170-0d19-0005-0004-bc88714345d2_ActionId">
    <vt:lpwstr>783692c5-6a59-4887-a97c-15592ae1f3b4</vt:lpwstr>
  </property>
  <property fmtid="{D5CDD505-2E9C-101B-9397-08002B2CF9AE}" pid="8" name="MSIP_Label_defa4170-0d19-0005-0004-bc88714345d2_ContentBits">
    <vt:lpwstr>0</vt:lpwstr>
  </property>
</Properties>
</file>