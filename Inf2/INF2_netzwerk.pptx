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56" r:id="rId5"/>
    <p:sldId id="264" r:id="rId6"/>
    <p:sldId id="266" r:id="rId7"/>
    <p:sldId id="267" r:id="rId8"/>
    <p:sldId id="268" r:id="rId9"/>
    <p:sldId id="272" r:id="rId10"/>
    <p:sldId id="270" r:id="rId11"/>
    <p:sldId id="271" r:id="rId12"/>
    <p:sldId id="273" r:id="rId13"/>
    <p:sldId id="274" r:id="rId14"/>
    <p:sldId id="275" r:id="rId15"/>
    <p:sldId id="276" r:id="rId16"/>
    <p:sldId id="277" r:id="rId17"/>
    <p:sldId id="278" r:id="rId18"/>
    <p:sldId id="280" r:id="rId19"/>
    <p:sldId id="281" r:id="rId20"/>
    <p:sldId id="282" r:id="rId21"/>
    <p:sldId id="283" r:id="rId22"/>
    <p:sldId id="279" r:id="rId23"/>
    <p:sldId id="284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848C7-70D2-4472-9A3C-B2EC6DF12185}" v="9" dt="2025-07-25T11:31:31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187" autoAdjust="0"/>
  </p:normalViewPr>
  <p:slideViewPr>
    <p:cSldViewPr snapToGrid="0">
      <p:cViewPr varScale="1">
        <p:scale>
          <a:sx n="79" d="100"/>
          <a:sy n="79" d="100"/>
        </p:scale>
        <p:origin x="122" y="3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7" d="100"/>
          <a:sy n="47" d="100"/>
        </p:scale>
        <p:origin x="2670" y="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ini, Nils" userId="c34194c2-71ae-47de-8ef3-60d691fbf90d" providerId="ADAL" clId="{EDDBACAA-3AE2-48EB-98D3-C993AAFA74BB}"/>
    <pc:docChg chg="modSld">
      <pc:chgData name="Martini, Nils" userId="c34194c2-71ae-47de-8ef3-60d691fbf90d" providerId="ADAL" clId="{EDDBACAA-3AE2-48EB-98D3-C993AAFA74BB}" dt="2025-02-26T08:00:29.734" v="12" actId="20577"/>
      <pc:docMkLst>
        <pc:docMk/>
      </pc:docMkLst>
      <pc:sldChg chg="modSp mod">
        <pc:chgData name="Martini, Nils" userId="c34194c2-71ae-47de-8ef3-60d691fbf90d" providerId="ADAL" clId="{EDDBACAA-3AE2-48EB-98D3-C993AAFA74BB}" dt="2025-02-26T08:00:29.734" v="12" actId="20577"/>
        <pc:sldMkLst>
          <pc:docMk/>
          <pc:sldMk cId="925675539" sldId="256"/>
        </pc:sldMkLst>
      </pc:sldChg>
    </pc:docChg>
  </pc:docChgLst>
  <pc:docChgLst>
    <pc:chgData name="Martini, Nils" userId="c34194c2-71ae-47de-8ef3-60d691fbf90d" providerId="ADAL" clId="{632FC3D1-3A21-424D-92E6-CE13EC3749FF}"/>
    <pc:docChg chg="modSld">
      <pc:chgData name="Martini, Nils" userId="c34194c2-71ae-47de-8ef3-60d691fbf90d" providerId="ADAL" clId="{632FC3D1-3A21-424D-92E6-CE13EC3749FF}" dt="2024-09-09T11:45:21.841" v="14" actId="20577"/>
      <pc:docMkLst>
        <pc:docMk/>
      </pc:docMkLst>
      <pc:sldChg chg="modSp mod">
        <pc:chgData name="Martini, Nils" userId="c34194c2-71ae-47de-8ef3-60d691fbf90d" providerId="ADAL" clId="{632FC3D1-3A21-424D-92E6-CE13EC3749FF}" dt="2024-09-09T11:45:21.841" v="14" actId="20577"/>
        <pc:sldMkLst>
          <pc:docMk/>
          <pc:sldMk cId="925675539" sldId="256"/>
        </pc:sldMkLst>
      </pc:sldChg>
    </pc:docChg>
  </pc:docChgLst>
  <pc:docChgLst>
    <pc:chgData name="Martini, Nils" userId="c34194c2-71ae-47de-8ef3-60d691fbf90d" providerId="ADAL" clId="{183848C7-70D2-4472-9A3C-B2EC6DF12185}"/>
    <pc:docChg chg="undo custSel modSld modMainMaster">
      <pc:chgData name="Martini, Nils" userId="c34194c2-71ae-47de-8ef3-60d691fbf90d" providerId="ADAL" clId="{183848C7-70D2-4472-9A3C-B2EC6DF12185}" dt="2025-07-25T11:31:37.200" v="140" actId="20577"/>
      <pc:docMkLst>
        <pc:docMk/>
      </pc:docMkLst>
      <pc:sldChg chg="modSp mod">
        <pc:chgData name="Martini, Nils" userId="c34194c2-71ae-47de-8ef3-60d691fbf90d" providerId="ADAL" clId="{183848C7-70D2-4472-9A3C-B2EC6DF12185}" dt="2025-07-25T11:30:13.844" v="38" actId="20577"/>
        <pc:sldMkLst>
          <pc:docMk/>
          <pc:sldMk cId="925675539" sldId="256"/>
        </pc:sldMkLst>
        <pc:spChg chg="mod">
          <ac:chgData name="Martini, Nils" userId="c34194c2-71ae-47de-8ef3-60d691fbf90d" providerId="ADAL" clId="{183848C7-70D2-4472-9A3C-B2EC6DF12185}" dt="2025-07-25T11:30:02.879" v="25" actId="6549"/>
          <ac:spMkLst>
            <pc:docMk/>
            <pc:sldMk cId="925675539" sldId="256"/>
            <ac:spMk id="2" creationId="{00000000-0000-0000-0000-000000000000}"/>
          </ac:spMkLst>
        </pc:spChg>
        <pc:spChg chg="mod">
          <ac:chgData name="Martini, Nils" userId="c34194c2-71ae-47de-8ef3-60d691fbf90d" providerId="ADAL" clId="{183848C7-70D2-4472-9A3C-B2EC6DF12185}" dt="2025-07-25T11:30:13.844" v="38" actId="20577"/>
          <ac:spMkLst>
            <pc:docMk/>
            <pc:sldMk cId="925675539" sldId="256"/>
            <ac:spMk id="3" creationId="{00000000-0000-0000-0000-000000000000}"/>
          </ac:spMkLst>
        </pc:spChg>
      </pc:sldChg>
      <pc:sldChg chg="addSp delSp modSp mod">
        <pc:chgData name="Martini, Nils" userId="c34194c2-71ae-47de-8ef3-60d691fbf90d" providerId="ADAL" clId="{183848C7-70D2-4472-9A3C-B2EC6DF12185}" dt="2025-07-16T13:47:51.511" v="19" actId="122"/>
        <pc:sldMkLst>
          <pc:docMk/>
          <pc:sldMk cId="4034773067" sldId="276"/>
        </pc:sldMkLst>
        <pc:graphicFrameChg chg="add del mod modGraphic">
          <ac:chgData name="Martini, Nils" userId="c34194c2-71ae-47de-8ef3-60d691fbf90d" providerId="ADAL" clId="{183848C7-70D2-4472-9A3C-B2EC6DF12185}" dt="2025-07-16T13:47:51.511" v="19" actId="122"/>
          <ac:graphicFrameMkLst>
            <pc:docMk/>
            <pc:sldMk cId="4034773067" sldId="276"/>
            <ac:graphicFrameMk id="8" creationId="{00000000-0000-0000-0000-000000000000}"/>
          </ac:graphicFrameMkLst>
        </pc:graphicFrameChg>
      </pc:sldChg>
      <pc:sldMasterChg chg="modSldLayout">
        <pc:chgData name="Martini, Nils" userId="c34194c2-71ae-47de-8ef3-60d691fbf90d" providerId="ADAL" clId="{183848C7-70D2-4472-9A3C-B2EC6DF12185}" dt="2025-07-25T11:31:37.200" v="140" actId="20577"/>
        <pc:sldMasterMkLst>
          <pc:docMk/>
          <pc:sldMasterMk cId="3883322421" sldId="2147483648"/>
        </pc:sldMasterMkLst>
        <pc:sldLayoutChg chg="modSp mod">
          <pc:chgData name="Martini, Nils" userId="c34194c2-71ae-47de-8ef3-60d691fbf90d" providerId="ADAL" clId="{183848C7-70D2-4472-9A3C-B2EC6DF12185}" dt="2025-07-25T11:31:37.200" v="140" actId="20577"/>
          <pc:sldLayoutMkLst>
            <pc:docMk/>
            <pc:sldMasterMk cId="3883322421" sldId="2147483648"/>
            <pc:sldLayoutMk cId="2231645580" sldId="2147483650"/>
          </pc:sldLayoutMkLst>
          <pc:spChg chg="mod">
            <ac:chgData name="Martini, Nils" userId="c34194c2-71ae-47de-8ef3-60d691fbf90d" providerId="ADAL" clId="{183848C7-70D2-4472-9A3C-B2EC6DF12185}" dt="2025-07-25T11:31:37.200" v="140" actId="20577"/>
            <ac:spMkLst>
              <pc:docMk/>
              <pc:sldMasterMk cId="3883322421" sldId="2147483648"/>
              <pc:sldLayoutMk cId="2231645580" sldId="2147483650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183848C7-70D2-4472-9A3C-B2EC6DF12185}" dt="2025-07-25T11:31:31.881" v="121"/>
            <ac:spMkLst>
              <pc:docMk/>
              <pc:sldMasterMk cId="3883322421" sldId="2147483648"/>
              <pc:sldLayoutMk cId="2231645580" sldId="2147483650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183848C7-70D2-4472-9A3C-B2EC6DF12185}" dt="2025-07-25T11:31:00.990" v="100" actId="20577"/>
          <pc:sldLayoutMkLst>
            <pc:docMk/>
            <pc:sldMasterMk cId="3883322421" sldId="2147483648"/>
            <pc:sldLayoutMk cId="687458762" sldId="2147483652"/>
          </pc:sldLayoutMkLst>
          <pc:spChg chg="mod">
            <ac:chgData name="Martini, Nils" userId="c34194c2-71ae-47de-8ef3-60d691fbf90d" providerId="ADAL" clId="{183848C7-70D2-4472-9A3C-B2EC6DF12185}" dt="2025-07-25T11:31:00.990" v="100" actId="20577"/>
            <ac:spMkLst>
              <pc:docMk/>
              <pc:sldMasterMk cId="3883322421" sldId="2147483648"/>
              <pc:sldLayoutMk cId="687458762" sldId="2147483652"/>
              <ac:spMk id="9" creationId="{00000000-0000-0000-0000-000000000000}"/>
            </ac:spMkLst>
          </pc:spChg>
          <pc:spChg chg="mod">
            <ac:chgData name="Martini, Nils" userId="c34194c2-71ae-47de-8ef3-60d691fbf90d" providerId="ADAL" clId="{183848C7-70D2-4472-9A3C-B2EC6DF12185}" dt="2025-07-25T11:30:55.211" v="79"/>
            <ac:spMkLst>
              <pc:docMk/>
              <pc:sldMasterMk cId="3883322421" sldId="2147483648"/>
              <pc:sldLayoutMk cId="687458762" sldId="2147483652"/>
              <ac:spMk id="10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183848C7-70D2-4472-9A3C-B2EC6DF12185}" dt="2025-07-25T11:30:49.170" v="78" actId="20577"/>
          <pc:sldLayoutMkLst>
            <pc:docMk/>
            <pc:sldMasterMk cId="3883322421" sldId="2147483648"/>
            <pc:sldLayoutMk cId="897819904" sldId="2147483654"/>
          </pc:sldLayoutMkLst>
          <pc:spChg chg="mod">
            <ac:chgData name="Martini, Nils" userId="c34194c2-71ae-47de-8ef3-60d691fbf90d" providerId="ADAL" clId="{183848C7-70D2-4472-9A3C-B2EC6DF12185}" dt="2025-07-25T11:30:49.170" v="78" actId="20577"/>
            <ac:spMkLst>
              <pc:docMk/>
              <pc:sldMasterMk cId="3883322421" sldId="2147483648"/>
              <pc:sldLayoutMk cId="897819904" sldId="2147483654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183848C7-70D2-4472-9A3C-B2EC6DF12185}" dt="2025-07-25T11:30:42.495" v="59"/>
            <ac:spMkLst>
              <pc:docMk/>
              <pc:sldMasterMk cId="3883322421" sldId="2147483648"/>
              <pc:sldLayoutMk cId="897819904" sldId="2147483654"/>
              <ac:spMk id="9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183848C7-70D2-4472-9A3C-B2EC6DF12185}" dt="2025-07-25T11:31:20.337" v="120" actId="20577"/>
          <pc:sldLayoutMkLst>
            <pc:docMk/>
            <pc:sldMasterMk cId="3883322421" sldId="2147483648"/>
            <pc:sldLayoutMk cId="4073662840" sldId="2147483660"/>
          </pc:sldLayoutMkLst>
          <pc:spChg chg="mod">
            <ac:chgData name="Martini, Nils" userId="c34194c2-71ae-47de-8ef3-60d691fbf90d" providerId="ADAL" clId="{183848C7-70D2-4472-9A3C-B2EC6DF12185}" dt="2025-07-25T11:31:20.337" v="120" actId="20577"/>
            <ac:spMkLst>
              <pc:docMk/>
              <pc:sldMasterMk cId="3883322421" sldId="2147483648"/>
              <pc:sldLayoutMk cId="4073662840" sldId="2147483660"/>
              <ac:spMk id="10" creationId="{00000000-0000-0000-0000-000000000000}"/>
            </ac:spMkLst>
          </pc:spChg>
          <pc:spChg chg="mod">
            <ac:chgData name="Martini, Nils" userId="c34194c2-71ae-47de-8ef3-60d691fbf90d" providerId="ADAL" clId="{183848C7-70D2-4472-9A3C-B2EC6DF12185}" dt="2025-07-25T11:31:12.605" v="101"/>
            <ac:spMkLst>
              <pc:docMk/>
              <pc:sldMasterMk cId="3883322421" sldId="2147483648"/>
              <pc:sldLayoutMk cId="4073662840" sldId="2147483660"/>
              <ac:spMk id="11" creationId="{00000000-0000-0000-0000-000000000000}"/>
            </ac:spMkLst>
          </pc:spChg>
        </pc:sldLayoutChg>
        <pc:sldLayoutChg chg="modSp mod">
          <pc:chgData name="Martini, Nils" userId="c34194c2-71ae-47de-8ef3-60d691fbf90d" providerId="ADAL" clId="{183848C7-70D2-4472-9A3C-B2EC6DF12185}" dt="2025-07-25T11:30:32.450" v="58" actId="20577"/>
          <pc:sldLayoutMkLst>
            <pc:docMk/>
            <pc:sldMasterMk cId="3883322421" sldId="2147483648"/>
            <pc:sldLayoutMk cId="1060590665" sldId="2147483661"/>
          </pc:sldLayoutMkLst>
          <pc:spChg chg="mod">
            <ac:chgData name="Martini, Nils" userId="c34194c2-71ae-47de-8ef3-60d691fbf90d" providerId="ADAL" clId="{183848C7-70D2-4472-9A3C-B2EC6DF12185}" dt="2025-07-25T11:30:32.450" v="58" actId="20577"/>
            <ac:spMkLst>
              <pc:docMk/>
              <pc:sldMasterMk cId="3883322421" sldId="2147483648"/>
              <pc:sldLayoutMk cId="1060590665" sldId="2147483661"/>
              <ac:spMk id="8" creationId="{00000000-0000-0000-0000-000000000000}"/>
            </ac:spMkLst>
          </pc:spChg>
          <pc:spChg chg="mod">
            <ac:chgData name="Martini, Nils" userId="c34194c2-71ae-47de-8ef3-60d691fbf90d" providerId="ADAL" clId="{183848C7-70D2-4472-9A3C-B2EC6DF12185}" dt="2025-07-25T11:30:25.607" v="39"/>
            <ac:spMkLst>
              <pc:docMk/>
              <pc:sldMasterMk cId="3883322421" sldId="2147483648"/>
              <pc:sldLayoutMk cId="1060590665" sldId="2147483661"/>
              <ac:spMk id="9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6478FC-1069-44B7-8BAF-FB4058B52624}" type="datetimeFigureOut">
              <a:rPr lang="de-DE" smtClean="0"/>
              <a:t>25.07.2025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0D0291-3554-4C30-8D4B-12D5FB4514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894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740045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1620000"/>
            <a:ext cx="10515600" cy="4048391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2316455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515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2"/>
          <p:cNvSpPr>
            <a:spLocks noGrp="1"/>
          </p:cNvSpPr>
          <p:nvPr>
            <p:ph type="pic" idx="1"/>
          </p:nvPr>
        </p:nvSpPr>
        <p:spPr>
          <a:xfrm>
            <a:off x="6223144" y="1620000"/>
            <a:ext cx="5132243" cy="402206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0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9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1" name="Textfeld 10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3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7366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8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10" name="Textfeld 9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2" name="Inhaltsplatzhalter 2"/>
          <p:cNvSpPr>
            <a:spLocks noGrp="1"/>
          </p:cNvSpPr>
          <p:nvPr>
            <p:ph idx="1"/>
          </p:nvPr>
        </p:nvSpPr>
        <p:spPr>
          <a:xfrm>
            <a:off x="838200" y="1618181"/>
            <a:ext cx="5079715" cy="4023880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3"/>
          </p:nvPr>
        </p:nvSpPr>
        <p:spPr>
          <a:xfrm>
            <a:off x="6274085" y="1618181"/>
            <a:ext cx="5079715" cy="4023879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4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46146B35-E15B-41CF-A855-7A2002B5D955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6874587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625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7600" y="5686426"/>
            <a:ext cx="2844800" cy="365125"/>
          </a:xfrm>
        </p:spPr>
        <p:txBody>
          <a:bodyPr/>
          <a:lstStyle>
            <a:lvl1pPr>
              <a:defRPr/>
            </a:lvl1pPr>
          </a:lstStyle>
          <a:p>
            <a:fld id="{0B190BD0-AA36-4EEF-9918-435B4FDBCC9F}" type="slidenum">
              <a:rPr lang="de-DE" altLang="de-DE"/>
              <a:pPr/>
              <a:t>‹Nr.›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9781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860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479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5662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368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7993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Überschrift und Inhalt NM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38200" y="324000"/>
            <a:ext cx="10515600" cy="900000"/>
          </a:xfrm>
        </p:spPr>
        <p:txBody>
          <a:bodyPr>
            <a:normAutofit/>
          </a:bodyPr>
          <a:lstStyle>
            <a:lvl1pPr>
              <a:defRPr sz="2800" b="1" cap="all" baseline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3670067"/>
          </a:xfrm>
        </p:spPr>
        <p:txBody>
          <a:bodyPr/>
          <a:lstStyle>
            <a:lvl1pPr>
              <a:defRPr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pic>
        <p:nvPicPr>
          <p:cNvPr id="7" name="Bild 2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190" y="6062660"/>
            <a:ext cx="2042584" cy="528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Untertitel 6"/>
          <p:cNvSpPr txBox="1">
            <a:spLocks/>
          </p:cNvSpPr>
          <p:nvPr userDrawn="1"/>
        </p:nvSpPr>
        <p:spPr>
          <a:xfrm>
            <a:off x="848783" y="6238876"/>
            <a:ext cx="7776633" cy="18256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panose="020F0502020204030204" pitchFamily="34" charset="0"/>
                <a:ea typeface="ヒラギノ角ゴ Pro W3" pitchFamily="123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de-DE" altLang="de-DE" sz="1100" b="1" dirty="0">
                <a:solidFill>
                  <a:srgbClr val="02298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Fakultät Informatik</a:t>
            </a:r>
          </a:p>
        </p:txBody>
      </p:sp>
      <p:sp>
        <p:nvSpPr>
          <p:cNvPr id="9" name="Textfeld 8"/>
          <p:cNvSpPr txBox="1">
            <a:spLocks noChangeArrowheads="1"/>
          </p:cNvSpPr>
          <p:nvPr userDrawn="1"/>
        </p:nvSpPr>
        <p:spPr bwMode="auto">
          <a:xfrm>
            <a:off x="838200" y="6421438"/>
            <a:ext cx="7787216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  <a:cs typeface="ヒラギノ角ゴ Pro W3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ヒラギノ角ゴ Pro W3" charset="0"/>
              </a:defRPr>
            </a:lvl9pPr>
          </a:lstStyle>
          <a:p>
            <a:pPr eaLnBrk="1" hangingPunct="1">
              <a:defRPr/>
            </a:pPr>
            <a:r>
              <a:rPr lang="de-DE" sz="1100" dirty="0">
                <a:solidFill>
                  <a:srgbClr val="02298E"/>
                </a:solidFill>
                <a:latin typeface="Arial" charset="0"/>
                <a:cs typeface="Arial" charset="0"/>
              </a:rPr>
              <a:t>Medieninformatik</a:t>
            </a:r>
            <a:r>
              <a:rPr lang="de-DE" sz="1100" baseline="0" dirty="0">
                <a:solidFill>
                  <a:srgbClr val="02298E"/>
                </a:solidFill>
                <a:latin typeface="Arial" charset="0"/>
                <a:cs typeface="Arial" charset="0"/>
              </a:rPr>
              <a:t>  |  Informatik 2</a:t>
            </a:r>
            <a:endParaRPr lang="de-DE" sz="1100" dirty="0">
              <a:solidFill>
                <a:srgbClr val="02298E"/>
              </a:solidFill>
              <a:latin typeface="Arial" charset="0"/>
              <a:cs typeface="Arial" charset="0"/>
            </a:endParaRPr>
          </a:p>
        </p:txBody>
      </p:sp>
      <p:sp>
        <p:nvSpPr>
          <p:cNvPr id="10" name="Foliennummernplatzhalter 20"/>
          <p:cNvSpPr>
            <a:spLocks noGrp="1"/>
          </p:cNvSpPr>
          <p:nvPr>
            <p:ph type="sldNum" sz="quarter" idx="21"/>
          </p:nvPr>
        </p:nvSpPr>
        <p:spPr>
          <a:xfrm>
            <a:off x="8732463" y="5686426"/>
            <a:ext cx="2844800" cy="365125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49BA4C-56A9-4FA9-AC55-D60979330A5C}" type="slidenum">
              <a:rPr lang="de-DE" altLang="de-DE" smtClean="0"/>
              <a:pPr/>
              <a:t>‹Nr.›</a:t>
            </a:fld>
            <a:endParaRPr lang="de-DE" alt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22" hasCustomPrompt="1"/>
          </p:nvPr>
        </p:nvSpPr>
        <p:spPr>
          <a:xfrm>
            <a:off x="838200" y="1299513"/>
            <a:ext cx="10515600" cy="456136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Symbol" panose="05050102010706020507" pitchFamily="18" charset="2"/>
              <a:buChar char="-"/>
              <a:defRPr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Courier New" panose="02070309020205020404" pitchFamily="49" charset="0"/>
              <a:buChar char="o"/>
              <a:defRPr sz="1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Symbol" panose="05050102010706020507" pitchFamily="18" charset="2"/>
              <a:buChar char="-"/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05906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50F90-1184-4C76-ABD1-B95024C5AC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332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3999" y="1122363"/>
            <a:ext cx="9596637" cy="2387600"/>
          </a:xfrm>
        </p:spPr>
        <p:txBody>
          <a:bodyPr>
            <a:normAutofit/>
          </a:bodyPr>
          <a:lstStyle/>
          <a:p>
            <a:pPr algn="l"/>
            <a: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  <a:t>Informatik 2</a:t>
            </a:r>
            <a:br>
              <a:rPr lang="de-DE" sz="3200" b="1" cap="all" dirty="0">
                <a:solidFill>
                  <a:schemeClr val="accent1">
                    <a:lumMod val="50000"/>
                  </a:schemeClr>
                </a:solidFill>
              </a:rPr>
            </a:br>
            <a:br>
              <a:rPr lang="de-DE" sz="4000" b="1" cap="all" dirty="0">
                <a:solidFill>
                  <a:schemeClr val="accent1">
                    <a:lumMod val="50000"/>
                  </a:schemeClr>
                </a:solidFill>
              </a:rPr>
            </a:br>
            <a:endParaRPr lang="de-DE" sz="4000" b="1" cap="all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263368"/>
            <a:ext cx="9144000" cy="2299688"/>
          </a:xfrm>
        </p:spPr>
        <p:txBody>
          <a:bodyPr>
            <a:normAutofit/>
          </a:bodyPr>
          <a:lstStyle/>
          <a:p>
            <a:pPr algn="l"/>
            <a:r>
              <a:rPr lang="de-DE" b="1" dirty="0">
                <a:solidFill>
                  <a:schemeClr val="accent1">
                    <a:lumMod val="50000"/>
                  </a:schemeClr>
                </a:solidFill>
              </a:rPr>
              <a:t>OSI-Modell, Vermittlungsschicht</a:t>
            </a:r>
            <a:endParaRPr lang="de-DE" sz="1700" b="1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/>
            <a:endParaRPr lang="de-DE" sz="1800" dirty="0">
              <a:solidFill>
                <a:schemeClr val="accent1">
                  <a:lumMod val="50000"/>
                </a:schemeClr>
              </a:solidFill>
            </a:endParaRP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Prof. Dr. Nils Martini</a:t>
            </a:r>
            <a:b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</a:b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Hochschule für Angewandte Wissenschaften Hamburg</a:t>
            </a:r>
          </a:p>
          <a:p>
            <a:pPr algn="l">
              <a:lnSpc>
                <a:spcPct val="110000"/>
              </a:lnSpc>
              <a:spcBef>
                <a:spcPct val="0"/>
              </a:spcBef>
            </a:pPr>
            <a:r>
              <a:rPr lang="de-DE" altLang="de-DE" sz="1500" dirty="0">
                <a:solidFill>
                  <a:schemeClr val="accent1">
                    <a:lumMod val="50000"/>
                  </a:schemeClr>
                </a:solidFill>
                <a:ea typeface="ヒラギノ角ゴ Pro W3" pitchFamily="123" charset="-128"/>
              </a:rPr>
              <a:t>Wintersemester 2025/2026</a:t>
            </a:r>
          </a:p>
          <a:p>
            <a:pPr algn="l"/>
            <a:endParaRPr lang="de-DE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Bild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6000" y="5760000"/>
            <a:ext cx="2465189" cy="63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5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NETzwerke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</a:t>
            </a:fld>
            <a:endParaRPr lang="de-DE" altLang="de-DE" dirty="0"/>
          </a:p>
        </p:txBody>
      </p:sp>
      <p:sp>
        <p:nvSpPr>
          <p:cNvPr id="2" name="Inhaltsplatzhalter 1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Open System Interconnection OSI</a:t>
            </a: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691" y="1831162"/>
            <a:ext cx="7054623" cy="435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702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netzwerke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05761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de-DE" dirty="0"/>
              <a:t>Bitübertragungsschicht</a:t>
            </a:r>
          </a:p>
          <a:p>
            <a:pPr lvl="1"/>
            <a:r>
              <a:rPr lang="de-DE" dirty="0"/>
              <a:t>Umwandlung der vorliegenden Bits in physikalische Signale (elektrisch, elektromagnetisch, optisch)</a:t>
            </a:r>
          </a:p>
          <a:p>
            <a:pPr lvl="1"/>
            <a:r>
              <a:rPr lang="de-DE" dirty="0"/>
              <a:t>Definition mechanischer Schnittstellen und Kabeltypen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Sicherungsschicht</a:t>
            </a:r>
          </a:p>
          <a:p>
            <a:pPr lvl="1"/>
            <a:r>
              <a:rPr lang="de-DE" dirty="0"/>
              <a:t>Zerlegen von Datenblöcken (Rahmen, engl. Frames) in einzelne Bits</a:t>
            </a:r>
          </a:p>
          <a:p>
            <a:pPr lvl="1"/>
            <a:r>
              <a:rPr lang="de-DE" dirty="0"/>
              <a:t>Fehlerkontrolle</a:t>
            </a:r>
          </a:p>
          <a:p>
            <a:pPr lvl="1"/>
            <a:r>
              <a:rPr lang="de-DE" dirty="0"/>
              <a:t>Flusssteuerung</a:t>
            </a:r>
          </a:p>
          <a:p>
            <a:pPr lvl="1"/>
            <a:r>
              <a:rPr lang="de-DE" dirty="0"/>
              <a:t>Kanalzuordnung bei Mehrfachzugriffsnetzen (z.B. Ethernet) </a:t>
            </a:r>
          </a:p>
          <a:p>
            <a:pPr lvl="1"/>
            <a:r>
              <a:rPr lang="de-DE" dirty="0"/>
              <a:t>Sofern erforderlich: Verwaltung von Verbindungen</a:t>
            </a:r>
          </a:p>
          <a:p>
            <a:pPr lvl="1"/>
            <a:r>
              <a:rPr lang="de-DE" dirty="0"/>
              <a:t>Technische Adressierung (</a:t>
            </a:r>
            <a:r>
              <a:rPr lang="de-DE" dirty="0" err="1"/>
              <a:t>z.B</a:t>
            </a:r>
            <a:r>
              <a:rPr lang="de-DE" dirty="0"/>
              <a:t> MAC-Adressen)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OSI-Modell</a:t>
            </a:r>
          </a:p>
        </p:txBody>
      </p:sp>
    </p:spTree>
    <p:extLst>
      <p:ext uri="{BB962C8B-B14F-4D97-AF65-F5344CB8AC3E}">
        <p14:creationId xmlns:p14="http://schemas.microsoft.com/office/powerpoint/2010/main" val="1475441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netzwerke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454355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de-DE" dirty="0"/>
              <a:t>Vermittlungsschicht </a:t>
            </a:r>
          </a:p>
          <a:p>
            <a:pPr lvl="1"/>
            <a:r>
              <a:rPr lang="de-DE" dirty="0"/>
              <a:t>Adressierung der Endgeräte (z.B. IP-Adressen)</a:t>
            </a:r>
          </a:p>
          <a:p>
            <a:pPr lvl="1"/>
            <a:r>
              <a:rPr lang="de-DE" dirty="0"/>
              <a:t>Übertragung von Datenpaketen zum Endgerät, auch über Netzwerkknoten hinweg</a:t>
            </a:r>
          </a:p>
          <a:p>
            <a:pPr lvl="1"/>
            <a:r>
              <a:rPr lang="de-DE" dirty="0"/>
              <a:t>Wegefindung im Netz (Routing)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de-DE" dirty="0"/>
              <a:t>Transportschicht</a:t>
            </a:r>
          </a:p>
          <a:p>
            <a:pPr lvl="1"/>
            <a:r>
              <a:rPr lang="de-DE" dirty="0"/>
              <a:t>Logische Ende-zu-Ende-Verbindung</a:t>
            </a:r>
          </a:p>
          <a:p>
            <a:pPr lvl="1"/>
            <a:r>
              <a:rPr lang="de-DE" dirty="0"/>
              <a:t>Verbesserung der Dienstqualität</a:t>
            </a:r>
          </a:p>
          <a:p>
            <a:pPr lvl="1"/>
            <a:r>
              <a:rPr lang="de-DE" dirty="0"/>
              <a:t>Fehlerkontrolle</a:t>
            </a:r>
          </a:p>
          <a:p>
            <a:pPr lvl="1"/>
            <a:r>
              <a:rPr lang="de-DE" dirty="0"/>
              <a:t>Verbindungskontrolle</a:t>
            </a:r>
          </a:p>
          <a:p>
            <a:pPr lvl="1"/>
            <a:r>
              <a:rPr lang="de-DE" dirty="0"/>
              <a:t>Zuweisung der Datenpakete zu den jeweiligen Anwendungen</a:t>
            </a:r>
          </a:p>
          <a:p>
            <a:pPr lvl="1"/>
            <a:r>
              <a:rPr lang="de-DE" dirty="0"/>
              <a:t>Bereitstellung eines zuverlässigen Datentransports in einem unzuverlässigen Netz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OSI-Modell</a:t>
            </a:r>
          </a:p>
        </p:txBody>
      </p:sp>
    </p:spTree>
    <p:extLst>
      <p:ext uri="{BB962C8B-B14F-4D97-AF65-F5344CB8AC3E}">
        <p14:creationId xmlns:p14="http://schemas.microsoft.com/office/powerpoint/2010/main" val="296481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netzwerke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de-DE" dirty="0"/>
              <a:t>Kommunikationsschicht</a:t>
            </a:r>
          </a:p>
          <a:p>
            <a:pPr lvl="1"/>
            <a:r>
              <a:rPr lang="de-DE" dirty="0"/>
              <a:t>Steuerung der Kommunikation zwischen Anwendungen bzw. Prozessen (wird im Internet-Modell nicht verwendet)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de-DE" dirty="0"/>
              <a:t>Darstellungsschicht</a:t>
            </a:r>
          </a:p>
          <a:p>
            <a:pPr lvl="1"/>
            <a:r>
              <a:rPr lang="de-DE" dirty="0"/>
              <a:t>Umwandlung der Datendarstellung (Format, Kodierung) in ein betriebssystem-unabhängiges Netzwerkformat (wird im Internet-Modell nicht verwendet)</a:t>
            </a:r>
          </a:p>
          <a:p>
            <a:pPr marL="457200" indent="-457200">
              <a:buFont typeface="+mj-lt"/>
              <a:buAutoNum type="arabicPeriod" startAt="7"/>
            </a:pPr>
            <a:r>
              <a:rPr lang="de-DE" dirty="0"/>
              <a:t>Anwendungsschicht</a:t>
            </a:r>
          </a:p>
          <a:p>
            <a:pPr lvl="1"/>
            <a:r>
              <a:rPr lang="de-DE" dirty="0"/>
              <a:t>Definition der der Netzwerkanwendungen (z.B. Formate und Art der Übertragung von Mail, Dateien, Webseiten)</a:t>
            </a:r>
          </a:p>
          <a:p>
            <a:pPr marL="457200" indent="-457200">
              <a:buFont typeface="+mj-lt"/>
              <a:buAutoNum type="arabicPeriod" startAt="5"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OSI-Modell</a:t>
            </a:r>
          </a:p>
        </p:txBody>
      </p:sp>
    </p:spTree>
    <p:extLst>
      <p:ext uri="{BB962C8B-B14F-4D97-AF65-F5344CB8AC3E}">
        <p14:creationId xmlns:p14="http://schemas.microsoft.com/office/powerpoint/2010/main" val="131072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vermittlungsschicht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Transport von Daten­paketen (Datagrammen) vom Quell- zum Zielrechner über Netzgrenzen hinweg</a:t>
            </a:r>
          </a:p>
          <a:p>
            <a:r>
              <a:rPr lang="de-DE" dirty="0"/>
              <a:t>Kenntnisse über die unterschiedlichen Netzwerktechniken sind nicht nötig</a:t>
            </a:r>
          </a:p>
          <a:p>
            <a:r>
              <a:rPr lang="de-DE" dirty="0"/>
              <a:t>Kenntnisse über das Kommunikationsnetz</a:t>
            </a:r>
          </a:p>
          <a:p>
            <a:r>
              <a:rPr lang="de-DE" dirty="0" err="1"/>
              <a:t>Wegeﬁndung</a:t>
            </a:r>
            <a:r>
              <a:rPr lang="de-DE" dirty="0"/>
              <a:t> (Routing)</a:t>
            </a:r>
          </a:p>
          <a:p>
            <a:r>
              <a:rPr lang="de-DE" dirty="0"/>
              <a:t>Vermittlung von Paketen zwischen unterschiedlichen Netztopologien</a:t>
            </a:r>
          </a:p>
          <a:p>
            <a:r>
              <a:rPr lang="de-DE" dirty="0"/>
              <a:t>Bereitstellung von Diensten für die Transportschicht.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Aufgaben</a:t>
            </a:r>
          </a:p>
        </p:txBody>
      </p:sp>
    </p:spTree>
    <p:extLst>
      <p:ext uri="{BB962C8B-B14F-4D97-AF65-F5344CB8AC3E}">
        <p14:creationId xmlns:p14="http://schemas.microsoft.com/office/powerpoint/2010/main" val="197459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199" y="1755649"/>
            <a:ext cx="11662318" cy="4295902"/>
          </a:xfrm>
        </p:spPr>
        <p:txBody>
          <a:bodyPr>
            <a:normAutofit/>
          </a:bodyPr>
          <a:lstStyle/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7" name="Grafi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05" y="1857838"/>
            <a:ext cx="8442220" cy="429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31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IPv4-Header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Internet Protocol   IPv4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512191"/>
              </p:ext>
            </p:extLst>
          </p:nvPr>
        </p:nvGraphicFramePr>
        <p:xfrm>
          <a:off x="1651144" y="2680498"/>
          <a:ext cx="9034275" cy="2794562"/>
        </p:xfrm>
        <a:graphic>
          <a:graphicData uri="http://schemas.openxmlformats.org/drawingml/2006/table">
            <a:tbl>
              <a:tblPr/>
              <a:tblGrid>
                <a:gridCol w="1806855">
                  <a:extLst>
                    <a:ext uri="{9D8B030D-6E8A-4147-A177-3AD203B41FA5}">
                      <a16:colId xmlns:a16="http://schemas.microsoft.com/office/drawing/2014/main" val="2441709396"/>
                    </a:ext>
                  </a:extLst>
                </a:gridCol>
                <a:gridCol w="1806855">
                  <a:extLst>
                    <a:ext uri="{9D8B030D-6E8A-4147-A177-3AD203B41FA5}">
                      <a16:colId xmlns:a16="http://schemas.microsoft.com/office/drawing/2014/main" val="720255207"/>
                    </a:ext>
                  </a:extLst>
                </a:gridCol>
                <a:gridCol w="1806855">
                  <a:extLst>
                    <a:ext uri="{9D8B030D-6E8A-4147-A177-3AD203B41FA5}">
                      <a16:colId xmlns:a16="http://schemas.microsoft.com/office/drawing/2014/main" val="35214634"/>
                    </a:ext>
                  </a:extLst>
                </a:gridCol>
                <a:gridCol w="1806855">
                  <a:extLst>
                    <a:ext uri="{9D8B030D-6E8A-4147-A177-3AD203B41FA5}">
                      <a16:colId xmlns:a16="http://schemas.microsoft.com/office/drawing/2014/main" val="889403990"/>
                    </a:ext>
                  </a:extLst>
                </a:gridCol>
                <a:gridCol w="1806855">
                  <a:extLst>
                    <a:ext uri="{9D8B030D-6E8A-4147-A177-3AD203B41FA5}">
                      <a16:colId xmlns:a16="http://schemas.microsoft.com/office/drawing/2014/main" val="533662938"/>
                    </a:ext>
                  </a:extLst>
                </a:gridCol>
              </a:tblGrid>
              <a:tr h="351356">
                <a:tc gridSpan="5">
                  <a:txBody>
                    <a:bodyPr/>
                    <a:lstStyle/>
                    <a:p>
                      <a:pPr rtl="0"/>
                      <a:r>
                        <a:rPr lang="de-DE" sz="1400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  0                                                                   .  .  .  .                                                                    31</a:t>
                      </a:r>
                      <a:endParaRPr lang="de-DE" sz="14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AW Frutiger Next Regular" panose="02000503050000020004" pitchFamily="2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5260907"/>
                  </a:ext>
                </a:extLst>
              </a:tr>
              <a:tr h="407201"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Version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IHL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ToS</a:t>
                      </a:r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/</a:t>
                      </a:r>
                      <a:r>
                        <a:rPr lang="de-DE" sz="20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DiffServ</a:t>
                      </a:r>
                      <a:endParaRPr lang="de-DE" sz="2000" b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AW Frutiger Next Regular" panose="02000503050000020004" pitchFamily="2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Total </a:t>
                      </a:r>
                      <a:r>
                        <a:rPr lang="de-DE" sz="20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Length</a:t>
                      </a:r>
                      <a:endParaRPr lang="de-DE" sz="2000" b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AW Frutiger Next Regular" panose="02000503050000020004" pitchFamily="2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846280"/>
                  </a:ext>
                </a:extLst>
              </a:tr>
              <a:tr h="407201"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20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Identification</a:t>
                      </a:r>
                      <a:endParaRPr lang="de-DE" sz="2000" b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AW Frutiger Next Regular" panose="02000503050000020004" pitchFamily="2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Flags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Fragm</a:t>
                      </a:r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. Offset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452967"/>
                  </a:ext>
                </a:extLst>
              </a:tr>
              <a:tr h="407201">
                <a:tc gridSpan="2"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TTL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Protocol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/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Header Checksum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483151"/>
                  </a:ext>
                </a:extLst>
              </a:tr>
              <a:tr h="407201">
                <a:tc gridSpan="5"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Source </a:t>
                      </a:r>
                      <a:r>
                        <a:rPr lang="de-DE" sz="20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Address</a:t>
                      </a:r>
                      <a:endParaRPr lang="de-DE" sz="2000" b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AW Frutiger Next Regular" panose="02000503050000020004" pitchFamily="2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2552296"/>
                  </a:ext>
                </a:extLst>
              </a:tr>
              <a:tr h="407201">
                <a:tc gridSpan="5"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Destination </a:t>
                      </a:r>
                      <a:r>
                        <a:rPr lang="de-DE" sz="2000" b="1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Address</a:t>
                      </a:r>
                      <a:endParaRPr lang="de-DE" sz="2000" b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HAW Frutiger Next Regular" panose="02000503050000020004" pitchFamily="2" charset="0"/>
                      </a:endParaRP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884728"/>
                  </a:ext>
                </a:extLst>
              </a:tr>
              <a:tr h="407201">
                <a:tc gridSpan="5">
                  <a:txBody>
                    <a:bodyPr/>
                    <a:lstStyle/>
                    <a:p>
                      <a:pPr algn="l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HAW Frutiger Next Regular" panose="02000503050000020004" pitchFamily="2" charset="0"/>
                        </a:rPr>
                        <a:t>Optionen ...</a:t>
                      </a:r>
                    </a:p>
                  </a:txBody>
                  <a:tcPr marL="34925" marR="34925" marT="34925" marB="34925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787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2879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Header-Felder:</a:t>
            </a:r>
          </a:p>
          <a:p>
            <a:pPr lvl="1"/>
            <a:r>
              <a:rPr lang="de-DE" dirty="0"/>
              <a:t>Version: IPv4 (4 Bit)</a:t>
            </a:r>
          </a:p>
          <a:p>
            <a:pPr lvl="1"/>
            <a:r>
              <a:rPr lang="de-DE" dirty="0"/>
              <a:t>IHL (4): IP Header </a:t>
            </a:r>
            <a:r>
              <a:rPr lang="de-DE" dirty="0" err="1"/>
              <a:t>Length</a:t>
            </a:r>
            <a:r>
              <a:rPr lang="de-DE" dirty="0"/>
              <a:t>, Länge des (variablen) Headers als Anzahl der 32-Bit-Wörter, Standard (ohne Optionen) 20 Byte (fünf 32-Bit-Wörter),</a:t>
            </a:r>
          </a:p>
          <a:p>
            <a:pPr lvl="1"/>
            <a:r>
              <a:rPr lang="de-DE" dirty="0" err="1"/>
              <a:t>ToS</a:t>
            </a:r>
            <a:r>
              <a:rPr lang="de-DE" dirty="0"/>
              <a:t> (8): Type </a:t>
            </a:r>
            <a:r>
              <a:rPr lang="de-DE" dirty="0" err="1"/>
              <a:t>of</a:t>
            </a:r>
            <a:r>
              <a:rPr lang="de-DE" dirty="0"/>
              <a:t> Service (alte Bezeichnung) oder </a:t>
            </a:r>
            <a:r>
              <a:rPr lang="de-DE" dirty="0" err="1"/>
              <a:t>Differentiated</a:t>
            </a:r>
            <a:r>
              <a:rPr lang="de-DE" dirty="0"/>
              <a:t> Services-Feld zur Definition von Dienstklassen (</a:t>
            </a:r>
            <a:r>
              <a:rPr lang="de-DE" dirty="0" err="1"/>
              <a:t>Expedited</a:t>
            </a:r>
            <a:r>
              <a:rPr lang="de-DE" dirty="0"/>
              <a:t> und </a:t>
            </a:r>
            <a:r>
              <a:rPr lang="de-DE" dirty="0" err="1"/>
              <a:t>Assured</a:t>
            </a:r>
            <a:r>
              <a:rPr lang="de-DE" dirty="0"/>
              <a:t> </a:t>
            </a:r>
            <a:r>
              <a:rPr lang="de-DE" dirty="0" err="1"/>
              <a:t>Forwarding</a:t>
            </a:r>
            <a:r>
              <a:rPr lang="de-DE" dirty="0"/>
              <a:t>) sowie einige Bits für ECN (Explicit </a:t>
            </a:r>
            <a:r>
              <a:rPr lang="de-DE" dirty="0" err="1"/>
              <a:t>Congestion</a:t>
            </a:r>
            <a:r>
              <a:rPr lang="de-DE" dirty="0"/>
              <a:t> </a:t>
            </a:r>
            <a:r>
              <a:rPr lang="de-DE" dirty="0" err="1"/>
              <a:t>Notification</a:t>
            </a:r>
            <a:r>
              <a:rPr lang="de-DE" dirty="0"/>
              <a:t>, Stauvermeidung)</a:t>
            </a:r>
          </a:p>
          <a:p>
            <a:pPr lvl="1"/>
            <a:r>
              <a:rPr lang="de-DE" dirty="0"/>
              <a:t>Total </a:t>
            </a:r>
            <a:r>
              <a:rPr lang="de-DE" dirty="0" err="1"/>
              <a:t>Length</a:t>
            </a:r>
            <a:r>
              <a:rPr lang="de-DE" dirty="0"/>
              <a:t> (16): Gesamtlänge einschließlich Header und Payload, max. 65535 Byte</a:t>
            </a:r>
          </a:p>
          <a:p>
            <a:pPr lvl="1"/>
            <a:r>
              <a:rPr lang="de-DE" dirty="0" err="1"/>
              <a:t>Identification</a:t>
            </a:r>
            <a:r>
              <a:rPr lang="de-DE" dirty="0"/>
              <a:t> (16): Zugehörigkeit von Fragmenten zu einem IP-Paket</a:t>
            </a:r>
          </a:p>
          <a:p>
            <a:pPr lvl="1"/>
            <a:r>
              <a:rPr lang="de-DE" dirty="0"/>
              <a:t>Flags (3 Bit): mittleres Bit: </a:t>
            </a:r>
            <a:r>
              <a:rPr lang="de-DE" dirty="0" err="1"/>
              <a:t>Don‘t</a:t>
            </a:r>
            <a:r>
              <a:rPr lang="de-DE" dirty="0"/>
              <a:t> Fragment (keine Fragmentierung erlaubt), rechtes Bit: More Fragment (ist bei allen Fragmenten eines Paketes außer dem letzten gesetzt, um festzustellen, wann alle Fragmente eingetroffen sind)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Internet Protocol   IPv4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335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Header-Felder:</a:t>
            </a:r>
          </a:p>
          <a:p>
            <a:pPr lvl="1"/>
            <a:r>
              <a:rPr lang="de-DE" dirty="0" err="1"/>
              <a:t>Fragmentation</a:t>
            </a:r>
            <a:r>
              <a:rPr lang="de-DE" dirty="0"/>
              <a:t> Offset (13): Position eines Fragments im Paket</a:t>
            </a:r>
          </a:p>
          <a:p>
            <a:pPr lvl="1"/>
            <a:r>
              <a:rPr lang="de-DE" dirty="0"/>
              <a:t>TTL (8): Time </a:t>
            </a:r>
            <a:r>
              <a:rPr lang="de-DE" dirty="0" err="1"/>
              <a:t>to</a:t>
            </a:r>
            <a:r>
              <a:rPr lang="de-DE" dirty="0"/>
              <a:t> Live </a:t>
            </a:r>
          </a:p>
          <a:p>
            <a:pPr lvl="1"/>
            <a:r>
              <a:rPr lang="de-DE" dirty="0"/>
              <a:t>Protocol (8): Protokoll im Payload (Transportprotokolle TCP (6), UDP (17) oder Art des Routingprotokolls oder ICMP (1))</a:t>
            </a:r>
          </a:p>
          <a:p>
            <a:pPr lvl="1"/>
            <a:r>
              <a:rPr lang="de-DE" dirty="0"/>
              <a:t>Header </a:t>
            </a:r>
            <a:r>
              <a:rPr lang="de-DE" dirty="0" err="1"/>
              <a:t>Checksum</a:t>
            </a:r>
            <a:r>
              <a:rPr lang="de-DE" dirty="0"/>
              <a:t> (16): Prüfsumme </a:t>
            </a:r>
            <a:r>
              <a:rPr lang="de-DE" i="1" dirty="0"/>
              <a:t>nur</a:t>
            </a:r>
            <a:r>
              <a:rPr lang="de-DE" dirty="0"/>
              <a:t> für den Header</a:t>
            </a:r>
          </a:p>
          <a:p>
            <a:pPr lvl="1"/>
            <a:r>
              <a:rPr lang="de-DE" dirty="0"/>
              <a:t>Adressen: 32-Bit IPv4-Quell- und Zieladresse</a:t>
            </a:r>
          </a:p>
          <a:p>
            <a:pPr lvl="2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Internet Protocol   IPv4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6640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Jedes Gerät (jede Netzwerkschnittstelle) benötigt			        eine IP-Adresse, um über ein Netzwerk erreichbar zu sein. </a:t>
            </a:r>
          </a:p>
          <a:p>
            <a:r>
              <a:rPr lang="de-DE" dirty="0"/>
              <a:t>IPv4-Adressen bestehen aus 32 Bit; Dezimalform  z.B. 172.16.45.209</a:t>
            </a:r>
          </a:p>
          <a:p>
            <a:r>
              <a:rPr lang="de-DE" dirty="0"/>
              <a:t>IP-Adressen bestehen aus einem variablen Netzwerkanteil und einem Rechneranteil. </a:t>
            </a:r>
          </a:p>
          <a:p>
            <a:r>
              <a:rPr lang="de-DE" dirty="0"/>
              <a:t>Der Netzwerkanteil wird durch die linken Bit der Adresse dargestellt, der Rechneranteil durch die rechten Bit. </a:t>
            </a:r>
          </a:p>
          <a:p>
            <a:r>
              <a:rPr lang="de-DE" dirty="0"/>
              <a:t>Soll eine Adresse z.B. aus 24 Bit Netzwerkanteil und 8 Bit Rechneranteil bestehen, so wird zusätzlich zur Adresse die Anzahl der </a:t>
            </a:r>
            <a:r>
              <a:rPr lang="de-DE" u="sng" dirty="0" err="1"/>
              <a:t>Netz</a:t>
            </a:r>
            <a:r>
              <a:rPr lang="de-DE" dirty="0" err="1"/>
              <a:t>bits</a:t>
            </a:r>
            <a:r>
              <a:rPr lang="de-DE" dirty="0"/>
              <a:t> (Präfixlänge) angegeben: 172.16.45.0 /24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83877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1842156"/>
          </a:xfrm>
        </p:spPr>
        <p:txBody>
          <a:bodyPr>
            <a:normAutofit/>
          </a:bodyPr>
          <a:lstStyle/>
          <a:p>
            <a:r>
              <a:rPr lang="de-DE" dirty="0"/>
              <a:t>In der Frühzeit des Internets: 					            Einteilung der Adressen in starre Klassen</a:t>
            </a:r>
          </a:p>
          <a:p>
            <a:r>
              <a:rPr lang="de-DE" dirty="0"/>
              <a:t>Heute wird eine flexible Einteilung mit dem CIDR-Verfahren vorgenommen (</a:t>
            </a:r>
            <a:r>
              <a:rPr lang="de-DE" dirty="0" err="1"/>
              <a:t>Classless</a:t>
            </a:r>
            <a:r>
              <a:rPr lang="de-DE" dirty="0"/>
              <a:t> </a:t>
            </a:r>
            <a:r>
              <a:rPr lang="de-DE" dirty="0" err="1"/>
              <a:t>InterDomain</a:t>
            </a:r>
            <a:r>
              <a:rPr lang="de-DE" dirty="0"/>
              <a:t> Routing)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</a:t>
            </a:r>
          </a:p>
          <a:p>
            <a:endParaRPr lang="de-DE" dirty="0"/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932726"/>
              </p:ext>
            </p:extLst>
          </p:nvPr>
        </p:nvGraphicFramePr>
        <p:xfrm>
          <a:off x="1119051" y="3822366"/>
          <a:ext cx="9572175" cy="2079707"/>
        </p:xfrm>
        <a:graphic>
          <a:graphicData uri="http://schemas.openxmlformats.org/drawingml/2006/table">
            <a:tbl>
              <a:tblPr/>
              <a:tblGrid>
                <a:gridCol w="1025399">
                  <a:extLst>
                    <a:ext uri="{9D8B030D-6E8A-4147-A177-3AD203B41FA5}">
                      <a16:colId xmlns:a16="http://schemas.microsoft.com/office/drawing/2014/main" val="2045800142"/>
                    </a:ext>
                  </a:extLst>
                </a:gridCol>
                <a:gridCol w="169956">
                  <a:extLst>
                    <a:ext uri="{9D8B030D-6E8A-4147-A177-3AD203B41FA5}">
                      <a16:colId xmlns:a16="http://schemas.microsoft.com/office/drawing/2014/main" val="1268077356"/>
                    </a:ext>
                  </a:extLst>
                </a:gridCol>
                <a:gridCol w="182608">
                  <a:extLst>
                    <a:ext uri="{9D8B030D-6E8A-4147-A177-3AD203B41FA5}">
                      <a16:colId xmlns:a16="http://schemas.microsoft.com/office/drawing/2014/main" val="3984516652"/>
                    </a:ext>
                  </a:extLst>
                </a:gridCol>
                <a:gridCol w="83655">
                  <a:extLst>
                    <a:ext uri="{9D8B030D-6E8A-4147-A177-3AD203B41FA5}">
                      <a16:colId xmlns:a16="http://schemas.microsoft.com/office/drawing/2014/main" val="2154196578"/>
                    </a:ext>
                  </a:extLst>
                </a:gridCol>
                <a:gridCol w="196291">
                  <a:extLst>
                    <a:ext uri="{9D8B030D-6E8A-4147-A177-3AD203B41FA5}">
                      <a16:colId xmlns:a16="http://schemas.microsoft.com/office/drawing/2014/main" val="236369068"/>
                    </a:ext>
                  </a:extLst>
                </a:gridCol>
                <a:gridCol w="305920">
                  <a:extLst>
                    <a:ext uri="{9D8B030D-6E8A-4147-A177-3AD203B41FA5}">
                      <a16:colId xmlns:a16="http://schemas.microsoft.com/office/drawing/2014/main" val="2638007420"/>
                    </a:ext>
                  </a:extLst>
                </a:gridCol>
                <a:gridCol w="1529600">
                  <a:extLst>
                    <a:ext uri="{9D8B030D-6E8A-4147-A177-3AD203B41FA5}">
                      <a16:colId xmlns:a16="http://schemas.microsoft.com/office/drawing/2014/main" val="2748135745"/>
                    </a:ext>
                  </a:extLst>
                </a:gridCol>
                <a:gridCol w="1529600">
                  <a:extLst>
                    <a:ext uri="{9D8B030D-6E8A-4147-A177-3AD203B41FA5}">
                      <a16:colId xmlns:a16="http://schemas.microsoft.com/office/drawing/2014/main" val="1336121646"/>
                    </a:ext>
                  </a:extLst>
                </a:gridCol>
                <a:gridCol w="1529600">
                  <a:extLst>
                    <a:ext uri="{9D8B030D-6E8A-4147-A177-3AD203B41FA5}">
                      <a16:colId xmlns:a16="http://schemas.microsoft.com/office/drawing/2014/main" val="716838587"/>
                    </a:ext>
                  </a:extLst>
                </a:gridCol>
                <a:gridCol w="3019546">
                  <a:extLst>
                    <a:ext uri="{9D8B030D-6E8A-4147-A177-3AD203B41FA5}">
                      <a16:colId xmlns:a16="http://schemas.microsoft.com/office/drawing/2014/main" val="4206959078"/>
                    </a:ext>
                  </a:extLst>
                </a:gridCol>
              </a:tblGrid>
              <a:tr h="450103">
                <a:tc>
                  <a:txBody>
                    <a:bodyPr/>
                    <a:lstStyle/>
                    <a:p>
                      <a:pPr rtl="0"/>
                      <a:endParaRPr lang="de-DE" sz="1600" b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 1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 2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 3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Byte 4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de-DE" sz="1600" b="1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5020913"/>
                  </a:ext>
                </a:extLst>
              </a:tr>
              <a:tr h="323225"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Klasse A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Rechner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0.0.0.0 bis 127.255.255.255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63714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Klasse B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Rechner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128.0.0.0 bis 191.255.255.255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6855795"/>
                  </a:ext>
                </a:extLst>
              </a:tr>
              <a:tr h="323225"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Klasse C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Rechner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192.0.0.0 bis 223.255.255.255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255438"/>
                  </a:ext>
                </a:extLst>
              </a:tr>
              <a:tr h="323225">
                <a:tc>
                  <a:txBody>
                    <a:bodyPr/>
                    <a:lstStyle/>
                    <a:p>
                      <a:pPr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Klasse D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1110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Multicast-Adressen</a:t>
                      </a:r>
                      <a:endParaRPr lang="de-DE" dirty="0"/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224.0.0.0 bis 239.255.255.255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7326753"/>
                  </a:ext>
                </a:extLst>
              </a:tr>
              <a:tr h="323225">
                <a:tc>
                  <a:txBody>
                    <a:bodyPr/>
                    <a:lstStyle/>
                    <a:p>
                      <a:pPr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Klasse E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reserviert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5C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240.0.0.0 bis 255.255.255.255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3744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4773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1252781" cy="3911313"/>
          </a:xfrm>
        </p:spPr>
        <p:txBody>
          <a:bodyPr>
            <a:normAutofit/>
          </a:bodyPr>
          <a:lstStyle/>
          <a:p>
            <a:r>
              <a:rPr lang="de-DE" dirty="0"/>
              <a:t>Der Adressbereich innerhalb eines Netzwerkes kann beliebig unterteilt werden. </a:t>
            </a:r>
          </a:p>
          <a:p>
            <a:r>
              <a:rPr lang="de-DE" dirty="0"/>
              <a:t>Eine Aufteilung in </a:t>
            </a:r>
            <a:r>
              <a:rPr lang="de-DE" dirty="0">
                <a:solidFill>
                  <a:schemeClr val="accent1">
                    <a:lumMod val="75000"/>
                  </a:schemeClr>
                </a:solidFill>
              </a:rPr>
              <a:t>Subnetze</a:t>
            </a:r>
            <a:r>
              <a:rPr lang="de-DE" dirty="0"/>
              <a:t> kann aus verschiedenen Gründen erforderlich sein: </a:t>
            </a:r>
          </a:p>
          <a:p>
            <a:pPr lvl="1"/>
            <a:r>
              <a:rPr lang="de-DE" dirty="0"/>
              <a:t>Sicherheitsgründe: Abgrenzung von Abteilungsnetzen </a:t>
            </a:r>
          </a:p>
          <a:p>
            <a:pPr lvl="1"/>
            <a:r>
              <a:rPr lang="de-DE" dirty="0"/>
              <a:t>Technische Gründe: Einsatz verschiedener Netzwerktechnologien, Überbrückung größerer Entfernungen</a:t>
            </a:r>
          </a:p>
          <a:p>
            <a:pPr lvl="1"/>
            <a:r>
              <a:rPr lang="de-DE" dirty="0"/>
              <a:t>Dezentrale Verwaltung der Netze </a:t>
            </a:r>
          </a:p>
          <a:p>
            <a:r>
              <a:rPr lang="de-DE" dirty="0"/>
              <a:t>Der IP-Adressbereich (Rechneranteil) muss in kleinere Teile zerlegt werden. </a:t>
            </a:r>
          </a:p>
          <a:p>
            <a:r>
              <a:rPr lang="de-DE" dirty="0"/>
              <a:t>Deren Größe ist variabel und wird mithilfe der Subnetz-Maske festgelegt.</a:t>
            </a:r>
          </a:p>
          <a:p>
            <a:r>
              <a:rPr lang="de-DE" dirty="0"/>
              <a:t>Per Definition symbolisiert die Anzahl der linken Eins-Bits in dieser Maske den Netzwerkanteil und die Anzahl der rechten Null-Bits den Rechneranteil.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  -  Subnetzmasken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5347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834327"/>
              </p:ext>
            </p:extLst>
          </p:nvPr>
        </p:nvGraphicFramePr>
        <p:xfrm>
          <a:off x="838200" y="3097010"/>
          <a:ext cx="10515102" cy="1729808"/>
        </p:xfrm>
        <a:graphic>
          <a:graphicData uri="http://schemas.openxmlformats.org/drawingml/2006/table">
            <a:tbl>
              <a:tblPr/>
              <a:tblGrid>
                <a:gridCol w="2714277">
                  <a:extLst>
                    <a:ext uri="{9D8B030D-6E8A-4147-A177-3AD203B41FA5}">
                      <a16:colId xmlns:a16="http://schemas.microsoft.com/office/drawing/2014/main" val="187624441"/>
                    </a:ext>
                  </a:extLst>
                </a:gridCol>
                <a:gridCol w="1702792">
                  <a:extLst>
                    <a:ext uri="{9D8B030D-6E8A-4147-A177-3AD203B41FA5}">
                      <a16:colId xmlns:a16="http://schemas.microsoft.com/office/drawing/2014/main" val="155430098"/>
                    </a:ext>
                  </a:extLst>
                </a:gridCol>
                <a:gridCol w="1702792">
                  <a:extLst>
                    <a:ext uri="{9D8B030D-6E8A-4147-A177-3AD203B41FA5}">
                      <a16:colId xmlns:a16="http://schemas.microsoft.com/office/drawing/2014/main" val="887001372"/>
                    </a:ext>
                  </a:extLst>
                </a:gridCol>
                <a:gridCol w="1702792">
                  <a:extLst>
                    <a:ext uri="{9D8B030D-6E8A-4147-A177-3AD203B41FA5}">
                      <a16:colId xmlns:a16="http://schemas.microsoft.com/office/drawing/2014/main" val="1480246256"/>
                    </a:ext>
                  </a:extLst>
                </a:gridCol>
                <a:gridCol w="1702792">
                  <a:extLst>
                    <a:ext uri="{9D8B030D-6E8A-4147-A177-3AD203B41FA5}">
                      <a16:colId xmlns:a16="http://schemas.microsoft.com/office/drawing/2014/main" val="1361407096"/>
                    </a:ext>
                  </a:extLst>
                </a:gridCol>
                <a:gridCol w="989657">
                  <a:extLst>
                    <a:ext uri="{9D8B030D-6E8A-4147-A177-3AD203B41FA5}">
                      <a16:colId xmlns:a16="http://schemas.microsoft.com/office/drawing/2014/main" val="1858819956"/>
                    </a:ext>
                  </a:extLst>
                </a:gridCol>
              </a:tblGrid>
              <a:tr h="432452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IP-Adresse </a:t>
                      </a:r>
                      <a:r>
                        <a:rPr lang="de-DE" sz="20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dez.</a:t>
                      </a:r>
                      <a:endParaRPr lang="de-DE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de-DE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2906937"/>
                  </a:ext>
                </a:extLst>
              </a:tr>
              <a:tr h="432452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IP-Adresse binär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</a:t>
                      </a:r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010</a:t>
                      </a:r>
                      <a:endParaRPr lang="de-DE" sz="20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0011 0001</a:t>
                      </a:r>
                      <a:endParaRPr lang="de-DE" sz="20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/21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49436790"/>
                  </a:ext>
                </a:extLst>
              </a:tr>
              <a:tr h="432452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Maske dezimal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248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de-DE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5395318"/>
                  </a:ext>
                </a:extLst>
              </a:tr>
              <a:tr h="432452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Maske binär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</a:t>
                      </a:r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de-DE" sz="20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0000 0000</a:t>
                      </a:r>
                      <a:endParaRPr lang="de-DE" sz="20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/21</a:t>
                      </a:r>
                    </a:p>
                  </a:txBody>
                  <a:tcPr marL="25381" marR="25381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3441716"/>
                  </a:ext>
                </a:extLst>
              </a:tr>
            </a:tbl>
          </a:graphicData>
        </a:graphic>
      </p:graphicFrame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  -  Subnetzmasken</a:t>
            </a:r>
          </a:p>
          <a:p>
            <a:endParaRPr lang="de-DE" dirty="0"/>
          </a:p>
        </p:txBody>
      </p:sp>
      <p:sp>
        <p:nvSpPr>
          <p:cNvPr id="12" name="Inhaltsplatzhalter 2"/>
          <p:cNvSpPr txBox="1">
            <a:spLocks/>
          </p:cNvSpPr>
          <p:nvPr/>
        </p:nvSpPr>
        <p:spPr>
          <a:xfrm>
            <a:off x="838200" y="2076702"/>
            <a:ext cx="10515600" cy="147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20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mbol" panose="05050102010706020507" pitchFamily="18" charset="2"/>
              <a:buChar char="-"/>
              <a:defRPr sz="16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Beispiel mit IP-Adresse 192.168.34.49 /21</a:t>
            </a:r>
          </a:p>
        </p:txBody>
      </p:sp>
    </p:spTree>
    <p:extLst>
      <p:ext uri="{BB962C8B-B14F-4D97-AF65-F5344CB8AC3E}">
        <p14:creationId xmlns:p14="http://schemas.microsoft.com/office/powerpoint/2010/main" val="26831472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15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  -  Subnetzmasken</a:t>
            </a:r>
          </a:p>
          <a:p>
            <a:endParaRPr lang="de-DE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139192"/>
              </p:ext>
            </p:extLst>
          </p:nvPr>
        </p:nvGraphicFramePr>
        <p:xfrm>
          <a:off x="838200" y="3302291"/>
          <a:ext cx="8994786" cy="1560588"/>
        </p:xfrm>
        <a:graphic>
          <a:graphicData uri="http://schemas.openxmlformats.org/drawingml/2006/table">
            <a:tbl>
              <a:tblPr/>
              <a:tblGrid>
                <a:gridCol w="2568955">
                  <a:extLst>
                    <a:ext uri="{9D8B030D-6E8A-4147-A177-3AD203B41FA5}">
                      <a16:colId xmlns:a16="http://schemas.microsoft.com/office/drawing/2014/main" val="2484063129"/>
                    </a:ext>
                  </a:extLst>
                </a:gridCol>
                <a:gridCol w="1611623">
                  <a:extLst>
                    <a:ext uri="{9D8B030D-6E8A-4147-A177-3AD203B41FA5}">
                      <a16:colId xmlns:a16="http://schemas.microsoft.com/office/drawing/2014/main" val="4140202298"/>
                    </a:ext>
                  </a:extLst>
                </a:gridCol>
                <a:gridCol w="1611623">
                  <a:extLst>
                    <a:ext uri="{9D8B030D-6E8A-4147-A177-3AD203B41FA5}">
                      <a16:colId xmlns:a16="http://schemas.microsoft.com/office/drawing/2014/main" val="3077050433"/>
                    </a:ext>
                  </a:extLst>
                </a:gridCol>
                <a:gridCol w="1611623">
                  <a:extLst>
                    <a:ext uri="{9D8B030D-6E8A-4147-A177-3AD203B41FA5}">
                      <a16:colId xmlns:a16="http://schemas.microsoft.com/office/drawing/2014/main" val="1761933159"/>
                    </a:ext>
                  </a:extLst>
                </a:gridCol>
                <a:gridCol w="1590962">
                  <a:extLst>
                    <a:ext uri="{9D8B030D-6E8A-4147-A177-3AD203B41FA5}">
                      <a16:colId xmlns:a16="http://schemas.microsoft.com/office/drawing/2014/main" val="2275104796"/>
                    </a:ext>
                  </a:extLst>
                </a:gridCol>
              </a:tblGrid>
              <a:tr h="390147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IP-Adresse binär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0010 0010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0011 0001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9813664"/>
                  </a:ext>
                </a:extLst>
              </a:tr>
              <a:tr h="390147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</a:t>
                      </a:r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Maske binär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1111  1000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23264"/>
                  </a:ext>
                </a:extLst>
              </a:tr>
              <a:tr h="390147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= Netzadresse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5823047"/>
                  </a:ext>
                </a:extLst>
              </a:tr>
              <a:tr h="390147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Netzadresse </a:t>
                      </a:r>
                      <a:r>
                        <a:rPr lang="de-DE" sz="20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dez.</a:t>
                      </a:r>
                      <a:endParaRPr lang="de-DE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555894"/>
                  </a:ext>
                </a:extLst>
              </a:tr>
            </a:tbl>
          </a:graphicData>
        </a:graphic>
      </p:graphicFrame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1126312"/>
          </a:xfrm>
        </p:spPr>
        <p:txBody>
          <a:bodyPr/>
          <a:lstStyle/>
          <a:p>
            <a:r>
              <a:rPr lang="de-DE" dirty="0"/>
              <a:t>Die Verknüpfung der IP-Adresse mit der Maske 			     mittels einer logischen UND-Operation ergibt die Netzadresse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1831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16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  -  Subnetzmasken</a:t>
            </a:r>
          </a:p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2500523"/>
          </a:xfrm>
        </p:spPr>
        <p:txBody>
          <a:bodyPr>
            <a:normAutofit/>
          </a:bodyPr>
          <a:lstStyle/>
          <a:p>
            <a:r>
              <a:rPr lang="de-DE" dirty="0"/>
              <a:t>Die Netzadresse ist die kleinste Adresse  					            aus einem Bereich.</a:t>
            </a:r>
          </a:p>
          <a:p>
            <a:r>
              <a:rPr lang="de-DE" dirty="0"/>
              <a:t>Die Broadcast-Adresse, unter der alle Rechner angesprochen werden können, ist die letzte (höchste) Adresse. </a:t>
            </a:r>
          </a:p>
          <a:p>
            <a:endParaRPr lang="de-DE" dirty="0"/>
          </a:p>
        </p:txBody>
      </p:sp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716220"/>
              </p:ext>
            </p:extLst>
          </p:nvPr>
        </p:nvGraphicFramePr>
        <p:xfrm>
          <a:off x="1384665" y="3908874"/>
          <a:ext cx="8514686" cy="1659262"/>
        </p:xfrm>
        <a:graphic>
          <a:graphicData uri="http://schemas.openxmlformats.org/drawingml/2006/table">
            <a:tbl>
              <a:tblPr/>
              <a:tblGrid>
                <a:gridCol w="2727596">
                  <a:extLst>
                    <a:ext uri="{9D8B030D-6E8A-4147-A177-3AD203B41FA5}">
                      <a16:colId xmlns:a16="http://schemas.microsoft.com/office/drawing/2014/main" val="2933093913"/>
                    </a:ext>
                  </a:extLst>
                </a:gridCol>
                <a:gridCol w="1448281">
                  <a:extLst>
                    <a:ext uri="{9D8B030D-6E8A-4147-A177-3AD203B41FA5}">
                      <a16:colId xmlns:a16="http://schemas.microsoft.com/office/drawing/2014/main" val="2392266155"/>
                    </a:ext>
                  </a:extLst>
                </a:gridCol>
                <a:gridCol w="1448281">
                  <a:extLst>
                    <a:ext uri="{9D8B030D-6E8A-4147-A177-3AD203B41FA5}">
                      <a16:colId xmlns:a16="http://schemas.microsoft.com/office/drawing/2014/main" val="634326865"/>
                    </a:ext>
                  </a:extLst>
                </a:gridCol>
                <a:gridCol w="1448281">
                  <a:extLst>
                    <a:ext uri="{9D8B030D-6E8A-4147-A177-3AD203B41FA5}">
                      <a16:colId xmlns:a16="http://schemas.microsoft.com/office/drawing/2014/main" val="804880880"/>
                    </a:ext>
                  </a:extLst>
                </a:gridCol>
                <a:gridCol w="1442247">
                  <a:extLst>
                    <a:ext uri="{9D8B030D-6E8A-4147-A177-3AD203B41FA5}">
                      <a16:colId xmlns:a16="http://schemas.microsoft.com/office/drawing/2014/main" val="3920518615"/>
                    </a:ext>
                  </a:extLst>
                </a:gridCol>
              </a:tblGrid>
              <a:tr h="363862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Netzadresse binär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</a:t>
                      </a:r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</a:t>
                      </a:r>
                      <a:endParaRPr lang="de-DE" sz="20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0000 0000</a:t>
                      </a:r>
                      <a:endParaRPr lang="de-DE" sz="20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345590"/>
                  </a:ext>
                </a:extLst>
              </a:tr>
              <a:tr h="363862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Broadcast-Adresse binär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</a:t>
                      </a:r>
                      <a:r>
                        <a:rPr lang="de-DE" sz="2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</a:t>
                      </a:r>
                      <a:endParaRPr lang="de-DE" sz="20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  <a:endParaRPr lang="de-DE" sz="20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576650"/>
                  </a:ext>
                </a:extLst>
              </a:tr>
              <a:tr h="363862">
                <a:tc>
                  <a:txBody>
                    <a:bodyPr/>
                    <a:lstStyle/>
                    <a:p>
                      <a:pPr algn="l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Broadcast-Adresse dezimal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39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20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</a:t>
                      </a:r>
                    </a:p>
                  </a:txBody>
                  <a:tcPr marL="19050" marR="1905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7041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575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17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  -  Subnetzmasken</a:t>
            </a:r>
          </a:p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1"/>
            <a:ext cx="10515600" cy="2500523"/>
          </a:xfrm>
        </p:spPr>
        <p:txBody>
          <a:bodyPr>
            <a:normAutofit/>
          </a:bodyPr>
          <a:lstStyle/>
          <a:p>
            <a:r>
              <a:rPr lang="de-DE" dirty="0"/>
              <a:t>Bevor ein Rechner ein IP-Paket abschicken kann, 			        muss er feststellen, ob die IP-Adresse des Zielrechners		 innerhalb oder außerhalb des eigenen Subnetzbereiches liegt.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211238"/>
              </p:ext>
            </p:extLst>
          </p:nvPr>
        </p:nvGraphicFramePr>
        <p:xfrm>
          <a:off x="1734964" y="3187066"/>
          <a:ext cx="7571017" cy="1127760"/>
        </p:xfrm>
        <a:graphic>
          <a:graphicData uri="http://schemas.openxmlformats.org/drawingml/2006/table">
            <a:tbl>
              <a:tblPr/>
              <a:tblGrid>
                <a:gridCol w="1537409">
                  <a:extLst>
                    <a:ext uri="{9D8B030D-6E8A-4147-A177-3AD203B41FA5}">
                      <a16:colId xmlns:a16="http://schemas.microsoft.com/office/drawing/2014/main" val="4066090821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4232433617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795758958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2146203463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34693658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/>
                      <a:endParaRPr lang="de-DE" sz="16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49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4942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IP-Adresse </a:t>
                      </a:r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de-DE" sz="16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0010 0010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0011 0001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0764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Maske </a:t>
                      </a:r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de-DE" sz="16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15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Netzanteil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  <a:endParaRPr lang="de-DE" sz="16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  <a:endParaRPr lang="de-DE" sz="16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0010 0010</a:t>
                      </a:r>
                      <a:endParaRPr lang="de-DE" sz="16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</a:t>
                      </a:r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9854107"/>
                  </a:ext>
                </a:extLst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006870"/>
              </p:ext>
            </p:extLst>
          </p:nvPr>
        </p:nvGraphicFramePr>
        <p:xfrm>
          <a:off x="1734964" y="4741228"/>
          <a:ext cx="7571017" cy="1127760"/>
        </p:xfrm>
        <a:graphic>
          <a:graphicData uri="http://schemas.openxmlformats.org/drawingml/2006/table">
            <a:tbl>
              <a:tblPr/>
              <a:tblGrid>
                <a:gridCol w="1537409">
                  <a:extLst>
                    <a:ext uri="{9D8B030D-6E8A-4147-A177-3AD203B41FA5}">
                      <a16:colId xmlns:a16="http://schemas.microsoft.com/office/drawing/2014/main" val="1314369311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51731790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2391688634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2058105413"/>
                    </a:ext>
                  </a:extLst>
                </a:gridCol>
                <a:gridCol w="1508402">
                  <a:extLst>
                    <a:ext uri="{9D8B030D-6E8A-4147-A177-3AD203B41FA5}">
                      <a16:colId xmlns:a16="http://schemas.microsoft.com/office/drawing/2014/main" val="18749685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/>
                      <a:endParaRPr lang="de-DE" sz="16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168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35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28083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IP-Adresse </a:t>
                      </a:r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de-DE" sz="16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0010 0010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0010 0011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62541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&amp; Maske </a:t>
                      </a:r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de-DE" sz="16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1111 1111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1110 0000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24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rtl="0"/>
                      <a:r>
                        <a:rPr lang="de-DE" sz="16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Netzanteil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1100 0000</a:t>
                      </a:r>
                      <a:endParaRPr lang="de-DE" sz="1600" b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1010 1000</a:t>
                      </a:r>
                      <a:endParaRPr lang="de-DE" sz="16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0010 0010</a:t>
                      </a:r>
                      <a:endParaRPr lang="de-DE" sz="16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6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001</a:t>
                      </a:r>
                      <a:r>
                        <a:rPr lang="de-DE" sz="16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0 0000</a:t>
                      </a:r>
                    </a:p>
                  </a:txBody>
                  <a:tcPr marL="19050" marR="19050" marT="19050" marB="1905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246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0703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18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IPv4-Adressen  -  Subnetzmasken</a:t>
            </a:r>
          </a:p>
          <a:p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24850" y="2076701"/>
            <a:ext cx="10428950" cy="1204689"/>
          </a:xfrm>
        </p:spPr>
        <p:txBody>
          <a:bodyPr>
            <a:normAutofit/>
          </a:bodyPr>
          <a:lstStyle/>
          <a:p>
            <a:r>
              <a:rPr lang="de-DE" dirty="0"/>
              <a:t>Notwendigkeit für die Feststellung, ob ein Zielrechner		           im eigenen oder einem entfernten Subnetz liegt: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859" y="3281390"/>
            <a:ext cx="7205471" cy="218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587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Die Länge von IPv6-Adressen beträgt 128 Bit.</a:t>
            </a:r>
          </a:p>
          <a:p>
            <a:r>
              <a:rPr lang="de-DE" dirty="0"/>
              <a:t>Die Darstellung erfolgt in acht 16-Bit-Blöcken in hexadezimaler Schreibweise, durch Doppelpunkte getrennt.</a:t>
            </a:r>
          </a:p>
          <a:p>
            <a:r>
              <a:rPr lang="de-DE" dirty="0"/>
              <a:t>Aufteilung der Adresse in einen Netz- und einen Host-Anteil, wobei die Größe des Netzanteils mithilfe einer Maske angegeben wird. </a:t>
            </a:r>
          </a:p>
          <a:p>
            <a:r>
              <a:rPr lang="de-DE" dirty="0"/>
              <a:t>Der Netzanteil besteht aus einem Präfix (Größe abhängig vom Adresstyp), der Global-ID und einer Subnetz-ID (sog. Site Level </a:t>
            </a:r>
            <a:r>
              <a:rPr lang="de-DE" dirty="0" err="1"/>
              <a:t>Aggregator</a:t>
            </a:r>
            <a:r>
              <a:rPr lang="de-DE" dirty="0"/>
              <a:t> SLA)</a:t>
            </a:r>
          </a:p>
          <a:p>
            <a:r>
              <a:rPr lang="de-DE" dirty="0"/>
              <a:t>Beispiel:   </a:t>
            </a:r>
            <a:r>
              <a:rPr lang="de-DE" b="1" dirty="0">
                <a:latin typeface="Courier New" panose="02070309020205020404" pitchFamily="49" charset="0"/>
                <a:cs typeface="Courier New" panose="02070309020205020404" pitchFamily="49" charset="0"/>
              </a:rPr>
              <a:t>2001:DB8:0:1234:ABCD:EF98:5670:1/64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19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/>
              <a:t>IPv6-Adressen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554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Unicast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-Adressen </a:t>
            </a:r>
            <a:r>
              <a:rPr lang="de-DE" dirty="0"/>
              <a:t>dienen zur eindeutigen 			       Identifikation eines Interfaces.</a:t>
            </a:r>
            <a:endParaRPr lang="de-DE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Link-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Local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-Adressen </a:t>
            </a:r>
            <a:r>
              <a:rPr lang="de-DE" dirty="0"/>
              <a:t>werden von jedem Interface automatisch selbst erzeugt.</a:t>
            </a:r>
          </a:p>
          <a:p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Unique 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Local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Address</a:t>
            </a:r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de-DE" dirty="0"/>
              <a:t>freier Adressbereich </a:t>
            </a:r>
            <a:endParaRPr lang="de-DE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Multicast-Adressen</a:t>
            </a:r>
          </a:p>
          <a:p>
            <a:r>
              <a:rPr lang="de-DE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Privacy Extension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20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/>
              <a:t>IPv6-Adressen</a:t>
            </a:r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244909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Automatische Konfiguration der Adressen 				     mittels Router-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Advertisement</a:t>
            </a:r>
            <a:endParaRPr lang="de-DE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Adressauflösung im lokalen Netz mittels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Neighbor-Solicitation</a:t>
            </a:r>
            <a:endParaRPr lang="de-DE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MTU Path Discovery (IPv6-Router darf nicht fragmentieren)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21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IPv6-Adressen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7588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1037484"/>
          </a:xfrm>
        </p:spPr>
        <p:txBody>
          <a:bodyPr/>
          <a:lstStyle/>
          <a:p>
            <a:r>
              <a:rPr lang="de-DE" dirty="0"/>
              <a:t>ARP (</a:t>
            </a:r>
            <a:r>
              <a:rPr lang="de-DE" dirty="0" err="1"/>
              <a:t>Address</a:t>
            </a:r>
            <a:r>
              <a:rPr lang="de-DE" dirty="0"/>
              <a:t> Resolution Protocol): Zuordnung der 			            IP-Adresse zur Hardware-Adresse (MAC)</a:t>
            </a:r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22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Steuerprotokolle</a:t>
            </a:r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911" y="3306641"/>
            <a:ext cx="7665284" cy="223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7877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2453497"/>
          </a:xfrm>
        </p:spPr>
        <p:txBody>
          <a:bodyPr>
            <a:normAutofit/>
          </a:bodyPr>
          <a:lstStyle/>
          <a:p>
            <a:r>
              <a:rPr lang="de-DE" dirty="0"/>
              <a:t>ICMP (Internet Control Message Protocol):	 			            Informations- und Fehlermeldungen</a:t>
            </a:r>
          </a:p>
          <a:p>
            <a:pPr lvl="1"/>
            <a:r>
              <a:rPr lang="de-DE" dirty="0"/>
              <a:t>Echo Request/Reply  (ping-Kommando)</a:t>
            </a:r>
          </a:p>
          <a:p>
            <a:pPr lvl="1"/>
            <a:r>
              <a:rPr lang="de-DE" dirty="0"/>
              <a:t>Destination </a:t>
            </a:r>
            <a:r>
              <a:rPr lang="de-DE" dirty="0" err="1"/>
              <a:t>unreachable</a:t>
            </a:r>
            <a:r>
              <a:rPr lang="de-DE" dirty="0"/>
              <a:t> (</a:t>
            </a:r>
            <a:r>
              <a:rPr lang="de-DE" dirty="0" err="1"/>
              <a:t>Subtypes</a:t>
            </a:r>
            <a:r>
              <a:rPr lang="de-DE" dirty="0"/>
              <a:t> für die Ursache des Fehlers)</a:t>
            </a:r>
          </a:p>
          <a:p>
            <a:pPr lvl="1"/>
            <a:r>
              <a:rPr lang="de-DE" dirty="0"/>
              <a:t>Time </a:t>
            </a:r>
            <a:r>
              <a:rPr lang="de-DE" dirty="0" err="1"/>
              <a:t>exceeded</a:t>
            </a:r>
            <a:r>
              <a:rPr lang="de-DE" dirty="0"/>
              <a:t> (TTL-Zähler)</a:t>
            </a:r>
          </a:p>
          <a:p>
            <a:pPr lvl="1"/>
            <a:r>
              <a:rPr lang="de-DE" dirty="0"/>
              <a:t>Redirect (bei mehreren Gateways)</a:t>
            </a:r>
          </a:p>
          <a:p>
            <a:pPr lvl="1"/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23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Steuerprotokolle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8245579"/>
              </p:ext>
            </p:extLst>
          </p:nvPr>
        </p:nvGraphicFramePr>
        <p:xfrm>
          <a:off x="2149711" y="4326782"/>
          <a:ext cx="7913913" cy="1359644"/>
        </p:xfrm>
        <a:graphic>
          <a:graphicData uri="http://schemas.openxmlformats.org/drawingml/2006/table">
            <a:tbl>
              <a:tblPr/>
              <a:tblGrid>
                <a:gridCol w="2637971">
                  <a:extLst>
                    <a:ext uri="{9D8B030D-6E8A-4147-A177-3AD203B41FA5}">
                      <a16:colId xmlns:a16="http://schemas.microsoft.com/office/drawing/2014/main" val="3370286913"/>
                    </a:ext>
                  </a:extLst>
                </a:gridCol>
                <a:gridCol w="2637971">
                  <a:extLst>
                    <a:ext uri="{9D8B030D-6E8A-4147-A177-3AD203B41FA5}">
                      <a16:colId xmlns:a16="http://schemas.microsoft.com/office/drawing/2014/main" val="3484339471"/>
                    </a:ext>
                  </a:extLst>
                </a:gridCol>
                <a:gridCol w="2637971">
                  <a:extLst>
                    <a:ext uri="{9D8B030D-6E8A-4147-A177-3AD203B41FA5}">
                      <a16:colId xmlns:a16="http://schemas.microsoft.com/office/drawing/2014/main" val="2915398198"/>
                    </a:ext>
                  </a:extLst>
                </a:gridCol>
              </a:tblGrid>
              <a:tr h="303707">
                <a:tc gridSpan="3">
                  <a:txBody>
                    <a:bodyPr/>
                    <a:lstStyle/>
                    <a:p>
                      <a:pPr rtl="0"/>
                      <a:r>
                        <a:rPr lang="de-DE" sz="1200" b="0" i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                                                                                        ….                                                                                 31</a:t>
                      </a:r>
                      <a:endParaRPr lang="de-DE" sz="12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882993"/>
                  </a:ext>
                </a:extLst>
              </a:tr>
              <a:tr h="351979"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Type 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Subtype</a:t>
                      </a:r>
                      <a:r>
                        <a:rPr lang="de-DE" sz="18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 dirty="0" err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Checksum</a:t>
                      </a:r>
                      <a:endParaRPr lang="de-DE" sz="1800" b="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557430"/>
                  </a:ext>
                </a:extLst>
              </a:tr>
              <a:tr h="351979">
                <a:tc gridSpan="2"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Identifier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1800" b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Sequence Number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103663"/>
                  </a:ext>
                </a:extLst>
              </a:tr>
              <a:tr h="351979">
                <a:tc gridSpan="3">
                  <a:txBody>
                    <a:bodyPr/>
                    <a:lstStyle/>
                    <a:p>
                      <a:pPr algn="ctr" rtl="0"/>
                      <a:r>
                        <a:rPr lang="de-DE" sz="1800" b="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Daten</a:t>
                      </a:r>
                    </a:p>
                  </a:txBody>
                  <a:tcPr marL="34925" marR="34925" marT="34925" marB="349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6E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531107"/>
                  </a:ext>
                </a:extLst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38200" y="3571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AW Frutiger Next Regular" panose="02000503050000020004" pitchFamily="2" charset="0"/>
              </a:rPr>
            </a:br>
            <a:endParaRPr kumimoji="0" lang="de-DE" altLang="de-DE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5466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Vermittlungsschicht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076702"/>
            <a:ext cx="10515600" cy="3315645"/>
          </a:xfrm>
        </p:spPr>
        <p:txBody>
          <a:bodyPr>
            <a:normAutofit/>
          </a:bodyPr>
          <a:lstStyle/>
          <a:p>
            <a:r>
              <a:rPr lang="de-DE" dirty="0"/>
              <a:t>ICMPv6</a:t>
            </a:r>
          </a:p>
          <a:p>
            <a:pPr lvl="1"/>
            <a:r>
              <a:rPr lang="de-DE" dirty="0"/>
              <a:t>Router </a:t>
            </a:r>
            <a:r>
              <a:rPr lang="de-DE" dirty="0" err="1"/>
              <a:t>Solicitation</a:t>
            </a:r>
            <a:r>
              <a:rPr lang="de-DE" dirty="0"/>
              <a:t> (Typ 133): Anfrage nach 					          einem Router </a:t>
            </a:r>
            <a:r>
              <a:rPr lang="de-DE" dirty="0" err="1"/>
              <a:t>Advertisement</a:t>
            </a:r>
            <a:endParaRPr lang="de-DE" dirty="0"/>
          </a:p>
          <a:p>
            <a:pPr lvl="1"/>
            <a:r>
              <a:rPr lang="de-DE" dirty="0"/>
              <a:t>Router </a:t>
            </a:r>
            <a:r>
              <a:rPr lang="de-DE" dirty="0" err="1"/>
              <a:t>Advertisement</a:t>
            </a:r>
            <a:r>
              <a:rPr lang="de-DE" dirty="0"/>
              <a:t> (Typ 134): Der Router macht sich im lokalen Netzwerk bekannt und liefert das IPv6-Präfix des Netzwerks, aus dem sich alle Rechner die eigene IPv6-Adresse bilden.</a:t>
            </a:r>
          </a:p>
          <a:p>
            <a:pPr lvl="1"/>
            <a:r>
              <a:rPr lang="de-DE" dirty="0" err="1"/>
              <a:t>Neighbor</a:t>
            </a:r>
            <a:r>
              <a:rPr lang="de-DE" dirty="0"/>
              <a:t> </a:t>
            </a:r>
            <a:r>
              <a:rPr lang="de-DE" dirty="0" err="1"/>
              <a:t>Solicitation</a:t>
            </a:r>
            <a:r>
              <a:rPr lang="de-DE" dirty="0"/>
              <a:t> (Typ 135): Anfrage nach Auflösung einer IPv6-Adresse in die MAC-Adresse (entsprechend ARP bei IPv4)</a:t>
            </a:r>
          </a:p>
          <a:p>
            <a:pPr lvl="1"/>
            <a:r>
              <a:rPr lang="de-DE" dirty="0" err="1"/>
              <a:t>Neighbor</a:t>
            </a:r>
            <a:r>
              <a:rPr lang="de-DE" dirty="0"/>
              <a:t> </a:t>
            </a:r>
            <a:r>
              <a:rPr lang="de-DE" dirty="0" err="1"/>
              <a:t>Advertisement</a:t>
            </a:r>
            <a:r>
              <a:rPr lang="de-DE" dirty="0"/>
              <a:t> (Typ 136): Antwort auf </a:t>
            </a:r>
            <a:r>
              <a:rPr lang="de-DE" dirty="0" err="1"/>
              <a:t>Neighbor</a:t>
            </a:r>
            <a:r>
              <a:rPr lang="de-DE" dirty="0"/>
              <a:t> </a:t>
            </a:r>
            <a:r>
              <a:rPr lang="de-DE" dirty="0" err="1"/>
              <a:t>Solicitations</a:t>
            </a:r>
            <a:endParaRPr lang="de-DE" dirty="0"/>
          </a:p>
          <a:p>
            <a:pPr lvl="1"/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B49BA4C-56A9-4FA9-AC55-D60979330A5C}" type="slidenum">
              <a:rPr lang="de-DE" altLang="de-DE" smtClean="0"/>
              <a:pPr/>
              <a:t>24</a:t>
            </a:fld>
            <a:endParaRPr lang="de-DE" alt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r>
              <a:rPr lang="de-DE" dirty="0"/>
              <a:t>Steuerprotokolle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838200" y="3571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HAW Frutiger Next Regular" panose="02000503050000020004" pitchFamily="2" charset="0"/>
              </a:rPr>
            </a:br>
            <a:endParaRPr kumimoji="0" lang="de-DE" altLang="de-DE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70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D54F1DF9B3DAC418FF0E8CBE5333DC2" ma:contentTypeVersion="14" ma:contentTypeDescription="Ein neues Dokument erstellen." ma:contentTypeScope="" ma:versionID="4e3883cde18b5c228302add6516200d1">
  <xsd:schema xmlns:xsd="http://www.w3.org/2001/XMLSchema" xmlns:xs="http://www.w3.org/2001/XMLSchema" xmlns:p="http://schemas.microsoft.com/office/2006/metadata/properties" xmlns:ns3="51ecdf59-9132-4a30-9c2b-136aff88c494" xmlns:ns4="bf1d300c-c0f9-493a-a85a-b2315d3d3899" targetNamespace="http://schemas.microsoft.com/office/2006/metadata/properties" ma:root="true" ma:fieldsID="9d1c6261aec43fa4da879f038f74cf6c" ns3:_="" ns4:_="">
    <xsd:import namespace="51ecdf59-9132-4a30-9c2b-136aff88c494"/>
    <xsd:import namespace="bf1d300c-c0f9-493a-a85a-b2315d3d389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ecdf59-9132-4a30-9c2b-136aff88c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1d300c-c0f9-493a-a85a-b2315d3d389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1ecdf59-9132-4a30-9c2b-136aff88c494" xsi:nil="true"/>
  </documentManagement>
</p:properties>
</file>

<file path=customXml/itemProps1.xml><?xml version="1.0" encoding="utf-8"?>
<ds:datastoreItem xmlns:ds="http://schemas.openxmlformats.org/officeDocument/2006/customXml" ds:itemID="{2FAFAE6A-66F8-4692-BFF0-E86E50E6BA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DDF230A-5FFB-499B-B70A-F8AFD362ED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ecdf59-9132-4a30-9c2b-136aff88c494"/>
    <ds:schemaRef ds:uri="bf1d300c-c0f9-493a-a85a-b2315d3d389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7A36A6-C5A0-4A9A-84D2-FA12F268237A}">
  <ds:schemaRefs>
    <ds:schemaRef ds:uri="http://www.w3.org/XML/1998/namespace"/>
    <ds:schemaRef ds:uri="http://schemas.microsoft.com/office/2006/metadata/properties"/>
    <ds:schemaRef ds:uri="bf1d300c-c0f9-493a-a85a-b2315d3d3899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51ecdf59-9132-4a30-9c2b-136aff88c494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1383</Words>
  <Application>Microsoft Office PowerPoint</Application>
  <PresentationFormat>Breitbild</PresentationFormat>
  <Paragraphs>319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HAW Frutiger Next Regular</vt:lpstr>
      <vt:lpstr>Symbol</vt:lpstr>
      <vt:lpstr>ヒラギノ角ゴ Pro W3</vt:lpstr>
      <vt:lpstr>Office</vt:lpstr>
      <vt:lpstr>Informatik 2  </vt:lpstr>
      <vt:lpstr>NETzwerke</vt:lpstr>
      <vt:lpstr>netzwerke</vt:lpstr>
      <vt:lpstr>netzwerke</vt:lpstr>
      <vt:lpstr>netzwerke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  <vt:lpstr>Vermittlungsschicht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Martini, Nils</dc:creator>
  <cp:lastModifiedBy>Martini, Nils</cp:lastModifiedBy>
  <cp:revision>83</cp:revision>
  <dcterms:created xsi:type="dcterms:W3CDTF">2020-07-09T08:29:18Z</dcterms:created>
  <dcterms:modified xsi:type="dcterms:W3CDTF">2025-07-25T11:31:44Z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0x010100CD54F1DF9B3DAC418FF0E8CBE5333DC2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2024-09-09T11:45:20Z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2c6cac8d-ab61-47b3-8209-4df2e46aefbc</vt:lpwstr>
  </property>
  <property fmtid="{D5CDD505-2E9C-101B-9397-08002B2CF9AE}" pid="8" name="MSIP_Label_defa4170-0d19-0005-0004-bc88714345d2_ActionId">
    <vt:lpwstr>e2e68ee7-eab7-4938-a707-ce289228e9c0</vt:lpwstr>
  </property>
  <property fmtid="{D5CDD505-2E9C-101B-9397-08002B2CF9AE}" pid="9" name="MSIP_Label_defa4170-0d19-0005-0004-bc88714345d2_ContentBits">
    <vt:lpwstr>0</vt:lpwstr>
  </property>
</Properties>
</file>