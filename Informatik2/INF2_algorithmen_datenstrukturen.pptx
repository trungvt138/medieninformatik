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  <p:sldId id="276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93EA7-E58E-46E7-8DA6-D28D837322AF}" v="5" dt="2025-07-25T11:37:33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87" autoAdjust="0"/>
  </p:normalViewPr>
  <p:slideViewPr>
    <p:cSldViewPr snapToGrid="0">
      <p:cViewPr varScale="1">
        <p:scale>
          <a:sx n="79" d="100"/>
          <a:sy n="79" d="100"/>
        </p:scale>
        <p:origin x="122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27693EA7-E58E-46E7-8DA6-D28D837322AF}"/>
    <pc:docChg chg="modSld modMainMaster">
      <pc:chgData name="Martini, Nils" userId="c34194c2-71ae-47de-8ef3-60d691fbf90d" providerId="ADAL" clId="{27693EA7-E58E-46E7-8DA6-D28D837322AF}" dt="2025-07-25T11:37:39.973" v="120" actId="20577"/>
      <pc:docMkLst>
        <pc:docMk/>
      </pc:docMkLst>
      <pc:sldChg chg="modSp mod">
        <pc:chgData name="Martini, Nils" userId="c34194c2-71ae-47de-8ef3-60d691fbf90d" providerId="ADAL" clId="{27693EA7-E58E-46E7-8DA6-D28D837322AF}" dt="2025-07-25T11:36:13.232" v="18" actId="20577"/>
        <pc:sldMkLst>
          <pc:docMk/>
          <pc:sldMk cId="925675539" sldId="256"/>
        </pc:sldMkLst>
        <pc:spChg chg="mod">
          <ac:chgData name="Martini, Nils" userId="c34194c2-71ae-47de-8ef3-60d691fbf90d" providerId="ADAL" clId="{27693EA7-E58E-46E7-8DA6-D28D837322AF}" dt="2025-07-25T11:36:02.966" v="5" actId="20577"/>
          <ac:spMkLst>
            <pc:docMk/>
            <pc:sldMk cId="925675539" sldId="256"/>
            <ac:spMk id="2" creationId="{00000000-0000-0000-0000-000000000000}"/>
          </ac:spMkLst>
        </pc:spChg>
        <pc:spChg chg="mod">
          <ac:chgData name="Martini, Nils" userId="c34194c2-71ae-47de-8ef3-60d691fbf90d" providerId="ADAL" clId="{27693EA7-E58E-46E7-8DA6-D28D837322AF}" dt="2025-07-25T11:36:13.232" v="18" actId="20577"/>
          <ac:spMkLst>
            <pc:docMk/>
            <pc:sldMk cId="925675539" sldId="256"/>
            <ac:spMk id="3" creationId="{00000000-0000-0000-0000-000000000000}"/>
          </ac:spMkLst>
        </pc:spChg>
      </pc:sldChg>
      <pc:sldMasterChg chg="modSldLayout">
        <pc:chgData name="Martini, Nils" userId="c34194c2-71ae-47de-8ef3-60d691fbf90d" providerId="ADAL" clId="{27693EA7-E58E-46E7-8DA6-D28D837322AF}" dt="2025-07-25T11:37:39.973" v="120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27693EA7-E58E-46E7-8DA6-D28D837322AF}" dt="2025-07-25T11:37:39.973" v="120" actId="20577"/>
          <pc:sldLayoutMkLst>
            <pc:docMk/>
            <pc:sldMasterMk cId="3883322421" sldId="2147483648"/>
            <pc:sldLayoutMk cId="2231645580" sldId="2147483650"/>
          </pc:sldLayoutMkLst>
          <pc:spChg chg="mod">
            <ac:chgData name="Martini, Nils" userId="c34194c2-71ae-47de-8ef3-60d691fbf90d" providerId="ADAL" clId="{27693EA7-E58E-46E7-8DA6-D28D837322AF}" dt="2025-07-25T11:37:39.973" v="120" actId="20577"/>
            <ac:spMkLst>
              <pc:docMk/>
              <pc:sldMasterMk cId="3883322421" sldId="2147483648"/>
              <pc:sldLayoutMk cId="2231645580" sldId="2147483650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27693EA7-E58E-46E7-8DA6-D28D837322AF}" dt="2025-07-25T11:37:33.395" v="101"/>
            <ac:spMkLst>
              <pc:docMk/>
              <pc:sldMasterMk cId="3883322421" sldId="2147483648"/>
              <pc:sldLayoutMk cId="2231645580" sldId="2147483650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27693EA7-E58E-46E7-8DA6-D28D837322AF}" dt="2025-07-25T11:37:12.685" v="80" actId="20577"/>
          <pc:sldLayoutMkLst>
            <pc:docMk/>
            <pc:sldMasterMk cId="3883322421" sldId="2147483648"/>
            <pc:sldLayoutMk cId="687458762" sldId="2147483652"/>
          </pc:sldLayoutMkLst>
          <pc:spChg chg="mod">
            <ac:chgData name="Martini, Nils" userId="c34194c2-71ae-47de-8ef3-60d691fbf90d" providerId="ADAL" clId="{27693EA7-E58E-46E7-8DA6-D28D837322AF}" dt="2025-07-25T11:37:12.685" v="80" actId="20577"/>
            <ac:spMkLst>
              <pc:docMk/>
              <pc:sldMasterMk cId="3883322421" sldId="2147483648"/>
              <pc:sldLayoutMk cId="687458762" sldId="2147483652"/>
              <ac:spMk id="9" creationId="{00000000-0000-0000-0000-000000000000}"/>
            </ac:spMkLst>
          </pc:spChg>
          <pc:spChg chg="mod">
            <ac:chgData name="Martini, Nils" userId="c34194c2-71ae-47de-8ef3-60d691fbf90d" providerId="ADAL" clId="{27693EA7-E58E-46E7-8DA6-D28D837322AF}" dt="2025-07-25T11:37:06.372" v="61"/>
            <ac:spMkLst>
              <pc:docMk/>
              <pc:sldMasterMk cId="3883322421" sldId="2147483648"/>
              <pc:sldLayoutMk cId="687458762" sldId="2147483652"/>
              <ac:spMk id="10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27693EA7-E58E-46E7-8DA6-D28D837322AF}" dt="2025-07-25T11:36:50.059" v="60" actId="20577"/>
          <pc:sldLayoutMkLst>
            <pc:docMk/>
            <pc:sldMasterMk cId="3883322421" sldId="2147483648"/>
            <pc:sldLayoutMk cId="897819904" sldId="2147483654"/>
          </pc:sldLayoutMkLst>
          <pc:spChg chg="mod">
            <ac:chgData name="Martini, Nils" userId="c34194c2-71ae-47de-8ef3-60d691fbf90d" providerId="ADAL" clId="{27693EA7-E58E-46E7-8DA6-D28D837322AF}" dt="2025-07-25T11:36:50.059" v="60" actId="20577"/>
            <ac:spMkLst>
              <pc:docMk/>
              <pc:sldMasterMk cId="3883322421" sldId="2147483648"/>
              <pc:sldLayoutMk cId="897819904" sldId="2147483654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27693EA7-E58E-46E7-8DA6-D28D837322AF}" dt="2025-07-25T11:36:42.953" v="39"/>
            <ac:spMkLst>
              <pc:docMk/>
              <pc:sldMasterMk cId="3883322421" sldId="2147483648"/>
              <pc:sldLayoutMk cId="897819904" sldId="2147483654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27693EA7-E58E-46E7-8DA6-D28D837322AF}" dt="2025-07-25T11:37:25.549" v="100" actId="20577"/>
          <pc:sldLayoutMkLst>
            <pc:docMk/>
            <pc:sldMasterMk cId="3883322421" sldId="2147483648"/>
            <pc:sldLayoutMk cId="4073662840" sldId="2147483660"/>
          </pc:sldLayoutMkLst>
          <pc:spChg chg="mod">
            <ac:chgData name="Martini, Nils" userId="c34194c2-71ae-47de-8ef3-60d691fbf90d" providerId="ADAL" clId="{27693EA7-E58E-46E7-8DA6-D28D837322AF}" dt="2025-07-25T11:37:25.549" v="100" actId="20577"/>
            <ac:spMkLst>
              <pc:docMk/>
              <pc:sldMasterMk cId="3883322421" sldId="2147483648"/>
              <pc:sldLayoutMk cId="4073662840" sldId="2147483660"/>
              <ac:spMk id="10" creationId="{00000000-0000-0000-0000-000000000000}"/>
            </ac:spMkLst>
          </pc:spChg>
          <pc:spChg chg="mod">
            <ac:chgData name="Martini, Nils" userId="c34194c2-71ae-47de-8ef3-60d691fbf90d" providerId="ADAL" clId="{27693EA7-E58E-46E7-8DA6-D28D837322AF}" dt="2025-07-25T11:37:18.638" v="81"/>
            <ac:spMkLst>
              <pc:docMk/>
              <pc:sldMasterMk cId="3883322421" sldId="2147483648"/>
              <pc:sldLayoutMk cId="4073662840" sldId="2147483660"/>
              <ac:spMk id="11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27693EA7-E58E-46E7-8DA6-D28D837322AF}" dt="2025-07-25T11:36:34.776" v="38" actId="20577"/>
          <pc:sldLayoutMkLst>
            <pc:docMk/>
            <pc:sldMasterMk cId="3883322421" sldId="2147483648"/>
            <pc:sldLayoutMk cId="1060590665" sldId="2147483661"/>
          </pc:sldLayoutMkLst>
          <pc:spChg chg="mod">
            <ac:chgData name="Martini, Nils" userId="c34194c2-71ae-47de-8ef3-60d691fbf90d" providerId="ADAL" clId="{27693EA7-E58E-46E7-8DA6-D28D837322AF}" dt="2025-07-25T11:36:34.776" v="38" actId="20577"/>
            <ac:spMkLst>
              <pc:docMk/>
              <pc:sldMasterMk cId="3883322421" sldId="2147483648"/>
              <pc:sldLayoutMk cId="1060590665" sldId="2147483661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27693EA7-E58E-46E7-8DA6-D28D837322AF}" dt="2025-07-25T11:36:29.249" v="19"/>
            <ac:spMkLst>
              <pc:docMk/>
              <pc:sldMasterMk cId="3883322421" sldId="2147483648"/>
              <pc:sldLayoutMk cId="1060590665" sldId="2147483661"/>
              <ac:spMk id="9" creationId="{00000000-0000-0000-0000-000000000000}"/>
            </ac:spMkLst>
          </pc:spChg>
        </pc:sldLayoutChg>
      </pc:sldMasterChg>
    </pc:docChg>
  </pc:docChgLst>
  <pc:docChgLst>
    <pc:chgData name="Martini, Nils" userId="c34194c2-71ae-47de-8ef3-60d691fbf90d" providerId="ADAL" clId="{845FA5FA-E623-487C-9D05-A4CBD36A6C64}"/>
    <pc:docChg chg="modSld">
      <pc:chgData name="Martini, Nils" userId="c34194c2-71ae-47de-8ef3-60d691fbf90d" providerId="ADAL" clId="{845FA5FA-E623-487C-9D05-A4CBD36A6C64}" dt="2024-09-09T11:45:00.173" v="12" actId="20577"/>
      <pc:docMkLst>
        <pc:docMk/>
      </pc:docMkLst>
      <pc:sldChg chg="modSp mod">
        <pc:chgData name="Martini, Nils" userId="c34194c2-71ae-47de-8ef3-60d691fbf90d" providerId="ADAL" clId="{845FA5FA-E623-487C-9D05-A4CBD36A6C64}" dt="2024-09-09T11:45:00.173" v="12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1B139375-38CE-47D9-91DB-0D2AD7E77E3A}"/>
    <pc:docChg chg="modSld">
      <pc:chgData name="Martini, Nils" userId="c34194c2-71ae-47de-8ef3-60d691fbf90d" providerId="ADAL" clId="{1B139375-38CE-47D9-91DB-0D2AD7E77E3A}" dt="2025-02-26T07:59:17.386" v="12" actId="20577"/>
      <pc:docMkLst>
        <pc:docMk/>
      </pc:docMkLst>
      <pc:sldChg chg="modSp mod">
        <pc:chgData name="Martini, Nils" userId="c34194c2-71ae-47de-8ef3-60d691fbf90d" providerId="ADAL" clId="{1B139375-38CE-47D9-91DB-0D2AD7E77E3A}" dt="2025-02-26T07:59:17.386" v="12" actId="20577"/>
        <pc:sldMkLst>
          <pc:docMk/>
          <pc:sldMk cId="925675539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25.07.2025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D0291-3554-4C30-8D4B-12D5FB45146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16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Überschrift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3670067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22" hasCustomPrompt="1"/>
          </p:nvPr>
        </p:nvSpPr>
        <p:spPr>
          <a:xfrm>
            <a:off x="838200" y="1299513"/>
            <a:ext cx="10515600" cy="45613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059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20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263368"/>
            <a:ext cx="9144000" cy="2299688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Algorithmen und Datenstrukturen</a:t>
            </a:r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313649"/>
          </a:xfrm>
        </p:spPr>
        <p:txBody>
          <a:bodyPr>
            <a:normAutofit/>
          </a:bodyPr>
          <a:lstStyle/>
          <a:p>
            <a:r>
              <a:rPr lang="de-DE" dirty="0"/>
              <a:t>Ein Array (Feld) speichert Elemente (Variablen) 		 	        eines bestimmten Typs </a:t>
            </a:r>
          </a:p>
          <a:p>
            <a:r>
              <a:rPr lang="de-DE" dirty="0"/>
              <a:t>Anzahl und Typ der Elemente und die Gesamtgröße des Feldes werden z.B. beim Initialisieren eines Programms festgelegt, soweit möglich wird ein zusammenhängender Speicherbereich dafür reserviert. </a:t>
            </a:r>
          </a:p>
          <a:p>
            <a:r>
              <a:rPr lang="de-DE" dirty="0"/>
              <a:t>Vertauschen von Elementen durch Umkopieren der Speicherplätze, Einfügen neuer Elemente, durch Einsetzen an die letzte freie Stelle.</a:t>
            </a:r>
          </a:p>
          <a:p>
            <a:r>
              <a:rPr lang="de-DE" dirty="0"/>
              <a:t>Beim Löschen wird der betreffende Speicherplatz geleert und durch das letzte Element ersetzt, damit keine Lücken entstehen</a:t>
            </a:r>
          </a:p>
          <a:p>
            <a:r>
              <a:rPr lang="de-DE" dirty="0"/>
              <a:t>jedes Element A(i) ist direkt über seinen Index im Speicherbereich ansprechbar.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Feld/Array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544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57617"/>
          </a:xfrm>
        </p:spPr>
        <p:txBody>
          <a:bodyPr>
            <a:normAutofit/>
          </a:bodyPr>
          <a:lstStyle/>
          <a:p>
            <a:r>
              <a:rPr lang="de-DE" dirty="0"/>
              <a:t>Nachteil: Die Datenstruktur „Array/Feld“ ist sehr starr.</a:t>
            </a:r>
          </a:p>
          <a:p>
            <a:r>
              <a:rPr lang="de-DE" dirty="0"/>
              <a:t>Die Elemente müssen beim Löschen oder Sortieren von einem Speicherplatz auf einen anderen kopiert werden.</a:t>
            </a:r>
          </a:p>
          <a:p>
            <a:r>
              <a:rPr lang="de-DE" dirty="0"/>
              <a:t>Ist ein Array vollständig belegt und soll erweitert werden, so muss zunächst der physikalische Speicherbereich vergrößert werden.</a:t>
            </a:r>
          </a:p>
          <a:p>
            <a:r>
              <a:rPr lang="de-DE" dirty="0"/>
              <a:t>Falls dies nicht möglich ist, muss ein neuer zusammenhängender Bereich gefunden werden; in diesem Fall müssen </a:t>
            </a:r>
            <a:r>
              <a:rPr lang="de-DE" u="sng" dirty="0"/>
              <a:t>alle</a:t>
            </a:r>
            <a:r>
              <a:rPr lang="de-DE" dirty="0"/>
              <a:t> Elemente vom alten Speicherplatz in den neuen umkopiert werden (sog. dynamische Datenstruktur).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Feld/Array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87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256172"/>
          </a:xfrm>
        </p:spPr>
        <p:txBody>
          <a:bodyPr>
            <a:normAutofit/>
          </a:bodyPr>
          <a:lstStyle/>
          <a:p>
            <a:r>
              <a:rPr lang="de-DE" dirty="0"/>
              <a:t>Alternative Datenstruktur: Verkettete Listen</a:t>
            </a:r>
          </a:p>
          <a:p>
            <a:r>
              <a:rPr lang="de-DE" dirty="0"/>
              <a:t>Das erste Element wird an einer beliebigen Speicherposition abgelegt; außer den eigentlichen Daten enthält das Element zusätzlich einen 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Zeiger</a:t>
            </a:r>
            <a:r>
              <a:rPr lang="de-DE" dirty="0"/>
              <a:t>, der auf den Speicherplatz des zweiten Elements verweist. </a:t>
            </a:r>
          </a:p>
          <a:p>
            <a:r>
              <a:rPr lang="de-DE" dirty="0"/>
              <a:t>Auffinden des ersten Elements: Anker, der nur aus dem Zeiger auf das erste Element besteht. </a:t>
            </a:r>
          </a:p>
          <a:p>
            <a:r>
              <a:rPr lang="de-DE" dirty="0"/>
              <a:t>Es wird </a:t>
            </a:r>
            <a:r>
              <a:rPr lang="de-DE" i="1" dirty="0"/>
              <a:t>kein</a:t>
            </a:r>
            <a:r>
              <a:rPr lang="de-DE" dirty="0"/>
              <a:t> zusammenhängender Bereich im Speicher benötigt; auch in einem stark fragmentierten Speicher lassen sich Listen anlegen. </a:t>
            </a:r>
          </a:p>
          <a:p>
            <a:r>
              <a:rPr lang="de-DE" dirty="0"/>
              <a:t>Der benötigte Speicherplatz ist im Vergleich zum Array größer, da </a:t>
            </a:r>
            <a:r>
              <a:rPr lang="de-DE" dirty="0" err="1"/>
              <a:t>zusätz-lich</a:t>
            </a:r>
            <a:r>
              <a:rPr lang="de-DE" dirty="0"/>
              <a:t> die Information des Zeigers in jedem Element enthalten sein muss.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Verkettete Liste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7083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Beispiel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Verkettete Liste</a:t>
            </a:r>
          </a:p>
          <a:p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84" y="2661015"/>
            <a:ext cx="7146106" cy="70668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584" y="3445469"/>
            <a:ext cx="7193008" cy="99141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584" y="4792365"/>
            <a:ext cx="9241628" cy="72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Aussage über die asymptotische Laufzeit-			        </a:t>
            </a:r>
            <a:r>
              <a:rPr lang="de-DE" dirty="0" err="1"/>
              <a:t>komplexität</a:t>
            </a:r>
            <a:r>
              <a:rPr lang="de-DE" dirty="0"/>
              <a:t> bzgl. einer zunehmenden Problemgröße n. </a:t>
            </a:r>
          </a:p>
          <a:p>
            <a:r>
              <a:rPr lang="de-DE" dirty="0"/>
              <a:t>Die Frage ist: Wird ein Algorithmus/Programm in einer begrenzten, in der Praxis brauchbaren Zeit beendet sein, auch wenn die Problemgröße zunimmt? </a:t>
            </a:r>
          </a:p>
          <a:p>
            <a:r>
              <a:rPr lang="de-DE" dirty="0"/>
              <a:t>Oder umgekehrt: Welche Größenordnung der Laufzeit ist (im Best Case) mindestens zu erwarten?</a:t>
            </a:r>
          </a:p>
          <a:p>
            <a:r>
              <a:rPr lang="de-DE" dirty="0"/>
              <a:t>Für diese Abschätzungen bzw. die Einordnung in Funktionsklassen dienen die </a:t>
            </a:r>
            <a:r>
              <a:rPr lang="de-DE" b="1" dirty="0"/>
              <a:t>Landau-Symbole</a:t>
            </a:r>
            <a:r>
              <a:rPr lang="de-DE" dirty="0"/>
              <a:t> Ο (Groß-Oh), Ω (Omega) und Θ (Theta).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Laufzeitabschätzung</a:t>
            </a:r>
          </a:p>
        </p:txBody>
      </p:sp>
    </p:spTree>
    <p:extLst>
      <p:ext uri="{BB962C8B-B14F-4D97-AF65-F5344CB8AC3E}">
        <p14:creationId xmlns:p14="http://schemas.microsoft.com/office/powerpoint/2010/main" val="2510741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Wächst eine Funktion f(n) nicht wesentlich schneller			             als eine Funktion g(n), so schreibt man: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∈ Ο(g(n)) </a:t>
            </a:r>
            <a:r>
              <a:rPr lang="de-DE" dirty="0"/>
              <a:t>mit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≤ c· g(n) </a:t>
            </a:r>
            <a:r>
              <a:rPr lang="de-DE" dirty="0"/>
              <a:t>mit konstantem Faktor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c ∈ ℝ </a:t>
            </a:r>
          </a:p>
          <a:p>
            <a:pPr marL="0" indent="0">
              <a:buNone/>
            </a:pPr>
            <a:r>
              <a:rPr lang="de-DE" dirty="0"/>
              <a:t>	 g(n) ist eine grobe Abschätzung nach oben</a:t>
            </a:r>
          </a:p>
          <a:p>
            <a:r>
              <a:rPr lang="de-DE" dirty="0"/>
              <a:t>Umgekehrt als Abschätzung nach unten: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∈ Ω(g(n))  </a:t>
            </a:r>
            <a:r>
              <a:rPr lang="de-DE" dirty="0"/>
              <a:t>mit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≥ c· g(n) </a:t>
            </a:r>
          </a:p>
          <a:p>
            <a:r>
              <a:rPr lang="de-DE" dirty="0"/>
              <a:t>und als Schnittmenge von beiden: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Θ(g(n)) = Ο(g(n)) ∩ Ω(g(n)) </a:t>
            </a:r>
          </a:p>
          <a:p>
            <a:r>
              <a:rPr lang="de-DE" dirty="0"/>
              <a:t>Als „Vergleichsfunktion g(n)“ werden häufig folgende Funktionen verwendet: 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, n</a:t>
            </a:r>
            <a:r>
              <a:rPr lang="de-DE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, n · log n, n, √n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Laufzeitabschätzung</a:t>
            </a:r>
          </a:p>
        </p:txBody>
      </p:sp>
    </p:spTree>
    <p:extLst>
      <p:ext uri="{BB962C8B-B14F-4D97-AF65-F5344CB8AC3E}">
        <p14:creationId xmlns:p14="http://schemas.microsoft.com/office/powerpoint/2010/main" val="377053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und </a:t>
            </a:r>
            <a:r>
              <a:rPr lang="de-DE" dirty="0" err="1"/>
              <a:t>datenstrukturen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88968"/>
          </a:xfrm>
        </p:spPr>
        <p:txBody>
          <a:bodyPr>
            <a:normAutofit/>
          </a:bodyPr>
          <a:lstStyle/>
          <a:p>
            <a:r>
              <a:rPr lang="de-DE" dirty="0"/>
              <a:t>Die Symbole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Ο</a:t>
            </a:r>
            <a:r>
              <a:rPr lang="de-DE" dirty="0"/>
              <a:t> und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Ω</a:t>
            </a:r>
            <a:r>
              <a:rPr lang="de-DE" dirty="0"/>
              <a:t> sind komplementär 			        zueinander, d.h. wenn 								        	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∈ Ο(g(n))</a:t>
            </a:r>
            <a:r>
              <a:rPr lang="de-DE" dirty="0"/>
              <a:t>   so ist  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g(n) ∈ Ω(f(n)) </a:t>
            </a:r>
          </a:p>
          <a:p>
            <a:r>
              <a:rPr lang="de-DE" dirty="0"/>
              <a:t>Und: 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 ∈ Θ(g(n))  ⟺  g(n) ∈ Θ(f(n)) </a:t>
            </a:r>
          </a:p>
          <a:p>
            <a:r>
              <a:rPr lang="de-DE" dirty="0"/>
              <a:t>In einer Abschätzung nach oben kann die schwächere Funktion weg-gelassen werden, bzw. in einer Abschätzung nach unten die stärkere: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f(n) ∈ Ο(g(n)) ⟹ Ο(f(n)+g(n)) = Ο(g(n))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f(n) ∈ Ω(g(n)) ⟹ Ω(f(n)+g(n)) = Ω(g(n))</a:t>
            </a:r>
          </a:p>
          <a:p>
            <a:r>
              <a:rPr lang="de-DE" dirty="0"/>
              <a:t>z.B.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f(n)= n </a:t>
            </a:r>
            <a:r>
              <a:rPr lang="de-DE" dirty="0"/>
              <a:t>und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g(n)= n· log n    </a:t>
            </a:r>
            <a:r>
              <a:rPr lang="de-DE" dirty="0"/>
              <a:t>so gilt 			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Ο(n + n· log n) = Ο(n· log n)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Laufzeitabschätzung</a:t>
            </a:r>
          </a:p>
        </p:txBody>
      </p:sp>
    </p:spTree>
    <p:extLst>
      <p:ext uri="{BB962C8B-B14F-4D97-AF65-F5344CB8AC3E}">
        <p14:creationId xmlns:p14="http://schemas.microsoft.com/office/powerpoint/2010/main" val="111306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Sortieren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Sortieren durch Auswahl</a:t>
            </a:r>
          </a:p>
          <a:p>
            <a:endParaRPr lang="de-DE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45119"/>
              </p:ext>
            </p:extLst>
          </p:nvPr>
        </p:nvGraphicFramePr>
        <p:xfrm>
          <a:off x="1018904" y="2010950"/>
          <a:ext cx="10047946" cy="429191"/>
        </p:xfrm>
        <a:graphic>
          <a:graphicData uri="http://schemas.openxmlformats.org/drawingml/2006/table">
            <a:tbl>
              <a:tblPr/>
              <a:tblGrid>
                <a:gridCol w="2586442">
                  <a:extLst>
                    <a:ext uri="{9D8B030D-6E8A-4147-A177-3AD203B41FA5}">
                      <a16:colId xmlns:a16="http://schemas.microsoft.com/office/drawing/2014/main" val="3848019299"/>
                    </a:ext>
                  </a:extLst>
                </a:gridCol>
                <a:gridCol w="1233134">
                  <a:extLst>
                    <a:ext uri="{9D8B030D-6E8A-4147-A177-3AD203B41FA5}">
                      <a16:colId xmlns:a16="http://schemas.microsoft.com/office/drawing/2014/main" val="3715253231"/>
                    </a:ext>
                  </a:extLst>
                </a:gridCol>
                <a:gridCol w="1259260">
                  <a:extLst>
                    <a:ext uri="{9D8B030D-6E8A-4147-A177-3AD203B41FA5}">
                      <a16:colId xmlns:a16="http://schemas.microsoft.com/office/drawing/2014/main" val="3423091597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111708211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4147518229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90490635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80773506"/>
                    </a:ext>
                  </a:extLst>
                </a:gridCol>
              </a:tblGrid>
              <a:tr h="429191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Position k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98285"/>
                  </a:ext>
                </a:extLst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31102"/>
              </p:ext>
            </p:extLst>
          </p:nvPr>
        </p:nvGraphicFramePr>
        <p:xfrm>
          <a:off x="1018905" y="2440141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285336902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698486886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02846208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58145487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58697509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23639463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48773594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A(k), Schlüssel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28377"/>
                  </a:ext>
                </a:extLst>
              </a:tr>
            </a:tbl>
          </a:graphicData>
        </a:graphic>
      </p:graphicFrame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81497"/>
              </p:ext>
            </p:extLst>
          </p:nvPr>
        </p:nvGraphicFramePr>
        <p:xfrm>
          <a:off x="1018905" y="2904253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285336902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698486886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02846208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58145487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58697509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23639463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48773594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28377"/>
                  </a:ext>
                </a:extLst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90035"/>
              </p:ext>
            </p:extLst>
          </p:nvPr>
        </p:nvGraphicFramePr>
        <p:xfrm>
          <a:off x="1018904" y="3356226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272987766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758225798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3670580721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425483806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39126165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677549037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55101986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194885"/>
                  </a:ext>
                </a:extLst>
              </a:tr>
            </a:tbl>
          </a:graphicData>
        </a:graphic>
      </p:graphicFrame>
      <p:graphicFrame>
        <p:nvGraphicFramePr>
          <p:cNvPr id="13" name="Tabel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92798"/>
              </p:ext>
            </p:extLst>
          </p:nvPr>
        </p:nvGraphicFramePr>
        <p:xfrm>
          <a:off x="1018903" y="3820338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49248678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533576132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65483830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410953705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852374341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811246548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659138058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963544"/>
                  </a:ext>
                </a:extLst>
              </a:tr>
            </a:tbl>
          </a:graphicData>
        </a:graphic>
      </p:graphicFrame>
      <p:graphicFrame>
        <p:nvGraphicFramePr>
          <p:cNvPr id="14" name="Tabel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60935"/>
              </p:ext>
            </p:extLst>
          </p:nvPr>
        </p:nvGraphicFramePr>
        <p:xfrm>
          <a:off x="1018902" y="4284450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097390028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494320134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1641282363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940343388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3242133627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449924420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210257243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050183"/>
                  </a:ext>
                </a:extLst>
              </a:tr>
            </a:tbl>
          </a:graphicData>
        </a:graphic>
      </p:graphicFrame>
      <p:graphicFrame>
        <p:nvGraphicFramePr>
          <p:cNvPr id="16" name="Tabel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421686"/>
              </p:ext>
            </p:extLst>
          </p:nvPr>
        </p:nvGraphicFramePr>
        <p:xfrm>
          <a:off x="1018901" y="4736423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3040493438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1563685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545005096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109510073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462232859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90094496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8271366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56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Sortieren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Sortieren durch Einfügen</a:t>
            </a:r>
          </a:p>
          <a:p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232254"/>
              </p:ext>
            </p:extLst>
          </p:nvPr>
        </p:nvGraphicFramePr>
        <p:xfrm>
          <a:off x="880358" y="2380405"/>
          <a:ext cx="10047946" cy="429191"/>
        </p:xfrm>
        <a:graphic>
          <a:graphicData uri="http://schemas.openxmlformats.org/drawingml/2006/table">
            <a:tbl>
              <a:tblPr/>
              <a:tblGrid>
                <a:gridCol w="2586442">
                  <a:extLst>
                    <a:ext uri="{9D8B030D-6E8A-4147-A177-3AD203B41FA5}">
                      <a16:colId xmlns:a16="http://schemas.microsoft.com/office/drawing/2014/main" val="3848019299"/>
                    </a:ext>
                  </a:extLst>
                </a:gridCol>
                <a:gridCol w="1233134">
                  <a:extLst>
                    <a:ext uri="{9D8B030D-6E8A-4147-A177-3AD203B41FA5}">
                      <a16:colId xmlns:a16="http://schemas.microsoft.com/office/drawing/2014/main" val="3715253231"/>
                    </a:ext>
                  </a:extLst>
                </a:gridCol>
                <a:gridCol w="1259260">
                  <a:extLst>
                    <a:ext uri="{9D8B030D-6E8A-4147-A177-3AD203B41FA5}">
                      <a16:colId xmlns:a16="http://schemas.microsoft.com/office/drawing/2014/main" val="3423091597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111708211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4147518229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90490635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80773506"/>
                    </a:ext>
                  </a:extLst>
                </a:gridCol>
              </a:tblGrid>
              <a:tr h="429191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Position k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34925" marR="34925" marT="34925" marB="349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98285"/>
                  </a:ext>
                </a:extLst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740756"/>
              </p:ext>
            </p:extLst>
          </p:nvPr>
        </p:nvGraphicFramePr>
        <p:xfrm>
          <a:off x="880359" y="2809596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285336902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698486886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02846208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58145487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58697509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23639463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48773594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A(k), Schlüssel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28377"/>
                  </a:ext>
                </a:extLst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383343"/>
              </p:ext>
            </p:extLst>
          </p:nvPr>
        </p:nvGraphicFramePr>
        <p:xfrm>
          <a:off x="880359" y="3273708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285336902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698486886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02846208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58145487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58697509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23639463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48773594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28377"/>
                  </a:ext>
                </a:extLst>
              </a:tr>
            </a:tbl>
          </a:graphicData>
        </a:graphic>
      </p:graphicFrame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005322"/>
              </p:ext>
            </p:extLst>
          </p:nvPr>
        </p:nvGraphicFramePr>
        <p:xfrm>
          <a:off x="880358" y="3725681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272987766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758225798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3670580721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4254838069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391261653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677549037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55101986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194885"/>
                  </a:ext>
                </a:extLst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82152"/>
              </p:ext>
            </p:extLst>
          </p:nvPr>
        </p:nvGraphicFramePr>
        <p:xfrm>
          <a:off x="880357" y="4189793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492486784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533576132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665483830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410953705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852374341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811246548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659138058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963544"/>
                  </a:ext>
                </a:extLst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132157"/>
              </p:ext>
            </p:extLst>
          </p:nvPr>
        </p:nvGraphicFramePr>
        <p:xfrm>
          <a:off x="880356" y="4653905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1097390028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2494320134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1641282363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940343388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3242133627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1449924420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1210257243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050183"/>
                  </a:ext>
                </a:extLst>
              </a:tr>
            </a:tbl>
          </a:graphicData>
        </a:graphic>
      </p:graphicFrame>
      <p:graphicFrame>
        <p:nvGraphicFramePr>
          <p:cNvPr id="13" name="Tabel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903004"/>
              </p:ext>
            </p:extLst>
          </p:nvPr>
        </p:nvGraphicFramePr>
        <p:xfrm>
          <a:off x="880355" y="5105878"/>
          <a:ext cx="10047945" cy="465038"/>
        </p:xfrm>
        <a:graphic>
          <a:graphicData uri="http://schemas.openxmlformats.org/drawingml/2006/table">
            <a:tbl>
              <a:tblPr/>
              <a:tblGrid>
                <a:gridCol w="2581216">
                  <a:extLst>
                    <a:ext uri="{9D8B030D-6E8A-4147-A177-3AD203B41FA5}">
                      <a16:colId xmlns:a16="http://schemas.microsoft.com/office/drawing/2014/main" val="3040493438"/>
                    </a:ext>
                  </a:extLst>
                </a:gridCol>
                <a:gridCol w="1248809">
                  <a:extLst>
                    <a:ext uri="{9D8B030D-6E8A-4147-A177-3AD203B41FA5}">
                      <a16:colId xmlns:a16="http://schemas.microsoft.com/office/drawing/2014/main" val="11563685"/>
                    </a:ext>
                  </a:extLst>
                </a:gridCol>
                <a:gridCol w="1261628">
                  <a:extLst>
                    <a:ext uri="{9D8B030D-6E8A-4147-A177-3AD203B41FA5}">
                      <a16:colId xmlns:a16="http://schemas.microsoft.com/office/drawing/2014/main" val="545005096"/>
                    </a:ext>
                  </a:extLst>
                </a:gridCol>
                <a:gridCol w="1220317">
                  <a:extLst>
                    <a:ext uri="{9D8B030D-6E8A-4147-A177-3AD203B41FA5}">
                      <a16:colId xmlns:a16="http://schemas.microsoft.com/office/drawing/2014/main" val="109510073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462232859"/>
                    </a:ext>
                  </a:extLst>
                </a:gridCol>
                <a:gridCol w="1248112">
                  <a:extLst>
                    <a:ext uri="{9D8B030D-6E8A-4147-A177-3AD203B41FA5}">
                      <a16:colId xmlns:a16="http://schemas.microsoft.com/office/drawing/2014/main" val="900944961"/>
                    </a:ext>
                  </a:extLst>
                </a:gridCol>
                <a:gridCol w="1244279">
                  <a:extLst>
                    <a:ext uri="{9D8B030D-6E8A-4147-A177-3AD203B41FA5}">
                      <a16:colId xmlns:a16="http://schemas.microsoft.com/office/drawing/2014/main" val="282713662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Schritt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1800" b="1" i="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3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sortieren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Bubble-</a:t>
            </a:r>
            <a:r>
              <a:rPr lang="de-DE" dirty="0" err="1"/>
              <a:t>Sort</a:t>
            </a:r>
            <a:endParaRPr lang="de-DE" dirty="0"/>
          </a:p>
          <a:p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27125"/>
              </p:ext>
            </p:extLst>
          </p:nvPr>
        </p:nvGraphicFramePr>
        <p:xfrm>
          <a:off x="926118" y="2514666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159012798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20968042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60681299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69228365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83023622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83159276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054514710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90190390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02117242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529697788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Array/Liste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913168"/>
                  </a:ext>
                </a:extLst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492305"/>
              </p:ext>
            </p:extLst>
          </p:nvPr>
        </p:nvGraphicFramePr>
        <p:xfrm>
          <a:off x="926118" y="2855948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4294697200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20619265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95968204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6839683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92327965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654883479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325972858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51806886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32553452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67774312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74836"/>
                  </a:ext>
                </a:extLst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09481"/>
              </p:ext>
            </p:extLst>
          </p:nvPr>
        </p:nvGraphicFramePr>
        <p:xfrm>
          <a:off x="926118" y="3196999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3898135770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81299608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15267205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012624919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61184856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7276499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6621694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13044150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87396968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159215120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421322"/>
                  </a:ext>
                </a:extLst>
              </a:tr>
            </a:tbl>
          </a:graphicData>
        </a:graphic>
      </p:graphicFrame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574018"/>
              </p:ext>
            </p:extLst>
          </p:nvPr>
        </p:nvGraphicFramePr>
        <p:xfrm>
          <a:off x="926118" y="3544753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10078383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92943535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36870002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82594839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93197875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637641110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9899465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93873604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12348020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231423041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7643"/>
                  </a:ext>
                </a:extLst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993618"/>
              </p:ext>
            </p:extLst>
          </p:nvPr>
        </p:nvGraphicFramePr>
        <p:xfrm>
          <a:off x="926118" y="3888923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162631847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78688043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20611485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85048501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83367069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14949187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05328966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132403728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2941047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315818673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6513"/>
                  </a:ext>
                </a:extLst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882760"/>
              </p:ext>
            </p:extLst>
          </p:nvPr>
        </p:nvGraphicFramePr>
        <p:xfrm>
          <a:off x="926118" y="4235455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666033098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080296500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437324102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69934296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28973426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45802701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7778751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282004485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29820299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816791587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5761"/>
                  </a:ext>
                </a:extLst>
              </a:tr>
            </a:tbl>
          </a:graphicData>
        </a:graphic>
      </p:graphicFrame>
      <p:graphicFrame>
        <p:nvGraphicFramePr>
          <p:cNvPr id="13" name="Tabel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80329"/>
              </p:ext>
            </p:extLst>
          </p:nvPr>
        </p:nvGraphicFramePr>
        <p:xfrm>
          <a:off x="926118" y="4583239"/>
          <a:ext cx="7988462" cy="344170"/>
        </p:xfrm>
        <a:graphic>
          <a:graphicData uri="http://schemas.openxmlformats.org/drawingml/2006/table">
            <a:tbl>
              <a:tblPr/>
              <a:tblGrid>
                <a:gridCol w="1386035">
                  <a:extLst>
                    <a:ext uri="{9D8B030D-6E8A-4147-A177-3AD203B41FA5}">
                      <a16:colId xmlns:a16="http://schemas.microsoft.com/office/drawing/2014/main" val="119108262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8390041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103718027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17459087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14023527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425050982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595767091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158547194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2633608036"/>
                    </a:ext>
                  </a:extLst>
                </a:gridCol>
                <a:gridCol w="733603">
                  <a:extLst>
                    <a:ext uri="{9D8B030D-6E8A-4147-A177-3AD203B41FA5}">
                      <a16:colId xmlns:a16="http://schemas.microsoft.com/office/drawing/2014/main" val="3726934714"/>
                    </a:ext>
                  </a:extLst>
                </a:gridCol>
              </a:tblGrid>
              <a:tr h="332072">
                <a:tc>
                  <a:txBody>
                    <a:bodyPr/>
                    <a:lstStyle/>
                    <a:p>
                      <a:pPr rtl="0"/>
                      <a:r>
                        <a:rPr lang="de-DE" sz="18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r>
                        <a:rPr lang="de-DE" sz="1800" b="0" i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Durchlauf</a:t>
                      </a:r>
                      <a:endParaRPr lang="de-DE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i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950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02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sortieren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Sortieren durch rekursives Teilen</a:t>
            </a:r>
          </a:p>
          <a:p>
            <a:r>
              <a:rPr lang="de-DE" dirty="0"/>
              <a:t>Grundsätzliche Idee beim „Quick-</a:t>
            </a:r>
            <a:r>
              <a:rPr lang="de-DE" dirty="0" err="1"/>
              <a:t>Sort</a:t>
            </a:r>
            <a:r>
              <a:rPr lang="de-DE" dirty="0"/>
              <a:t>“ ist: Man nehme aus einer Folge A(1) bis A(N) ein beliebiges Element heraus (dies wird als „Pivot-Element“ bezeichnet).</a:t>
            </a:r>
          </a:p>
          <a:p>
            <a:r>
              <a:rPr lang="de-DE" dirty="0"/>
              <a:t>Man teile anhand dieses Schlüssels die Folge in zwei vorsortierte Teilfolgen. </a:t>
            </a:r>
          </a:p>
          <a:p>
            <a:r>
              <a:rPr lang="de-DE" dirty="0"/>
              <a:t>In diesen Teilfolgen wird wieder jeweils ein beliebiges Element als Pivot-Element herausgegriffen, anhand dessen diese Teilfolgen wiederum in vorsortierte Teilfolgen geteilt werden usw.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Quicksort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129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1980447" y="799922"/>
          <a:ext cx="8239880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659994153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20553332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551365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55337437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198151358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325533878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1807064272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2209522077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103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128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205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80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79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112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36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1849347" y="196498"/>
            <a:ext cx="402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zu sortierendes Ausgangsarray:</a:t>
            </a:r>
          </a:p>
        </p:txBody>
      </p:sp>
      <p:sp>
        <p:nvSpPr>
          <p:cNvPr id="7" name="Rad 6"/>
          <p:cNvSpPr/>
          <p:nvPr/>
        </p:nvSpPr>
        <p:spPr>
          <a:xfrm>
            <a:off x="9370031" y="604895"/>
            <a:ext cx="924675" cy="942137"/>
          </a:xfrm>
          <a:prstGeom prst="donut">
            <a:avLst>
              <a:gd name="adj" fmla="val 105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9892336" y="311973"/>
            <a:ext cx="181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HAW Frutiger Next Regular" panose="02000503050000020004" pitchFamily="2" charset="0"/>
              </a:rPr>
              <a:t>Pivot-Element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10261243" y="1901512"/>
            <a:ext cx="144961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Zeiger j ≤ 116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383569" y="1906925"/>
            <a:ext cx="14293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Zeiger i ≥ 116</a:t>
            </a:r>
          </a:p>
        </p:txBody>
      </p:sp>
      <p:sp>
        <p:nvSpPr>
          <p:cNvPr id="14" name="Pfeil nach oben 13"/>
          <p:cNvSpPr/>
          <p:nvPr/>
        </p:nvSpPr>
        <p:spPr>
          <a:xfrm>
            <a:off x="3942102" y="1621357"/>
            <a:ext cx="184935" cy="285568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/>
          <p:cNvSpPr/>
          <p:nvPr/>
        </p:nvSpPr>
        <p:spPr>
          <a:xfrm>
            <a:off x="3657239" y="1671975"/>
            <a:ext cx="241300" cy="234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9" name="Pfeil nach oben 18"/>
          <p:cNvSpPr/>
          <p:nvPr/>
        </p:nvSpPr>
        <p:spPr>
          <a:xfrm>
            <a:off x="9758201" y="1621357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/>
          <p:cNvSpPr/>
          <p:nvPr/>
        </p:nvSpPr>
        <p:spPr>
          <a:xfrm>
            <a:off x="9473338" y="1671975"/>
            <a:ext cx="241300" cy="2349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cxnSp>
        <p:nvCxnSpPr>
          <p:cNvPr id="21" name="Gerade Verbindung mit Pfeil 20"/>
          <p:cNvCxnSpPr/>
          <p:nvPr/>
        </p:nvCxnSpPr>
        <p:spPr>
          <a:xfrm flipH="1">
            <a:off x="9967540" y="2078891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 nach oben 22"/>
          <p:cNvSpPr/>
          <p:nvPr/>
        </p:nvSpPr>
        <p:spPr>
          <a:xfrm>
            <a:off x="8961163" y="1621357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/>
          <p:cNvSpPr/>
          <p:nvPr/>
        </p:nvSpPr>
        <p:spPr>
          <a:xfrm>
            <a:off x="8676300" y="1671975"/>
            <a:ext cx="241300" cy="2349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cxnSp>
        <p:nvCxnSpPr>
          <p:cNvPr id="25" name="Gerade Verbindung mit Pfeil 24"/>
          <p:cNvCxnSpPr/>
          <p:nvPr/>
        </p:nvCxnSpPr>
        <p:spPr>
          <a:xfrm flipH="1">
            <a:off x="9221302" y="2078891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feil nach oben 25"/>
          <p:cNvSpPr/>
          <p:nvPr/>
        </p:nvSpPr>
        <p:spPr>
          <a:xfrm>
            <a:off x="8096683" y="1615944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811820" y="1666562"/>
            <a:ext cx="241300" cy="2349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cxnSp>
        <p:nvCxnSpPr>
          <p:cNvPr id="28" name="Gerade Verbindung mit Pfeil 27"/>
          <p:cNvCxnSpPr/>
          <p:nvPr/>
        </p:nvCxnSpPr>
        <p:spPr>
          <a:xfrm flipH="1">
            <a:off x="8356822" y="2073478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/>
          <p:nvPr/>
        </p:nvCxnSpPr>
        <p:spPr>
          <a:xfrm>
            <a:off x="1908175" y="2109479"/>
            <a:ext cx="1749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feil nach oben 30"/>
          <p:cNvSpPr/>
          <p:nvPr/>
        </p:nvSpPr>
        <p:spPr>
          <a:xfrm>
            <a:off x="4787069" y="1615944"/>
            <a:ext cx="184935" cy="285568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/>
          <p:cNvSpPr/>
          <p:nvPr/>
        </p:nvSpPr>
        <p:spPr>
          <a:xfrm>
            <a:off x="4502206" y="1666562"/>
            <a:ext cx="241300" cy="234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cxnSp>
        <p:nvCxnSpPr>
          <p:cNvPr id="33" name="Gerade Verbindung mit Pfeil 32"/>
          <p:cNvCxnSpPr/>
          <p:nvPr/>
        </p:nvCxnSpPr>
        <p:spPr>
          <a:xfrm>
            <a:off x="4127037" y="2080765"/>
            <a:ext cx="313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/>
          <p:nvPr/>
        </p:nvCxnSpPr>
        <p:spPr>
          <a:xfrm flipV="1">
            <a:off x="5022850" y="2150754"/>
            <a:ext cx="3586759" cy="11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/>
          <p:cNvSpPr txBox="1"/>
          <p:nvPr/>
        </p:nvSpPr>
        <p:spPr>
          <a:xfrm>
            <a:off x="9497698" y="974227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 116</a:t>
            </a:r>
          </a:p>
        </p:txBody>
      </p:sp>
      <p:sp>
        <p:nvSpPr>
          <p:cNvPr id="41" name="Textfeld 40"/>
          <p:cNvSpPr txBox="1"/>
          <p:nvPr/>
        </p:nvSpPr>
        <p:spPr>
          <a:xfrm>
            <a:off x="10331757" y="2790593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128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8751460" y="975349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 36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4424193" y="966616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205</a:t>
            </a:r>
          </a:p>
        </p:txBody>
      </p:sp>
      <p:graphicFrame>
        <p:nvGraphicFramePr>
          <p:cNvPr id="46" name="Inhaltsplatzhalter 3"/>
          <p:cNvGraphicFramePr>
            <a:graphicFrameLocks/>
          </p:cNvGraphicFramePr>
          <p:nvPr/>
        </p:nvGraphicFramePr>
        <p:xfrm>
          <a:off x="895191" y="2562895"/>
          <a:ext cx="6591904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659994153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20553332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551365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55337437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198151358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325533878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103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36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80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79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112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graphicFrame>
        <p:nvGraphicFramePr>
          <p:cNvPr id="48" name="Inhaltsplatzhalter 3"/>
          <p:cNvGraphicFramePr>
            <a:graphicFrameLocks/>
          </p:cNvGraphicFramePr>
          <p:nvPr/>
        </p:nvGraphicFramePr>
        <p:xfrm>
          <a:off x="9376511" y="2622431"/>
          <a:ext cx="1647976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205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128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sp>
        <p:nvSpPr>
          <p:cNvPr id="49" name="Rad 48"/>
          <p:cNvSpPr/>
          <p:nvPr/>
        </p:nvSpPr>
        <p:spPr>
          <a:xfrm>
            <a:off x="10174190" y="2450414"/>
            <a:ext cx="924675" cy="942137"/>
          </a:xfrm>
          <a:prstGeom prst="donut">
            <a:avLst>
              <a:gd name="adj" fmla="val 105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11072386" y="3486712"/>
            <a:ext cx="906272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j ≤ 128</a:t>
            </a:r>
          </a:p>
        </p:txBody>
      </p:sp>
      <p:sp>
        <p:nvSpPr>
          <p:cNvPr id="51" name="Pfeil nach oben 50"/>
          <p:cNvSpPr/>
          <p:nvPr/>
        </p:nvSpPr>
        <p:spPr>
          <a:xfrm>
            <a:off x="10586721" y="3491313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Ellipse 51"/>
          <p:cNvSpPr/>
          <p:nvPr/>
        </p:nvSpPr>
        <p:spPr>
          <a:xfrm>
            <a:off x="10243974" y="3507382"/>
            <a:ext cx="303347" cy="286446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8358467" y="3486712"/>
            <a:ext cx="87696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i ≥ 128</a:t>
            </a:r>
          </a:p>
        </p:txBody>
      </p:sp>
      <p:sp>
        <p:nvSpPr>
          <p:cNvPr id="55" name="Pfeil nach oben 54"/>
          <p:cNvSpPr/>
          <p:nvPr/>
        </p:nvSpPr>
        <p:spPr>
          <a:xfrm>
            <a:off x="9689722" y="3448355"/>
            <a:ext cx="191316" cy="32676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/>
          <p:cNvSpPr/>
          <p:nvPr/>
        </p:nvSpPr>
        <p:spPr>
          <a:xfrm>
            <a:off x="9388992" y="3524984"/>
            <a:ext cx="264520" cy="2464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cxnSp>
        <p:nvCxnSpPr>
          <p:cNvPr id="57" name="Gerade Verbindung mit Pfeil 56"/>
          <p:cNvCxnSpPr/>
          <p:nvPr/>
        </p:nvCxnSpPr>
        <p:spPr>
          <a:xfrm>
            <a:off x="9160982" y="3940619"/>
            <a:ext cx="247067" cy="8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/>
          <p:cNvSpPr txBox="1"/>
          <p:nvPr/>
        </p:nvSpPr>
        <p:spPr>
          <a:xfrm>
            <a:off x="3564727" y="966615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128</a:t>
            </a:r>
          </a:p>
        </p:txBody>
      </p:sp>
      <p:sp>
        <p:nvSpPr>
          <p:cNvPr id="69" name="Textfeld 68"/>
          <p:cNvSpPr txBox="1"/>
          <p:nvPr/>
        </p:nvSpPr>
        <p:spPr>
          <a:xfrm>
            <a:off x="9362174" y="2791380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205</a:t>
            </a:r>
          </a:p>
        </p:txBody>
      </p:sp>
      <p:graphicFrame>
        <p:nvGraphicFramePr>
          <p:cNvPr id="70" name="Inhaltsplatzhalter 3"/>
          <p:cNvGraphicFramePr>
            <a:graphicFrameLocks/>
          </p:cNvGraphicFramePr>
          <p:nvPr/>
        </p:nvGraphicFramePr>
        <p:xfrm>
          <a:off x="9424410" y="4359130"/>
          <a:ext cx="1647976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128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205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sp>
        <p:nvSpPr>
          <p:cNvPr id="71" name="Rad 70"/>
          <p:cNvSpPr/>
          <p:nvPr/>
        </p:nvSpPr>
        <p:spPr>
          <a:xfrm>
            <a:off x="6603337" y="2357190"/>
            <a:ext cx="924675" cy="942137"/>
          </a:xfrm>
          <a:prstGeom prst="donut">
            <a:avLst>
              <a:gd name="adj" fmla="val 105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2" name="Textfeld 71"/>
          <p:cNvSpPr txBox="1"/>
          <p:nvPr/>
        </p:nvSpPr>
        <p:spPr>
          <a:xfrm>
            <a:off x="7223532" y="3680486"/>
            <a:ext cx="79452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j ≤ 18</a:t>
            </a:r>
          </a:p>
        </p:txBody>
      </p:sp>
      <p:sp>
        <p:nvSpPr>
          <p:cNvPr id="73" name="Pfeil nach oben 72"/>
          <p:cNvSpPr/>
          <p:nvPr/>
        </p:nvSpPr>
        <p:spPr>
          <a:xfrm>
            <a:off x="6984052" y="3299087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74" name="Ellipse 73"/>
          <p:cNvSpPr/>
          <p:nvPr/>
        </p:nvSpPr>
        <p:spPr>
          <a:xfrm>
            <a:off x="6699189" y="3349705"/>
            <a:ext cx="241300" cy="2349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cxnSp>
        <p:nvCxnSpPr>
          <p:cNvPr id="75" name="Gerade Verbindung mit Pfeil 74"/>
          <p:cNvCxnSpPr/>
          <p:nvPr/>
        </p:nvCxnSpPr>
        <p:spPr>
          <a:xfrm flipH="1">
            <a:off x="7097139" y="3645561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feld 75"/>
          <p:cNvSpPr txBox="1"/>
          <p:nvPr/>
        </p:nvSpPr>
        <p:spPr>
          <a:xfrm>
            <a:off x="262401" y="3626293"/>
            <a:ext cx="762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i ≥ 18</a:t>
            </a:r>
          </a:p>
        </p:txBody>
      </p:sp>
      <p:sp>
        <p:nvSpPr>
          <p:cNvPr id="77" name="Pfeil nach oben 76"/>
          <p:cNvSpPr/>
          <p:nvPr/>
        </p:nvSpPr>
        <p:spPr>
          <a:xfrm>
            <a:off x="1319552" y="3221814"/>
            <a:ext cx="184935" cy="285568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Ellipse 77"/>
          <p:cNvSpPr/>
          <p:nvPr/>
        </p:nvSpPr>
        <p:spPr>
          <a:xfrm>
            <a:off x="1034689" y="3272432"/>
            <a:ext cx="241300" cy="234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cxnSp>
        <p:nvCxnSpPr>
          <p:cNvPr id="79" name="Gerade Verbindung mit Pfeil 78"/>
          <p:cNvCxnSpPr/>
          <p:nvPr/>
        </p:nvCxnSpPr>
        <p:spPr>
          <a:xfrm>
            <a:off x="900868" y="3575016"/>
            <a:ext cx="247067" cy="8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Pfeil nach oben 79"/>
          <p:cNvSpPr/>
          <p:nvPr/>
        </p:nvSpPr>
        <p:spPr>
          <a:xfrm>
            <a:off x="2917146" y="3221814"/>
            <a:ext cx="184935" cy="285568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Ellipse 80"/>
          <p:cNvSpPr/>
          <p:nvPr/>
        </p:nvSpPr>
        <p:spPr>
          <a:xfrm>
            <a:off x="2632283" y="3272432"/>
            <a:ext cx="241300" cy="234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cxnSp>
        <p:nvCxnSpPr>
          <p:cNvPr id="82" name="Gerade Verbindung mit Pfeil 81"/>
          <p:cNvCxnSpPr/>
          <p:nvPr/>
        </p:nvCxnSpPr>
        <p:spPr>
          <a:xfrm>
            <a:off x="1446072" y="3701708"/>
            <a:ext cx="1306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/>
          <p:cNvCxnSpPr/>
          <p:nvPr/>
        </p:nvCxnSpPr>
        <p:spPr>
          <a:xfrm flipH="1" flipV="1">
            <a:off x="2517775" y="3791546"/>
            <a:ext cx="4295280" cy="31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Inhaltsplatzhalter 3"/>
          <p:cNvGraphicFramePr>
            <a:graphicFrameLocks/>
          </p:cNvGraphicFramePr>
          <p:nvPr/>
        </p:nvGraphicFramePr>
        <p:xfrm>
          <a:off x="923925" y="4228386"/>
          <a:ext cx="1647976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sp>
        <p:nvSpPr>
          <p:cNvPr id="87" name="Rad 86"/>
          <p:cNvSpPr/>
          <p:nvPr/>
        </p:nvSpPr>
        <p:spPr>
          <a:xfrm>
            <a:off x="1688143" y="4000671"/>
            <a:ext cx="924675" cy="942137"/>
          </a:xfrm>
          <a:prstGeom prst="donut">
            <a:avLst>
              <a:gd name="adj" fmla="val 105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8" name="Textfeld 87"/>
          <p:cNvSpPr txBox="1"/>
          <p:nvPr/>
        </p:nvSpPr>
        <p:spPr>
          <a:xfrm>
            <a:off x="2571901" y="5179703"/>
            <a:ext cx="79452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j ≤ 10</a:t>
            </a:r>
          </a:p>
        </p:txBody>
      </p:sp>
      <p:cxnSp>
        <p:nvCxnSpPr>
          <p:cNvPr id="89" name="Gerade Verbindung mit Pfeil 88"/>
          <p:cNvCxnSpPr/>
          <p:nvPr/>
        </p:nvCxnSpPr>
        <p:spPr>
          <a:xfrm flipH="1">
            <a:off x="2315423" y="5362616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Pfeil nach oben 89"/>
          <p:cNvSpPr/>
          <p:nvPr/>
        </p:nvSpPr>
        <p:spPr>
          <a:xfrm>
            <a:off x="2072388" y="4909905"/>
            <a:ext cx="184935" cy="28556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/>
          <p:cNvSpPr/>
          <p:nvPr/>
        </p:nvSpPr>
        <p:spPr>
          <a:xfrm>
            <a:off x="1787525" y="4960523"/>
            <a:ext cx="241300" cy="23495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92" name="Textfeld 91"/>
          <p:cNvSpPr txBox="1"/>
          <p:nvPr/>
        </p:nvSpPr>
        <p:spPr>
          <a:xfrm>
            <a:off x="234581" y="5129899"/>
            <a:ext cx="762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 i ≥ 10</a:t>
            </a:r>
          </a:p>
        </p:txBody>
      </p:sp>
      <p:sp>
        <p:nvSpPr>
          <p:cNvPr id="93" name="Pfeil nach oben 92"/>
          <p:cNvSpPr/>
          <p:nvPr/>
        </p:nvSpPr>
        <p:spPr>
          <a:xfrm>
            <a:off x="1392208" y="4905126"/>
            <a:ext cx="184935" cy="285568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Ellipse 93"/>
          <p:cNvSpPr/>
          <p:nvPr/>
        </p:nvSpPr>
        <p:spPr>
          <a:xfrm>
            <a:off x="1107345" y="4955744"/>
            <a:ext cx="241300" cy="234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cxnSp>
        <p:nvCxnSpPr>
          <p:cNvPr id="95" name="Gerade Verbindung mit Pfeil 94"/>
          <p:cNvCxnSpPr/>
          <p:nvPr/>
        </p:nvCxnSpPr>
        <p:spPr>
          <a:xfrm>
            <a:off x="980928" y="5299050"/>
            <a:ext cx="247067" cy="8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Inhaltsplatzhalter 3"/>
          <p:cNvGraphicFramePr>
            <a:graphicFrameLocks/>
          </p:cNvGraphicFramePr>
          <p:nvPr/>
        </p:nvGraphicFramePr>
        <p:xfrm>
          <a:off x="923925" y="6084813"/>
          <a:ext cx="1647976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269964478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405440991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18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cxnSp>
        <p:nvCxnSpPr>
          <p:cNvPr id="98" name="Gerade Verbindung mit Pfeil 97"/>
          <p:cNvCxnSpPr/>
          <p:nvPr/>
        </p:nvCxnSpPr>
        <p:spPr>
          <a:xfrm flipH="1">
            <a:off x="10859658" y="3933332"/>
            <a:ext cx="252787" cy="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/>
          <p:cNvSpPr txBox="1"/>
          <p:nvPr/>
        </p:nvSpPr>
        <p:spPr>
          <a:xfrm>
            <a:off x="909663" y="2717144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103</a:t>
            </a:r>
          </a:p>
        </p:txBody>
      </p:sp>
      <p:sp>
        <p:nvSpPr>
          <p:cNvPr id="102" name="Textfeld 101"/>
          <p:cNvSpPr txBox="1"/>
          <p:nvPr/>
        </p:nvSpPr>
        <p:spPr>
          <a:xfrm>
            <a:off x="6699145" y="2659600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18</a:t>
            </a:r>
          </a:p>
        </p:txBody>
      </p:sp>
      <p:graphicFrame>
        <p:nvGraphicFramePr>
          <p:cNvPr id="103" name="Inhaltsplatzhalter 3"/>
          <p:cNvGraphicFramePr>
            <a:graphicFrameLocks/>
          </p:cNvGraphicFramePr>
          <p:nvPr/>
        </p:nvGraphicFramePr>
        <p:xfrm>
          <a:off x="3505733" y="4395286"/>
          <a:ext cx="4943928" cy="558370"/>
        </p:xfrm>
        <a:graphic>
          <a:graphicData uri="http://schemas.openxmlformats.org/drawingml/2006/table">
            <a:tbl>
              <a:tblPr/>
              <a:tblGrid>
                <a:gridCol w="823988">
                  <a:extLst>
                    <a:ext uri="{9D8B030D-6E8A-4147-A177-3AD203B41FA5}">
                      <a16:colId xmlns:a16="http://schemas.microsoft.com/office/drawing/2014/main" val="3659994153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205533321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551365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55337437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1981513580"/>
                    </a:ext>
                  </a:extLst>
                </a:gridCol>
                <a:gridCol w="823988">
                  <a:extLst>
                    <a:ext uri="{9D8B030D-6E8A-4147-A177-3AD203B41FA5}">
                      <a16:colId xmlns:a16="http://schemas.microsoft.com/office/drawing/2014/main" val="3325533878"/>
                    </a:ext>
                  </a:extLst>
                </a:gridCol>
              </a:tblGrid>
              <a:tr h="55837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36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80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79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112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de-DE" sz="2000" b="1" dirty="0">
                          <a:solidFill>
                            <a:schemeClr val="accent5"/>
                          </a:solidFill>
                          <a:effectLst/>
                          <a:latin typeface="HAW Frutiger Next Regular" panose="02000503050000020004" pitchFamily="2" charset="0"/>
                        </a:rPr>
                        <a:t>103</a:t>
                      </a:r>
                      <a:endParaRPr lang="de-DE" sz="2000" b="1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34925" marR="34925" marT="34925" marB="34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752724"/>
                  </a:ext>
                </a:extLst>
              </a:tr>
            </a:tbl>
          </a:graphicData>
        </a:graphic>
      </p:graphicFrame>
      <p:cxnSp>
        <p:nvCxnSpPr>
          <p:cNvPr id="104" name="Gerade Verbindung mit Pfeil 103"/>
          <p:cNvCxnSpPr/>
          <p:nvPr/>
        </p:nvCxnSpPr>
        <p:spPr>
          <a:xfrm>
            <a:off x="1348645" y="5464017"/>
            <a:ext cx="438880" cy="5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/>
          <p:cNvCxnSpPr/>
          <p:nvPr/>
        </p:nvCxnSpPr>
        <p:spPr>
          <a:xfrm flipH="1">
            <a:off x="1587830" y="5365323"/>
            <a:ext cx="457426" cy="9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feld 110"/>
          <p:cNvSpPr txBox="1"/>
          <p:nvPr/>
        </p:nvSpPr>
        <p:spPr>
          <a:xfrm>
            <a:off x="908596" y="4384276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18</a:t>
            </a:r>
          </a:p>
        </p:txBody>
      </p:sp>
      <p:sp>
        <p:nvSpPr>
          <p:cNvPr id="112" name="Textfeld 111"/>
          <p:cNvSpPr txBox="1"/>
          <p:nvPr/>
        </p:nvSpPr>
        <p:spPr>
          <a:xfrm>
            <a:off x="1985475" y="4384303"/>
            <a:ext cx="9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HAW Frutiger Next Regular" panose="02000503050000020004" pitchFamily="2" charset="0"/>
              </a:rPr>
              <a:t>10</a:t>
            </a:r>
          </a:p>
        </p:txBody>
      </p:sp>
      <p:cxnSp>
        <p:nvCxnSpPr>
          <p:cNvPr id="113" name="Gerade Verbindung mit Pfeil 112"/>
          <p:cNvCxnSpPr/>
          <p:nvPr/>
        </p:nvCxnSpPr>
        <p:spPr>
          <a:xfrm>
            <a:off x="9689722" y="3995625"/>
            <a:ext cx="6121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/>
          <p:cNvCxnSpPr/>
          <p:nvPr/>
        </p:nvCxnSpPr>
        <p:spPr>
          <a:xfrm flipH="1">
            <a:off x="10047481" y="3897254"/>
            <a:ext cx="457426" cy="9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ad 116"/>
          <p:cNvSpPr/>
          <p:nvPr/>
        </p:nvSpPr>
        <p:spPr>
          <a:xfrm>
            <a:off x="7570543" y="4216835"/>
            <a:ext cx="924675" cy="942137"/>
          </a:xfrm>
          <a:prstGeom prst="donut">
            <a:avLst>
              <a:gd name="adj" fmla="val 105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118313" y="5091892"/>
            <a:ext cx="138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latin typeface="HAW Frutiger Next Regular" panose="02000503050000020004" pitchFamily="2" charset="0"/>
              </a:rPr>
              <a:t>…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72900" y="6438900"/>
            <a:ext cx="203200" cy="20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327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785"/>
    </mc:Choice>
    <mc:Fallback xmlns="">
      <p:transition spd="slow" advTm="3957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8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4" presetClass="path" presetSubtype="0" accel="50000" decel="5000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0104 2.96296E-6 L 0.12812 -0.02246 C 0.15456 -0.02755 0.1944 -0.0301 0.23607 -0.0301 C 0.28359 -0.0301 0.32161 -0.02755 0.34805 -0.02246 L 0.47526 2.96296E-6 " pathEditMode="relative" rAng="0" ptsTypes="AAAAA">
                                      <p:cBhvr>
                                        <p:cTn id="6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11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400"/>
                            </p:stCondLst>
                            <p:childTnLst>
                              <p:par>
                                <p:cTn id="66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72 -0.00115 L -0.13893 0.03241 C -0.16537 0.04005 -0.20508 0.04422 -0.24675 0.04422 C -0.29414 0.04422 -0.33216 0.04005 -0.3586 0.03241 L -0.48568 -0.00115 " pathEditMode="relative" rAng="0" ptsTypes="AAAAA">
                                      <p:cBhvr>
                                        <p:cTn id="6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98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"/>
                            </p:stCondLst>
                            <p:childTnLst>
                              <p:par>
                                <p:cTn id="103" presetID="44" presetClass="path" presetSubtype="0" accel="50000" decel="50000" fill="hold" grpId="1" nodeType="after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2.29167E-6 0.00115 L 0.08959 -0.03982 C 0.10821 -0.04908 0.1362 -0.05394 0.16563 -0.05394 C 0.19896 -0.05394 0.22578 -0.04908 0.2444 -0.03982 L 0.33412 0.00115 " pathEditMode="relative" rAng="0" ptsTypes="AAAAA">
                                      <p:cBhvr>
                                        <p:cTn id="10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6" y="-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83 0.00047 L -0.10977 0.047 C -0.12799 0.05787 -0.15547 0.06436 -0.1845 0.06436 C -0.21745 0.06436 -0.24375 0.05787 -0.26211 0.047 L -0.35026 0.00047 " pathEditMode="relative" rAng="0" ptsTypes="AAAAA">
                                      <p:cBhvr>
                                        <p:cTn id="10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71" y="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1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1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800"/>
                            </p:stCondLst>
                            <p:childTnLst>
                              <p:par>
                                <p:cTn id="1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1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4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"/>
                            </p:stCondLst>
                            <p:childTnLst>
                              <p:par>
                                <p:cTn id="1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8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8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18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18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4" presetClass="path" presetSubtype="0" accel="50000" decel="5000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2.08333E-7 7.40741E-7 L 0.01823 -0.04005 C 0.02201 -0.04907 0.02773 -0.05394 0.03372 -0.05394 C 0.0405 -0.05394 0.04596 -0.04907 0.04974 -0.04005 L 0.0681 7.40741E-7 " pathEditMode="relative" rAng="0" ptsTypes="AAAAA">
                                      <p:cBhvr>
                                        <p:cTn id="17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6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7" presetID="37" presetClass="path" presetSubtype="0" accel="50000" decel="50000" fill="hold" grpId="1" nodeType="after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7.40741E-7 L -0.01836 0.04005 C -0.02214 0.04907 -0.02787 0.05393 -0.03386 0.05393 C -0.04076 0.05393 -0.04623 0.04907 -0.05 0.04005 L -0.06823 7.40741E-7 " pathEditMode="relative" rAng="0" ptsTypes="AAAAA">
                                      <p:cBhvr>
                                        <p:cTn id="17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1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1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18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18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18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18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800"/>
                            </p:stCondLst>
                            <p:childTnLst>
                              <p:par>
                                <p:cTn id="2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18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18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18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18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0.12109 0.04004 C -0.14635 0.04907 -0.18411 0.05393 -0.22396 0.05393 C -0.26901 0.05393 -0.30521 0.04907 -0.33047 0.04004 L -0.45143 3.7037E-6 " pathEditMode="relative" rAng="0" ptsTypes="AAAAA">
                                      <p:cBhvr>
                                        <p:cTn id="231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78" y="2685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12395 -0.04005 C 0.14973 -0.04908 0.18854 -0.05394 0.22942 -0.05394 C 0.27552 -0.05394 0.31276 -0.04908 0.33854 -0.04005 L 0.46276 4.07407E-6 " pathEditMode="relative" rAng="0" ptsTypes="AAAAA">
                                      <p:cBhvr>
                                        <p:cTn id="233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38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18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18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18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18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800"/>
                            </p:stCondLst>
                            <p:childTnLst>
                              <p:par>
                                <p:cTn id="2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1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1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7" dur="18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6" presetClass="entr" presetSubtype="2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0" dur="18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17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17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17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17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700"/>
                            </p:stCondLst>
                            <p:childTnLst>
                              <p:par>
                                <p:cTn id="28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1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1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1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1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0.02253 -0.04005 C 0.02721 -0.04908 0.03438 -0.05394 0.0418 -0.05394 C 0.05013 -0.05394 0.0569 -0.04908 0.06172 -0.04005 L 0.08438 3.33333E-6 " pathEditMode="relative" rAng="0" ptsTypes="AAAAA">
                                      <p:cBhvr>
                                        <p:cTn id="297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-2708"/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04 3.33333E-6 L -0.02188 0.04004 C -0.02552 0.04907 -0.03112 0.05393 -0.03685 0.05393 C -0.04349 0.05393 -0.04883 0.04907 -0.05248 0.04004 L -0.07018 3.33333E-6 " pathEditMode="relative" rAng="0" ptsTypes="AAAAA">
                                      <p:cBhvr>
                                        <p:cTn id="301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6" dur="18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9" dur="1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4" dur="18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  <p:bldP spid="8" grpId="0"/>
      <p:bldP spid="9" grpId="0" animBg="1"/>
      <p:bldP spid="11" grpId="0" animBg="1"/>
      <p:bldP spid="14" grpId="0" animBg="1"/>
      <p:bldP spid="15" grpId="0" animBg="1"/>
      <p:bldP spid="19" grpId="0" animBg="1"/>
      <p:bldP spid="20" grpId="0" animBg="1"/>
      <p:bldP spid="23" grpId="0" animBg="1"/>
      <p:bldP spid="24" grpId="0" animBg="1"/>
      <p:bldP spid="26" grpId="0" animBg="1"/>
      <p:bldP spid="27" grpId="0" animBg="1"/>
      <p:bldP spid="31" grpId="0" animBg="1"/>
      <p:bldP spid="32" grpId="0" animBg="1"/>
      <p:bldP spid="37" grpId="0"/>
      <p:bldP spid="37" grpId="1"/>
      <p:bldP spid="41" grpId="0"/>
      <p:bldP spid="41" grpId="1"/>
      <p:bldP spid="42" grpId="0"/>
      <p:bldP spid="42" grpId="1"/>
      <p:bldP spid="43" grpId="0"/>
      <p:bldP spid="43" grpId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68" grpId="0"/>
      <p:bldP spid="68" grpId="1"/>
      <p:bldP spid="69" grpId="0"/>
      <p:bldP spid="69" grpId="1"/>
      <p:bldP spid="71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7" grpId="0" animBg="1"/>
      <p:bldP spid="88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101" grpId="0"/>
      <p:bldP spid="101" grpId="1"/>
      <p:bldP spid="102" grpId="0"/>
      <p:bldP spid="102" grpId="1"/>
      <p:bldP spid="111" grpId="0"/>
      <p:bldP spid="111" grpId="1"/>
      <p:bldP spid="112" grpId="0"/>
      <p:bldP spid="112" grpId="1"/>
      <p:bldP spid="117" grpId="0" animBg="1"/>
      <p:bldP spid="1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60863"/>
          </a:xfrm>
        </p:spPr>
        <p:txBody>
          <a:bodyPr>
            <a:normAutofit lnSpcReduction="10000"/>
          </a:bodyPr>
          <a:lstStyle/>
          <a:p>
            <a:r>
              <a:rPr lang="de-DE" dirty="0"/>
              <a:t>Ein beliebiges Element in einem 					         </a:t>
            </a:r>
            <a:r>
              <a:rPr lang="de-DE" i="1" dirty="0"/>
              <a:t>unsortierten</a:t>
            </a:r>
            <a:r>
              <a:rPr lang="de-DE" dirty="0"/>
              <a:t> Array suchen: </a:t>
            </a:r>
          </a:p>
          <a:p>
            <a:pPr lvl="1"/>
            <a:r>
              <a:rPr lang="de-DE" dirty="0"/>
              <a:t>Array von Anfang bis Ende durchsuchen,</a:t>
            </a:r>
          </a:p>
          <a:p>
            <a:pPr lvl="1"/>
            <a:r>
              <a:rPr lang="de-DE" dirty="0"/>
              <a:t>jeden Schlüssel schrittweise mit dem Such-Schlüssel vergleichen,</a:t>
            </a:r>
          </a:p>
          <a:p>
            <a:pPr lvl="1"/>
            <a:r>
              <a:rPr lang="de-DE" dirty="0"/>
              <a:t>bis entweder das gewünschte Element gefunden ist</a:t>
            </a:r>
          </a:p>
          <a:p>
            <a:pPr lvl="1"/>
            <a:r>
              <a:rPr lang="de-DE" dirty="0"/>
              <a:t>oder das Ende erreicht ist. </a:t>
            </a:r>
          </a:p>
          <a:p>
            <a:r>
              <a:rPr lang="de-DE" dirty="0"/>
              <a:t>Ist das Array jedoch sortiert, so kann ein Suchvorgang mittels einer einfachen 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binären Suche </a:t>
            </a:r>
            <a:r>
              <a:rPr lang="de-DE" dirty="0"/>
              <a:t>schneller ablaufen:</a:t>
            </a:r>
          </a:p>
          <a:p>
            <a:pPr lvl="1"/>
            <a:r>
              <a:rPr lang="de-DE" dirty="0"/>
              <a:t>Die Suche beginnt in der Mitte des Arrays beim Element A(N/2) mit N/2 ∊ ℕ. </a:t>
            </a:r>
          </a:p>
          <a:p>
            <a:pPr lvl="1"/>
            <a:r>
              <a:rPr lang="de-DE" dirty="0"/>
              <a:t>Ist der Schlüssel dieses Elements größer als der gesuchte Schlüssel, so wird im linken Bereich des Arrays weitergesucht (andernfalls im rechten) </a:t>
            </a:r>
          </a:p>
          <a:p>
            <a:pPr lvl="1"/>
            <a:r>
              <a:rPr lang="de-DE" dirty="0"/>
              <a:t>und in diesem Bereich wieder das mittlere Element aufgerufen usw.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14</a:t>
            </a:fld>
            <a:endParaRPr lang="de-DE" alt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Binäres Suchen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44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15699"/>
          </a:xfrm>
        </p:spPr>
        <p:txBody>
          <a:bodyPr>
            <a:normAutofit/>
          </a:bodyPr>
          <a:lstStyle/>
          <a:p>
            <a:r>
              <a:rPr lang="de-DE" dirty="0"/>
              <a:t>Der Pseudo-Algorithmus: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15</a:t>
            </a:fld>
            <a:endParaRPr lang="de-DE" alt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Binäres Suchen</a:t>
            </a:r>
          </a:p>
          <a:p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1819562" y="2758252"/>
            <a:ext cx="8442037" cy="2862322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vorne = 1</a:t>
            </a: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hinten = N</a:t>
            </a:r>
          </a:p>
          <a:p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vorne ≤ hinten </a:t>
            </a: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mitte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vorne+hinten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)/2 (gerundet)</a:t>
            </a: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A(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mitte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schlüssel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suchschlüssel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gefunden</a:t>
            </a: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A(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mitte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schlüssel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suchschlüssel</a:t>
            </a:r>
            <a:endParaRPr lang="de-DE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hinten = mitte-1</a:t>
            </a: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A(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mitte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schlüssel</a:t>
            </a:r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de-DE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suchschlüssel</a:t>
            </a:r>
            <a:endParaRPr lang="de-DE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vorne = mitte+1</a:t>
            </a:r>
          </a:p>
        </p:txBody>
      </p:sp>
    </p:spTree>
    <p:extLst>
      <p:ext uri="{BB962C8B-B14F-4D97-AF65-F5344CB8AC3E}">
        <p14:creationId xmlns:p14="http://schemas.microsoft.com/office/powerpoint/2010/main" val="169889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Für eine verkettete Liste bietet das Sortieren 				     keinen besonderen Vorteil bzgl. der Suche, 				            da kein wahlfreier Zugriff auf die Elemente erfolgen kann.</a:t>
            </a:r>
          </a:p>
          <a:p>
            <a:r>
              <a:rPr lang="de-DE" dirty="0"/>
              <a:t>Lediglich das Suchen nach einem gar nicht existierenden Schlüssel i kann in der sortierten Liste schneller erfolgen, da die Suche abbricht sobald ein Schlüssel mit einem Wert größer als i erreicht ist. </a:t>
            </a:r>
          </a:p>
          <a:p>
            <a:r>
              <a:rPr lang="de-DE" dirty="0"/>
              <a:t>Dies ist insbesondere beim Einfügen von Elementen in eine bereits sortierte Liste von Vorteil.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Skiplisten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974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81320"/>
            <a:ext cx="10515600" cy="1807189"/>
          </a:xfrm>
        </p:spPr>
        <p:txBody>
          <a:bodyPr/>
          <a:lstStyle/>
          <a:p>
            <a:r>
              <a:rPr lang="de-DE" dirty="0"/>
              <a:t>Versieht man eine sortierte Liste jedoch mit 				       einer zusätzlichen Zugriffsstruktur, so können 		   Suchvorgänge schneller erfolgen, indem größere			 Sprünge zwischen den Elementen ermöglicht werden.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Skiplisten</a:t>
            </a:r>
            <a:endParaRPr lang="de-DE" dirty="0"/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77" y="3888509"/>
            <a:ext cx="9144463" cy="14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38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2753917"/>
          </a:xfrm>
        </p:spPr>
        <p:txBody>
          <a:bodyPr>
            <a:normAutofit/>
          </a:bodyPr>
          <a:lstStyle/>
          <a:p>
            <a:r>
              <a:rPr lang="de-DE" dirty="0"/>
              <a:t>In </a:t>
            </a:r>
            <a:r>
              <a:rPr lang="de-DE" dirty="0" err="1"/>
              <a:t>Skiplisten</a:t>
            </a:r>
            <a:r>
              <a:rPr lang="de-DE" dirty="0"/>
              <a:t> müssen zwar mehr Zusatzinformationen 		            für die Zeiger gespeichert werden, aber die Sprünge 		         sind vergleichbar mit der binären Suche und damit wesentlich effektiver. </a:t>
            </a:r>
          </a:p>
          <a:p>
            <a:r>
              <a:rPr lang="de-DE" dirty="0"/>
              <a:t>Technisch betrachtet ist der Zeiger bei einer „Skip-Liste“ kein einzelner Wert mehr sondern ein Feld aus mehreren Zeigern. </a:t>
            </a:r>
          </a:p>
          <a:p>
            <a:r>
              <a:rPr lang="de-DE" dirty="0"/>
              <a:t>Eine Suche beginnt auf der obersten Zeigerebene und wird schrittweise nach unten fortgesetzt.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Skiplisten</a:t>
            </a:r>
            <a:endParaRPr lang="de-DE" dirty="0"/>
          </a:p>
          <a:p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96" y="4769573"/>
            <a:ext cx="7824379" cy="109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99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1460825"/>
          </a:xfrm>
        </p:spPr>
        <p:txBody>
          <a:bodyPr>
            <a:normAutofit/>
          </a:bodyPr>
          <a:lstStyle/>
          <a:p>
            <a:r>
              <a:rPr lang="de-DE" dirty="0"/>
              <a:t>Im Idealfall einer sortierten </a:t>
            </a:r>
            <a:r>
              <a:rPr lang="de-DE" dirty="0" err="1"/>
              <a:t>Skipliste</a:t>
            </a:r>
            <a:r>
              <a:rPr lang="de-DE" dirty="0"/>
              <a:t> mit optimaler 				   Verteilung der Ebenen, kann man auf die vollständige 		        </a:t>
            </a:r>
            <a:r>
              <a:rPr lang="de-DE" dirty="0" err="1"/>
              <a:t>Verzeigerung</a:t>
            </a:r>
            <a:r>
              <a:rPr lang="de-DE" dirty="0"/>
              <a:t> auf der untersten Ebene verzichten.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890" y="3583819"/>
            <a:ext cx="5520648" cy="171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41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192972"/>
          </a:xfrm>
        </p:spPr>
        <p:txBody>
          <a:bodyPr>
            <a:normAutofit/>
          </a:bodyPr>
          <a:lstStyle/>
          <a:p>
            <a:r>
              <a:rPr lang="de-DE" dirty="0"/>
              <a:t>Zeichnet man dies etwas anders auf und 				     ändert die </a:t>
            </a:r>
            <a:r>
              <a:rPr lang="de-DE" dirty="0" err="1"/>
              <a:t>Verzeigerungen</a:t>
            </a:r>
            <a:r>
              <a:rPr lang="de-DE" dirty="0"/>
              <a:t> und ihre Richtungen,			           so ergibt sich die Struktur eines Baumes: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034" y="3380259"/>
            <a:ext cx="4804429" cy="24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55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 „Binärer Baum“:</a:t>
            </a:r>
          </a:p>
          <a:p>
            <a:pPr lvl="1"/>
            <a:r>
              <a:rPr lang="de-DE" dirty="0"/>
              <a:t>Ein binärer Baum ist ein 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gerichteter Graph</a:t>
            </a:r>
            <a:r>
              <a:rPr lang="de-DE" dirty="0"/>
              <a:t>, der 				       (sofern er nicht leer ist) aus einem Knoten K mit 				   Verweisen auf zwei binäre Unterbäume (linker und rechter Unterbaum) besteht. </a:t>
            </a:r>
          </a:p>
          <a:p>
            <a:pPr lvl="1"/>
            <a:r>
              <a:rPr lang="de-DE" dirty="0"/>
              <a:t>Knoten mit Verweisen auf zwei leere Unterbäume werden als „Blätter“ bezeichnet. </a:t>
            </a:r>
          </a:p>
          <a:p>
            <a:pPr lvl="1"/>
            <a:r>
              <a:rPr lang="de-DE" dirty="0"/>
              <a:t>Der Eingangsknoten ist die „Wurzel“ des Baumes. </a:t>
            </a:r>
          </a:p>
          <a:p>
            <a:pPr lvl="1"/>
            <a:r>
              <a:rPr lang="de-DE" dirty="0"/>
              <a:t>Die „Tiefe eines Knotens K“ im Baum B ist: 				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Tiefe(K,B) = 1 + Anzahl der Kanten    			   </a:t>
            </a:r>
            <a:r>
              <a:rPr lang="de-DE" dirty="0"/>
              <a:t>zwischen K und der Wurzel</a:t>
            </a:r>
          </a:p>
          <a:p>
            <a:r>
              <a:rPr lang="de-DE" dirty="0"/>
              <a:t>Die „Baumtiefe von B“ entspricht dem Maximum der Knotentiefen (es wird statt „Tiefe“ auch analog von „Höhe“ gesprochen).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552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Ein „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Binärer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Suchbaum</a:t>
            </a:r>
            <a:r>
              <a:rPr lang="de-DE" dirty="0"/>
              <a:t>“ ist ein binärer Baum:</a:t>
            </a:r>
          </a:p>
          <a:p>
            <a:pPr lvl="1"/>
            <a:r>
              <a:rPr lang="de-DE" dirty="0"/>
              <a:t>in dem alle Knoten im rechten Unterbaum einen größeren Schlüssel haben als der Wurzelknoten </a:t>
            </a:r>
          </a:p>
          <a:p>
            <a:pPr lvl="1"/>
            <a:r>
              <a:rPr lang="de-DE" dirty="0"/>
              <a:t>und im linken Unterbaum einen kleineren. </a:t>
            </a:r>
          </a:p>
          <a:p>
            <a:pPr lvl="1"/>
            <a:r>
              <a:rPr lang="de-DE" dirty="0"/>
              <a:t>Das Suchen in einem binären </a:t>
            </a:r>
            <a:r>
              <a:rPr lang="de-DE" dirty="0" err="1"/>
              <a:t>Suchbaum</a:t>
            </a:r>
            <a:r>
              <a:rPr lang="de-DE" dirty="0"/>
              <a:t> erfolgt genauso wie in einer idealen </a:t>
            </a:r>
            <a:r>
              <a:rPr lang="de-DE" dirty="0" err="1"/>
              <a:t>Skipliste</a:t>
            </a:r>
            <a:r>
              <a:rPr lang="de-DE" dirty="0"/>
              <a:t>: Ausgehend von der Wurzel wird ein Vergleich durchgeführt (gesuchter Schlüssel größer oder kleiner als der Wurzelschlüssel)</a:t>
            </a:r>
          </a:p>
          <a:p>
            <a:pPr lvl="1"/>
            <a:r>
              <a:rPr lang="de-DE" dirty="0"/>
              <a:t>Entsprechend des Ergebnisses wird der linke oder rechte Unterknoten aufgerufen und der Vergleich mit diesem Knotenschlüssel durchgeführt, so lange bis der Schlüssel gefunden ist oder ein leerer Verweis (Null-Zeiger) erreicht ist. </a:t>
            </a:r>
          </a:p>
          <a:p>
            <a:r>
              <a:rPr lang="de-DE" dirty="0"/>
              <a:t>Einfügen im binären </a:t>
            </a:r>
            <a:r>
              <a:rPr lang="de-DE" dirty="0" err="1"/>
              <a:t>Suchbaum</a:t>
            </a:r>
            <a:r>
              <a:rPr lang="de-DE" dirty="0"/>
              <a:t>: man folgt (entsprechend der Suche) dem Baum so lange bis ein Nullzeiger gefunden ist.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4589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975917"/>
          </a:xfrm>
        </p:spPr>
        <p:txBody>
          <a:bodyPr>
            <a:normAutofit/>
          </a:bodyPr>
          <a:lstStyle/>
          <a:p>
            <a:r>
              <a:rPr lang="de-DE" dirty="0"/>
              <a:t>Pseudo-Code (Einfüge-Rekursion)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595747" y="2487573"/>
            <a:ext cx="1064259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Aufruf mit „neuer Schlüssel“, „neue Daten“, Knoten K (zu Beginn der Wurzelknoten)</a:t>
            </a:r>
          </a:p>
          <a:p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 = null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allokiere neues Element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K.neuerSchlüssel</a:t>
            </a:r>
            <a:endParaRPr lang="de-DE" sz="16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neuerSchlüssel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sz="16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„Element existiert bereits“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neuerSchlüssel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sz="16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rekursiver Aufruf von EINFÜGEN_REK(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neuerSchlüssel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									neue Daten,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neuerSchlüssel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sz="16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rekursiver Aufruf von EINFÜGEN_REK(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neuerSchlüssel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									neue Daten,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16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</a:p>
          <a:p>
            <a:br>
              <a:rPr lang="de-DE" dirty="0"/>
            </a:b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2323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06463"/>
          </a:xfrm>
        </p:spPr>
        <p:txBody>
          <a:bodyPr/>
          <a:lstStyle/>
          <a:p>
            <a:r>
              <a:rPr lang="de-DE" dirty="0"/>
              <a:t>Pseudo-Code (Lösch-Rekursion 1)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34108" y="2657601"/>
            <a:ext cx="102569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LÖSCHEN_REK (Übergabeparameter: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Knoten K)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K=null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„Element existiert nicht“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rekursiver Aufruf von LÖSCHEN_REK(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								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rekursiver Aufruf von LÖSCHEN_REK(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								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</a:p>
        </p:txBody>
      </p:sp>
    </p:spTree>
    <p:extLst>
      <p:ext uri="{BB962C8B-B14F-4D97-AF65-F5344CB8AC3E}">
        <p14:creationId xmlns:p14="http://schemas.microsoft.com/office/powerpoint/2010/main" val="2853720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11081"/>
          </a:xfrm>
        </p:spPr>
        <p:txBody>
          <a:bodyPr/>
          <a:lstStyle/>
          <a:p>
            <a:r>
              <a:rPr lang="de-DE" dirty="0"/>
              <a:t>Pseudo-Code (Lösch-Rekursion 2)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1205346" y="2761673"/>
            <a:ext cx="102569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LöschSchlüssel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K.schlüssel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 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ersatzK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Aufruf von 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NACHFOLGER_SUCHE(K)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ersatzK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816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11081"/>
          </a:xfrm>
        </p:spPr>
        <p:txBody>
          <a:bodyPr/>
          <a:lstStyle/>
          <a:p>
            <a:r>
              <a:rPr lang="de-DE" dirty="0"/>
              <a:t>Pseudo-Code (Nachfolger-Suche)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838200" y="2687782"/>
            <a:ext cx="102569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NACHFOLGER_SUCHE(K)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linker Zeiger von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 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rechter Zeiger von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linker Zeiger von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≠ null </a:t>
            </a: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K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rechter Zeiger von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ersatz</a:t>
            </a:r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273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2124850"/>
          </a:xfrm>
        </p:spPr>
        <p:txBody>
          <a:bodyPr/>
          <a:lstStyle/>
          <a:p>
            <a:r>
              <a:rPr lang="de-DE" dirty="0"/>
              <a:t>Der binäre </a:t>
            </a:r>
            <a:r>
              <a:rPr lang="de-DE" dirty="0" err="1"/>
              <a:t>Suchbaum</a:t>
            </a:r>
            <a:r>
              <a:rPr lang="de-DE" dirty="0"/>
              <a:t> kann im Extremfall 				              zu einer verketteten Liste degradieren</a:t>
            </a:r>
          </a:p>
          <a:p>
            <a:r>
              <a:rPr lang="de-DE" dirty="0"/>
              <a:t>In diesem Fall: Laufzeit Ο(n) statt Ο(log</a:t>
            </a:r>
            <a:r>
              <a:rPr lang="de-DE" baseline="-25000" dirty="0"/>
              <a:t>2</a:t>
            </a:r>
            <a:r>
              <a:rPr lang="de-DE" dirty="0"/>
              <a:t> n) im ausbalancierten Zustand.</a:t>
            </a:r>
          </a:p>
          <a:p>
            <a:r>
              <a:rPr lang="de-DE" dirty="0"/>
              <a:t>Im ideal ausbalancierten Zustand verdoppelt sich die Anzahl der Knoten (bzw. Blätter) mit jeder zusätzlichen Ebene.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12" y="4201552"/>
            <a:ext cx="3379173" cy="173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71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332369"/>
          </a:xfrm>
        </p:spPr>
        <p:txBody>
          <a:bodyPr/>
          <a:lstStyle/>
          <a:p>
            <a:r>
              <a:rPr lang="de-DE" dirty="0"/>
              <a:t>Definition: Ein binärer </a:t>
            </a:r>
            <a:r>
              <a:rPr lang="de-DE" dirty="0" err="1"/>
              <a:t>Suchbaum</a:t>
            </a:r>
            <a:r>
              <a:rPr lang="de-DE" dirty="0"/>
              <a:t> wird als AVL-Baum bezeichnet, wenn für die Unterbäume jedes Knotens K gilt:</a:t>
            </a:r>
          </a:p>
          <a:p>
            <a:pPr marL="0" indent="0">
              <a:buNone/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Tiefe(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K.rechts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- Tiefe(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K.links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∊ {-1, 0, 1}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53" y="3409071"/>
            <a:ext cx="5004186" cy="27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5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Ist ein Baum nicht mehr ausbalanciert so muss 			           er umgestellt werden, so dass wieder die Eigenschaft		      eines AVL-Baum erfüllt ist.</a:t>
            </a:r>
          </a:p>
          <a:p>
            <a:r>
              <a:rPr lang="de-DE" dirty="0"/>
              <a:t>Man erreicht dies mithilfe einer sog. „Rotation“ im Baum (Links- oder Rechts-Rotation). </a:t>
            </a:r>
          </a:p>
          <a:p>
            <a:r>
              <a:rPr lang="de-DE" dirty="0"/>
              <a:t>Prinzipiell wird bei der Rotation ein tieferer Unterbaum um eine Ebene höher geschoben und ein weiterer Unterbaum umgehängt, um die Eigenschaften des binären Suchbaumes zu erhalten.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1438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89945"/>
          </a:xfrm>
        </p:spPr>
        <p:txBody>
          <a:bodyPr/>
          <a:lstStyle/>
          <a:p>
            <a:r>
              <a:rPr lang="de-DE" dirty="0"/>
              <a:t>Rotation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75" y="3038622"/>
            <a:ext cx="3854775" cy="252267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12" y="3062068"/>
            <a:ext cx="4064418" cy="219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82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89945"/>
          </a:xfrm>
        </p:spPr>
        <p:txBody>
          <a:bodyPr/>
          <a:lstStyle/>
          <a:p>
            <a:r>
              <a:rPr lang="de-DE" dirty="0"/>
              <a:t>Doppel-Rotation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820" y="2813633"/>
            <a:ext cx="6682109" cy="236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26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689945"/>
          </a:xfrm>
        </p:spPr>
        <p:txBody>
          <a:bodyPr/>
          <a:lstStyle/>
          <a:p>
            <a:r>
              <a:rPr lang="de-DE" dirty="0"/>
              <a:t>Doppel-Rotation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Balancierte Bäume (AVL-Bäume)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90" y="3129075"/>
            <a:ext cx="9950178" cy="219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21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849378"/>
          </a:xfrm>
        </p:spPr>
        <p:txBody>
          <a:bodyPr/>
          <a:lstStyle/>
          <a:p>
            <a:r>
              <a:rPr lang="de-DE" dirty="0"/>
              <a:t>Bäume mit extern gespeicherten 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B-Bäume</a:t>
            </a:r>
          </a:p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850" y="3083879"/>
            <a:ext cx="5486414" cy="215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45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849378"/>
          </a:xfrm>
        </p:spPr>
        <p:txBody>
          <a:bodyPr/>
          <a:lstStyle/>
          <a:p>
            <a:r>
              <a:rPr lang="de-DE" dirty="0"/>
              <a:t>Beispiel für einen B-Baum der Ordnung m=2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B-Bäume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11" y="2974736"/>
            <a:ext cx="6658115" cy="254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11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849378"/>
          </a:xfrm>
        </p:spPr>
        <p:txBody>
          <a:bodyPr/>
          <a:lstStyle/>
          <a:p>
            <a:r>
              <a:rPr lang="de-DE" dirty="0"/>
              <a:t>Beispiel für das Einfügen in einen B-Baum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B-Bäume</a:t>
            </a:r>
          </a:p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25" y="3099365"/>
            <a:ext cx="6779184" cy="228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19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Baum-strukturen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849378"/>
          </a:xfrm>
        </p:spPr>
        <p:txBody>
          <a:bodyPr/>
          <a:lstStyle/>
          <a:p>
            <a:r>
              <a:rPr lang="de-DE" dirty="0"/>
              <a:t>Beispiel für das Einfügen in einen B-Baum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B-Bäume</a:t>
            </a:r>
          </a:p>
          <a:p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173" y="2880943"/>
            <a:ext cx="9370579" cy="227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44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1|5|21.4|31.8|8|8.8|7.1|26.6|39|16.9|10.2|6.1|16|14.6|15.3|7.6|5.3|20.7|36.4|5.4|9.1|2.7|15.1|17.2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Microsoft Office PowerPoint</Application>
  <PresentationFormat>Breitbild</PresentationFormat>
  <Paragraphs>485</Paragraphs>
  <Slides>36</Slides>
  <Notes>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HAW Frutiger Next Regular</vt:lpstr>
      <vt:lpstr>Symbol</vt:lpstr>
      <vt:lpstr>ヒラギノ角ゴ Pro W3</vt:lpstr>
      <vt:lpstr>Office</vt:lpstr>
      <vt:lpstr>Informatik 2  </vt:lpstr>
      <vt:lpstr>Algorithmen und datenstrukturen</vt:lpstr>
      <vt:lpstr>Algorithmen und datenstrukturen</vt:lpstr>
      <vt:lpstr>Algorithmen und datenstrukturen</vt:lpstr>
      <vt:lpstr>Algorithmen und datenstrukturen</vt:lpstr>
      <vt:lpstr>Algorithmen und datenstrukturen</vt:lpstr>
      <vt:lpstr>Algorithmen und datenstrukturen</vt:lpstr>
      <vt:lpstr>Algorithmen und datenstrukturen</vt:lpstr>
      <vt:lpstr>Sortieren</vt:lpstr>
      <vt:lpstr>Sortieren</vt:lpstr>
      <vt:lpstr>sortieren</vt:lpstr>
      <vt:lpstr>sortieren</vt:lpstr>
      <vt:lpstr>PowerPoint-Präsentation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  <vt:lpstr>Baum-strukturen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132</cp:revision>
  <dcterms:created xsi:type="dcterms:W3CDTF">2020-07-09T08:29:18Z</dcterms:created>
  <dcterms:modified xsi:type="dcterms:W3CDTF">2025-07-25T11:37:43Z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2024-09-09T11:44:58Z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35a5e1a1-5175-4dec-b01a-9154c462e834</vt:lpwstr>
  </property>
  <property fmtid="{D5CDD505-2E9C-101B-9397-08002B2CF9AE}" pid="8" name="MSIP_Label_defa4170-0d19-0005-0004-bc88714345d2_ContentBits">
    <vt:lpwstr>0</vt:lpwstr>
  </property>
</Properties>
</file>