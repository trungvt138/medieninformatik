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E600D-E406-452A-A558-461F891653A3}" v="1" dt="2025-07-25T11:20:05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3187" autoAdjust="0"/>
  </p:normalViewPr>
  <p:slideViewPr>
    <p:cSldViewPr snapToGrid="0">
      <p:cViewPr varScale="1">
        <p:scale>
          <a:sx n="79" d="100"/>
          <a:sy n="79" d="100"/>
        </p:scale>
        <p:origin x="122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670" y="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i, Nils" userId="c34194c2-71ae-47de-8ef3-60d691fbf90d" providerId="ADAL" clId="{7F3E600D-E406-452A-A558-461F891653A3}"/>
    <pc:docChg chg="modSld modMainMaster">
      <pc:chgData name="Martini, Nils" userId="c34194c2-71ae-47de-8ef3-60d691fbf90d" providerId="ADAL" clId="{7F3E600D-E406-452A-A558-461F891653A3}" dt="2025-07-25T11:20:14.122" v="79" actId="20577"/>
      <pc:docMkLst>
        <pc:docMk/>
      </pc:docMkLst>
      <pc:sldChg chg="modSp mod">
        <pc:chgData name="Martini, Nils" userId="c34194c2-71ae-47de-8ef3-60d691fbf90d" providerId="ADAL" clId="{7F3E600D-E406-452A-A558-461F891653A3}" dt="2025-07-25T11:18:00.605" v="17" actId="20577"/>
        <pc:sldMkLst>
          <pc:docMk/>
          <pc:sldMk cId="925675539" sldId="256"/>
        </pc:sldMkLst>
        <pc:spChg chg="mod">
          <ac:chgData name="Martini, Nils" userId="c34194c2-71ae-47de-8ef3-60d691fbf90d" providerId="ADAL" clId="{7F3E600D-E406-452A-A558-461F891653A3}" dt="2025-07-25T11:17:47.548" v="4" actId="20577"/>
          <ac:spMkLst>
            <pc:docMk/>
            <pc:sldMk cId="925675539" sldId="256"/>
            <ac:spMk id="2" creationId="{00000000-0000-0000-0000-000000000000}"/>
          </ac:spMkLst>
        </pc:spChg>
        <pc:spChg chg="mod">
          <ac:chgData name="Martini, Nils" userId="c34194c2-71ae-47de-8ef3-60d691fbf90d" providerId="ADAL" clId="{7F3E600D-E406-452A-A558-461F891653A3}" dt="2025-07-25T11:18:00.605" v="17" actId="20577"/>
          <ac:spMkLst>
            <pc:docMk/>
            <pc:sldMk cId="925675539" sldId="256"/>
            <ac:spMk id="3" creationId="{00000000-0000-0000-0000-000000000000}"/>
          </ac:spMkLst>
        </pc:spChg>
      </pc:sldChg>
      <pc:sldMasterChg chg="modSldLayout">
        <pc:chgData name="Martini, Nils" userId="c34194c2-71ae-47de-8ef3-60d691fbf90d" providerId="ADAL" clId="{7F3E600D-E406-452A-A558-461F891653A3}" dt="2025-07-25T11:20:14.122" v="79" actId="20577"/>
        <pc:sldMasterMkLst>
          <pc:docMk/>
          <pc:sldMasterMk cId="3883322421" sldId="2147483648"/>
        </pc:sldMasterMkLst>
        <pc:sldLayoutChg chg="modSp mod">
          <pc:chgData name="Martini, Nils" userId="c34194c2-71ae-47de-8ef3-60d691fbf90d" providerId="ADAL" clId="{7F3E600D-E406-452A-A558-461F891653A3}" dt="2025-07-25T11:20:14.122" v="79" actId="20577"/>
          <pc:sldLayoutMkLst>
            <pc:docMk/>
            <pc:sldMasterMk cId="3883322421" sldId="2147483648"/>
            <pc:sldLayoutMk cId="897819904" sldId="2147483654"/>
          </pc:sldLayoutMkLst>
          <pc:spChg chg="mod">
            <ac:chgData name="Martini, Nils" userId="c34194c2-71ae-47de-8ef3-60d691fbf90d" providerId="ADAL" clId="{7F3E600D-E406-452A-A558-461F891653A3}" dt="2025-07-25T11:20:14.122" v="79" actId="20577"/>
            <ac:spMkLst>
              <pc:docMk/>
              <pc:sldMasterMk cId="3883322421" sldId="2147483648"/>
              <pc:sldLayoutMk cId="897819904" sldId="2147483654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7F3E600D-E406-452A-A558-461F891653A3}" dt="2025-07-25T11:20:05.927" v="60"/>
            <ac:spMkLst>
              <pc:docMk/>
              <pc:sldMasterMk cId="3883322421" sldId="2147483648"/>
              <pc:sldLayoutMk cId="897819904" sldId="2147483654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7F3E600D-E406-452A-A558-461F891653A3}" dt="2025-07-25T11:19:51.446" v="59" actId="20577"/>
          <pc:sldLayoutMkLst>
            <pc:docMk/>
            <pc:sldMasterMk cId="3883322421" sldId="2147483648"/>
            <pc:sldLayoutMk cId="1411041007" sldId="2147483661"/>
          </pc:sldLayoutMkLst>
          <pc:spChg chg="mod">
            <ac:chgData name="Martini, Nils" userId="c34194c2-71ae-47de-8ef3-60d691fbf90d" providerId="ADAL" clId="{7F3E600D-E406-452A-A558-461F891653A3}" dt="2025-07-25T11:19:51.446" v="59" actId="20577"/>
            <ac:spMkLst>
              <pc:docMk/>
              <pc:sldMasterMk cId="3883322421" sldId="2147483648"/>
              <pc:sldLayoutMk cId="1411041007" sldId="2147483661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7F3E600D-E406-452A-A558-461F891653A3}" dt="2025-07-25T11:19:45.038" v="40" actId="20577"/>
            <ac:spMkLst>
              <pc:docMk/>
              <pc:sldMasterMk cId="3883322421" sldId="2147483648"/>
              <pc:sldLayoutMk cId="1411041007" sldId="2147483661"/>
              <ac:spMk id="9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78FC-1069-44B7-8BAF-FB4058B52624}" type="datetimeFigureOut">
              <a:rPr lang="de-DE" smtClean="0"/>
              <a:t>25.07.2025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D0291-3554-4C30-8D4B-12D5FB451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94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0045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20000"/>
            <a:ext cx="10515600" cy="4048391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Medientechnik  |  </a:t>
            </a:r>
            <a:r>
              <a:rPr lang="de-DE" altLang="de-DE" sz="1100" b="1" dirty="0" err="1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EuC</a:t>
            </a: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-Labor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Media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Systems  |  Informatik B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31645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15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6223144" y="1620000"/>
            <a:ext cx="5132243" cy="40220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0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Medientechnik  |  </a:t>
            </a:r>
            <a:r>
              <a:rPr lang="de-DE" altLang="de-DE" sz="1100" b="1" dirty="0" err="1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EuC</a:t>
            </a: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-Labor</a:t>
            </a:r>
          </a:p>
        </p:txBody>
      </p:sp>
      <p:sp>
        <p:nvSpPr>
          <p:cNvPr id="11" name="Textfeld 10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Media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Systems  |  Informatik B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7366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8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Medientechnik  |  </a:t>
            </a:r>
            <a:r>
              <a:rPr lang="de-DE" altLang="de-DE" sz="1100" b="1" dirty="0" err="1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EuC</a:t>
            </a: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-Labor</a:t>
            </a:r>
          </a:p>
        </p:txBody>
      </p:sp>
      <p:sp>
        <p:nvSpPr>
          <p:cNvPr id="10" name="Textfeld 9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Media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Systems  |  Informatik B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3"/>
          </p:nvPr>
        </p:nvSpPr>
        <p:spPr>
          <a:xfrm>
            <a:off x="6274085" y="1618181"/>
            <a:ext cx="5079715" cy="4023879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46146B35-E15B-41CF-A855-7A2002B5D955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87458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Überschrift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3670067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22" hasCustomPrompt="1"/>
          </p:nvPr>
        </p:nvSpPr>
        <p:spPr>
          <a:xfrm>
            <a:off x="838200" y="1299513"/>
            <a:ext cx="10515600" cy="456136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11041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625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  <a:endParaRPr lang="de-DE" altLang="de-DE" sz="1100" b="1" dirty="0">
              <a:solidFill>
                <a:srgbClr val="0229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9781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6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79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662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36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9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32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6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96637" cy="2387600"/>
          </a:xfrm>
        </p:spPr>
        <p:txBody>
          <a:bodyPr>
            <a:normAutofit/>
          </a:bodyPr>
          <a:lstStyle/>
          <a:p>
            <a:pPr algn="l"/>
            <a: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  <a:t>Informatik 2</a:t>
            </a: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4000" b="1" cap="al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124635"/>
            <a:ext cx="9144000" cy="2635365"/>
          </a:xfrm>
        </p:spPr>
        <p:txBody>
          <a:bodyPr>
            <a:normAutofit lnSpcReduction="10000"/>
          </a:bodyPr>
          <a:lstStyle/>
          <a:p>
            <a:pPr algn="l"/>
            <a:r>
              <a:rPr lang="de-DE" b="1" dirty="0">
                <a:solidFill>
                  <a:schemeClr val="accent1">
                    <a:lumMod val="50000"/>
                  </a:schemeClr>
                </a:solidFill>
              </a:rPr>
              <a:t>Systemstart</a:t>
            </a:r>
          </a:p>
          <a:p>
            <a:pPr algn="l"/>
            <a:r>
              <a:rPr lang="de-DE" b="1" dirty="0">
                <a:solidFill>
                  <a:schemeClr val="accent1">
                    <a:lumMod val="50000"/>
                  </a:schemeClr>
                </a:solidFill>
              </a:rPr>
              <a:t>Dateisysteme</a:t>
            </a:r>
          </a:p>
          <a:p>
            <a:pPr algn="l"/>
            <a:endParaRPr lang="de-DE" sz="17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7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Prof. Dr. Nils Martini</a:t>
            </a:r>
            <a:b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</a:b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Hochschule für Angewandte Wissenschaften Hamburg</a:t>
            </a: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Wintersemester 2025/2026</a:t>
            </a:r>
          </a:p>
          <a:p>
            <a:pPr algn="l"/>
            <a:endParaRPr lang="de-DE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Bild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000" y="5760000"/>
            <a:ext cx="2465189" cy="63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4177795"/>
          </a:xfrm>
        </p:spPr>
        <p:txBody>
          <a:bodyPr>
            <a:normAutofit/>
          </a:bodyPr>
          <a:lstStyle/>
          <a:p>
            <a:r>
              <a:rPr lang="de-DE" dirty="0"/>
              <a:t>Jede Hauptplatine verfügt über einen nicht-flüchtigen 		    Speicher, in dem das BIOS (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Basic Input Output System</a:t>
            </a:r>
            <a:r>
              <a:rPr lang="de-DE" dirty="0"/>
              <a:t>) 	             gespeichert ist.</a:t>
            </a:r>
          </a:p>
          <a:p>
            <a:r>
              <a:rPr lang="de-DE" dirty="0"/>
              <a:t>Dieses Programm (Maschinensprache des Prozessors) enthält grundlegende Funktionen, um einen Rechner und sein Betriebssystem zu starten. </a:t>
            </a:r>
          </a:p>
          <a:p>
            <a:r>
              <a:rPr lang="de-DE" dirty="0"/>
              <a:t>Im Power-On-</a:t>
            </a:r>
            <a:r>
              <a:rPr lang="de-DE" dirty="0" err="1"/>
              <a:t>Self</a:t>
            </a:r>
            <a:r>
              <a:rPr lang="de-DE" dirty="0"/>
              <a:t>-Test (POST) wird die Funktionsfähigkeit unabdingbarer Hardware oder Ein-/Ausgabegeräte geprüft, wie z.B. die CPU, die Tastatur, der Bildschirm oder der Hauptspeicher (RAM). </a:t>
            </a:r>
          </a:p>
          <a:p>
            <a:r>
              <a:rPr lang="de-DE" dirty="0"/>
              <a:t>Es werden dann die Bussysteme (PCI, </a:t>
            </a:r>
            <a:r>
              <a:rPr lang="de-DE" dirty="0" err="1"/>
              <a:t>PCIe</a:t>
            </a:r>
            <a:r>
              <a:rPr lang="de-DE" dirty="0"/>
              <a:t>, IDE, SCSI, SATA, USB, IEEE 1394 usw.) auf angeschlossene Hardware überprüft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BIOS</a:t>
            </a:r>
          </a:p>
        </p:txBody>
      </p:sp>
    </p:spTree>
    <p:extLst>
      <p:ext uri="{BB962C8B-B14F-4D97-AF65-F5344CB8AC3E}">
        <p14:creationId xmlns:p14="http://schemas.microsoft.com/office/powerpoint/2010/main" val="130578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4177795"/>
          </a:xfrm>
        </p:spPr>
        <p:txBody>
          <a:bodyPr>
            <a:normAutofit/>
          </a:bodyPr>
          <a:lstStyle/>
          <a:p>
            <a:r>
              <a:rPr lang="de-DE" dirty="0"/>
              <a:t>Die letzte Aktion des BIOS ist die Prüfung des 			     Systems auf prinzipiell boot-fähige Hardware</a:t>
            </a:r>
          </a:p>
          <a:p>
            <a:r>
              <a:rPr lang="de-DE" dirty="0"/>
              <a:t>Diese Speichermedien sind boot-fähig, wenn im ersten Speichersektor (auf einer Festplatte die ersten 512 Byte) ein sog. Boot-</a:t>
            </a:r>
            <a:r>
              <a:rPr lang="de-DE" dirty="0" err="1"/>
              <a:t>Loader</a:t>
            </a:r>
            <a:r>
              <a:rPr lang="de-DE" dirty="0"/>
              <a:t> zu finden ist. </a:t>
            </a:r>
          </a:p>
          <a:p>
            <a:r>
              <a:rPr lang="de-DE" dirty="0"/>
              <a:t>Sind mehrere boot-fähige Speichermedien vorhanden, so muss in der BIOS-Konfiguration eine Startreihenfolge angegeben sein. </a:t>
            </a:r>
          </a:p>
          <a:p>
            <a:r>
              <a:rPr lang="de-DE" dirty="0"/>
              <a:t>Das Programm des </a:t>
            </a:r>
            <a:r>
              <a:rPr lang="de-DE" dirty="0" err="1"/>
              <a:t>Bootloaders</a:t>
            </a:r>
            <a:r>
              <a:rPr lang="de-DE" dirty="0"/>
              <a:t> wird geladen und ausgeführt; ab diesem Zeitpunkt übernimmt der Boot-</a:t>
            </a:r>
            <a:r>
              <a:rPr lang="de-DE" dirty="0" err="1"/>
              <a:t>Loader</a:t>
            </a:r>
            <a:r>
              <a:rPr lang="de-DE" dirty="0"/>
              <a:t> alle weiteren Aufgaben. </a:t>
            </a:r>
          </a:p>
          <a:p>
            <a:r>
              <a:rPr lang="de-DE" dirty="0"/>
              <a:t>Falls mehrere Betriebssysteme vorhanden sein sollten, so wird zunächst ein Boot-Manager gestartet (Auswahl eines der Betriebssysteme)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BIOS</a:t>
            </a:r>
          </a:p>
        </p:txBody>
      </p:sp>
    </p:spTree>
    <p:extLst>
      <p:ext uri="{BB962C8B-B14F-4D97-AF65-F5344CB8AC3E}">
        <p14:creationId xmlns:p14="http://schemas.microsoft.com/office/powerpoint/2010/main" val="346428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4177795"/>
          </a:xfrm>
        </p:spPr>
        <p:txBody>
          <a:bodyPr>
            <a:normAutofit/>
          </a:bodyPr>
          <a:lstStyle/>
          <a:p>
            <a:r>
              <a:rPr lang="de-DE" dirty="0"/>
              <a:t>BIOS-Nachfolger: </a:t>
            </a:r>
          </a:p>
          <a:p>
            <a:pPr marL="0" indent="0">
              <a:buNone/>
            </a:pPr>
            <a:r>
              <a:rPr lang="en-US" dirty="0"/>
              <a:t>   Unified Extensible Firmware Interface (UEFI) </a:t>
            </a:r>
          </a:p>
          <a:p>
            <a:r>
              <a:rPr lang="de-DE" dirty="0"/>
              <a:t>Die wesentlichen Vorteile gegenüber dem BIOS sind </a:t>
            </a:r>
          </a:p>
          <a:p>
            <a:pPr lvl="1"/>
            <a:r>
              <a:rPr lang="de-DE" dirty="0"/>
              <a:t>Unterstützung von Festplatten größer als 2 TB</a:t>
            </a:r>
          </a:p>
          <a:p>
            <a:pPr lvl="1"/>
            <a:r>
              <a:rPr lang="de-DE" dirty="0"/>
              <a:t>Kompatibilität zur Partitionierung mit der GPT </a:t>
            </a:r>
          </a:p>
          <a:p>
            <a:pPr lvl="1"/>
            <a:r>
              <a:rPr lang="de-DE" dirty="0"/>
              <a:t>parallele Installation mehrerer Betriebssysteme.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UEFI</a:t>
            </a:r>
          </a:p>
        </p:txBody>
      </p:sp>
    </p:spTree>
    <p:extLst>
      <p:ext uri="{BB962C8B-B14F-4D97-AF65-F5344CB8AC3E}">
        <p14:creationId xmlns:p14="http://schemas.microsoft.com/office/powerpoint/2010/main" val="190984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4177795"/>
          </a:xfrm>
        </p:spPr>
        <p:txBody>
          <a:bodyPr>
            <a:normAutofit/>
          </a:bodyPr>
          <a:lstStyle/>
          <a:p>
            <a:r>
              <a:rPr lang="de-DE" dirty="0"/>
              <a:t>Der 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Master Boot 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Record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/>
              <a:t>MBR befindet sich 					     im ersten Sektor eines boot-fähigen 				  Speichermediums (z.B. Festplatte). </a:t>
            </a:r>
          </a:p>
          <a:p>
            <a:r>
              <a:rPr lang="de-DE" dirty="0"/>
              <a:t>Die Standardgröße eines Sektors ist i.d.R. 512 Byte, weshalb der MBR keinen besonders umfangreichen Programmcode enthalten kann. </a:t>
            </a:r>
          </a:p>
          <a:p>
            <a:r>
              <a:rPr lang="de-DE" dirty="0"/>
              <a:t>Der wesentliche Inhalt des MBR besteht aus dem Boot-</a:t>
            </a:r>
            <a:r>
              <a:rPr lang="de-DE" dirty="0" err="1"/>
              <a:t>Loader</a:t>
            </a:r>
            <a:r>
              <a:rPr lang="de-DE" dirty="0"/>
              <a:t> (Master Boot Code) und der Partitionstabelle des Speichermediums. </a:t>
            </a:r>
          </a:p>
          <a:p>
            <a:r>
              <a:rPr lang="de-DE" dirty="0"/>
              <a:t>Mittels der Partitionstabelle kann der Boot-</a:t>
            </a:r>
            <a:r>
              <a:rPr lang="de-DE" dirty="0" err="1"/>
              <a:t>Loader</a:t>
            </a:r>
            <a:r>
              <a:rPr lang="de-DE" dirty="0"/>
              <a:t> auf den tatsächlichen Speicherort des Betriebssystem-Kerns zugreifen und ihn starten.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5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MBR</a:t>
            </a:r>
          </a:p>
        </p:txBody>
      </p:sp>
    </p:spTree>
    <p:extLst>
      <p:ext uri="{BB962C8B-B14F-4D97-AF65-F5344CB8AC3E}">
        <p14:creationId xmlns:p14="http://schemas.microsoft.com/office/powerpoint/2010/main" val="28403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2448273"/>
          </a:xfrm>
        </p:spPr>
        <p:txBody>
          <a:bodyPr>
            <a:normAutofit/>
          </a:bodyPr>
          <a:lstStyle/>
          <a:p>
            <a:r>
              <a:rPr lang="de-DE" dirty="0"/>
              <a:t>Aufteilung des MBR:</a:t>
            </a:r>
          </a:p>
          <a:p>
            <a:pPr lvl="1"/>
            <a:r>
              <a:rPr lang="de-DE" dirty="0"/>
              <a:t>Programmcode des Boot-</a:t>
            </a:r>
            <a:r>
              <a:rPr lang="de-DE" dirty="0" err="1"/>
              <a:t>Loaders</a:t>
            </a:r>
            <a:r>
              <a:rPr lang="de-DE" dirty="0"/>
              <a:t> (die ersten 440 Byte des MBR)</a:t>
            </a:r>
          </a:p>
          <a:p>
            <a:pPr lvl="1"/>
            <a:r>
              <a:rPr lang="de-DE" dirty="0"/>
              <a:t>Datenträgersignatur (4 Byte), dann zwei Null-Bytes </a:t>
            </a:r>
          </a:p>
          <a:p>
            <a:pPr lvl="1"/>
            <a:r>
              <a:rPr lang="de-DE" dirty="0"/>
              <a:t>Partitionstabelle (64 Byte)</a:t>
            </a:r>
          </a:p>
          <a:p>
            <a:pPr lvl="1"/>
            <a:r>
              <a:rPr lang="de-DE" dirty="0"/>
              <a:t>Abschluss durch zwei Bytewerte 55AA (hex, binär: 01010101 10101010), auch als Bootsektor-Signatur oder Magic </a:t>
            </a:r>
            <a:r>
              <a:rPr lang="de-DE" dirty="0" err="1"/>
              <a:t>Number</a:t>
            </a:r>
            <a:r>
              <a:rPr lang="de-DE" dirty="0"/>
              <a:t> bezeichnet.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MBR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67" y="4524974"/>
            <a:ext cx="9742327" cy="133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11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3717982"/>
          </a:xfrm>
        </p:spPr>
        <p:txBody>
          <a:bodyPr>
            <a:normAutofit/>
          </a:bodyPr>
          <a:lstStyle/>
          <a:p>
            <a:r>
              <a:rPr lang="de-DE" dirty="0"/>
              <a:t>Die Standard-Partitionstabelle umfasst 					      4 Einträge zu je 16 Byte. </a:t>
            </a:r>
          </a:p>
          <a:p>
            <a:r>
              <a:rPr lang="de-DE" dirty="0"/>
              <a:t>Damit ist die Definition von vier sog. „primären Partitionen“ möglich. </a:t>
            </a:r>
          </a:p>
          <a:p>
            <a:r>
              <a:rPr lang="de-DE" dirty="0"/>
              <a:t>Eine dieser primären Partitionen kann als „erweiterte Partition“ verwendet werden. </a:t>
            </a:r>
          </a:p>
          <a:p>
            <a:r>
              <a:rPr lang="de-DE" dirty="0"/>
              <a:t>In der Partitionstabelle (ab Byteposition 446) des MBR sind max. vier solcher 16 Byte großen sog. „primären“ Partitionseinträge möglich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MBR</a:t>
            </a:r>
          </a:p>
        </p:txBody>
      </p:sp>
    </p:spTree>
    <p:extLst>
      <p:ext uri="{BB962C8B-B14F-4D97-AF65-F5344CB8AC3E}">
        <p14:creationId xmlns:p14="http://schemas.microsoft.com/office/powerpoint/2010/main" val="242027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3633663"/>
              </p:ext>
            </p:extLst>
          </p:nvPr>
        </p:nvGraphicFramePr>
        <p:xfrm>
          <a:off x="1820961" y="2608350"/>
          <a:ext cx="8966346" cy="3340362"/>
        </p:xfrm>
        <a:graphic>
          <a:graphicData uri="http://schemas.openxmlformats.org/drawingml/2006/table">
            <a:tbl>
              <a:tblPr/>
              <a:tblGrid>
                <a:gridCol w="1907178">
                  <a:extLst>
                    <a:ext uri="{9D8B030D-6E8A-4147-A177-3AD203B41FA5}">
                      <a16:colId xmlns:a16="http://schemas.microsoft.com/office/drawing/2014/main" val="591270139"/>
                    </a:ext>
                  </a:extLst>
                </a:gridCol>
                <a:gridCol w="1337636">
                  <a:extLst>
                    <a:ext uri="{9D8B030D-6E8A-4147-A177-3AD203B41FA5}">
                      <a16:colId xmlns:a16="http://schemas.microsoft.com/office/drawing/2014/main" val="2264507629"/>
                    </a:ext>
                  </a:extLst>
                </a:gridCol>
                <a:gridCol w="5721532">
                  <a:extLst>
                    <a:ext uri="{9D8B030D-6E8A-4147-A177-3AD203B41FA5}">
                      <a16:colId xmlns:a16="http://schemas.microsoft.com/office/drawing/2014/main" val="2203083253"/>
                    </a:ext>
                  </a:extLst>
                </a:gridCol>
              </a:tblGrid>
              <a:tr h="711686"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Byteposition (hex)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Größe (Byte)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Inhalt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348618"/>
                  </a:ext>
                </a:extLst>
              </a:tr>
              <a:tr h="422188"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0x00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Wert 80 (hex): bootfähige Partition, Wert 00 : nicht bootfähig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70035"/>
                  </a:ext>
                </a:extLst>
              </a:tr>
              <a:tr h="422188"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0x01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CHS (Cylinder, Head, Sector)-Eintrag des ersten Sektors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4963113"/>
                  </a:ext>
                </a:extLst>
              </a:tr>
              <a:tr h="422188"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0x04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Partitionstyp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550510"/>
                  </a:ext>
                </a:extLst>
              </a:tr>
              <a:tr h="422188"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0x05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CHS-Eintrag des letzten Sektors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541887"/>
                  </a:ext>
                </a:extLst>
              </a:tr>
              <a:tr h="422188"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0x08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Startsektor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586409"/>
                  </a:ext>
                </a:extLst>
              </a:tr>
              <a:tr h="422188"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0x0C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Anzahl der Sektoren</a:t>
                      </a:r>
                    </a:p>
                  </a:txBody>
                  <a:tcPr marL="15028" marR="15028" marT="15028" marB="1502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121237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MBR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898725" y="2076701"/>
            <a:ext cx="10810819" cy="68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2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Aufbau eines 16-Byte-Partitionseintrags</a:t>
            </a:r>
          </a:p>
        </p:txBody>
      </p:sp>
    </p:spTree>
    <p:extLst>
      <p:ext uri="{BB962C8B-B14F-4D97-AF65-F5344CB8AC3E}">
        <p14:creationId xmlns:p14="http://schemas.microsoft.com/office/powerpoint/2010/main" val="117815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3717982"/>
          </a:xfrm>
        </p:spPr>
        <p:txBody>
          <a:bodyPr>
            <a:normAutofit/>
          </a:bodyPr>
          <a:lstStyle/>
          <a:p>
            <a:r>
              <a:rPr lang="de-DE" dirty="0"/>
              <a:t>Bei mehr als vier Partitionen kann eine (einzige)				    der Partitionen als Typ „erweitert“ definiert werden. </a:t>
            </a:r>
          </a:p>
          <a:p>
            <a:r>
              <a:rPr lang="de-DE" dirty="0"/>
              <a:t>Der Startsektor-Eintrag einer 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erweiterten Partition </a:t>
            </a:r>
            <a:r>
              <a:rPr lang="de-DE" dirty="0"/>
              <a:t>verweist auf die Position der ersten erweiterten Partitionstabelle (im ersten Sektor dieser Partition). </a:t>
            </a:r>
          </a:p>
          <a:p>
            <a:r>
              <a:rPr lang="de-DE" dirty="0"/>
              <a:t>In dieser erweiterten Partitionstabelle gibt es nun zwei 16-Byte-Einträge: </a:t>
            </a:r>
          </a:p>
          <a:p>
            <a:pPr lvl="1"/>
            <a:r>
              <a:rPr lang="de-DE" dirty="0"/>
              <a:t>Der erste definiert die sog. „logische“ Partition selbst</a:t>
            </a:r>
          </a:p>
          <a:p>
            <a:pPr lvl="1"/>
            <a:r>
              <a:rPr lang="de-DE" dirty="0"/>
              <a:t>Der zweite verweist ggf. auf die Position der nächsten erweiterten Partitionstabelle. </a:t>
            </a:r>
          </a:p>
          <a:p>
            <a:pPr lvl="1"/>
            <a:r>
              <a:rPr lang="de-DE" dirty="0"/>
              <a:t>Durch diese Verkettung von erweiterten Partitionstabellen können prinzipiell beliebig viele logische Partitionen angelegt werden. </a:t>
            </a:r>
          </a:p>
          <a:p>
            <a:pPr lvl="1"/>
            <a:r>
              <a:rPr lang="de-DE" dirty="0"/>
              <a:t>Auslesen: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–l</a:t>
            </a:r>
            <a:r>
              <a:rPr lang="de-DE" dirty="0"/>
              <a:t> (Linux)   oder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-partition</a:t>
            </a:r>
            <a:r>
              <a:rPr lang="de-DE" dirty="0"/>
              <a:t> (Windows-</a:t>
            </a:r>
            <a:r>
              <a:rPr lang="de-DE" dirty="0" err="1"/>
              <a:t>Powershell</a:t>
            </a:r>
            <a:r>
              <a:rPr lang="de-DE" dirty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9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MBR</a:t>
            </a:r>
          </a:p>
        </p:txBody>
      </p:sp>
    </p:spTree>
    <p:extLst>
      <p:ext uri="{BB962C8B-B14F-4D97-AF65-F5344CB8AC3E}">
        <p14:creationId xmlns:p14="http://schemas.microsoft.com/office/powerpoint/2010/main" val="122867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3717982"/>
          </a:xfrm>
        </p:spPr>
        <p:txBody>
          <a:bodyPr>
            <a:normAutofit/>
          </a:bodyPr>
          <a:lstStyle/>
          <a:p>
            <a:r>
              <a:rPr lang="de-DE" dirty="0"/>
              <a:t>Der Nachfolger des MBR ist die 						          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Globally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Unique 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IDentifier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Partition Table </a:t>
            </a:r>
            <a:r>
              <a:rPr lang="de-DE" dirty="0"/>
              <a:t>(GPT), </a:t>
            </a:r>
          </a:p>
          <a:p>
            <a:r>
              <a:rPr lang="de-DE" dirty="0"/>
              <a:t>Ein GUID ist eine 16-Byte-Zahl (128 Bit)</a:t>
            </a:r>
          </a:p>
          <a:p>
            <a:r>
              <a:rPr lang="de-DE" dirty="0"/>
              <a:t>Format: hexadezimale Zahlen in der Schreibweise 8-4-4-4-12  		    z.B.  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a0ff09de-b109-0c66-5daa-98ee2968ba0f</a:t>
            </a:r>
          </a:p>
          <a:p>
            <a:r>
              <a:rPr lang="de-DE" dirty="0"/>
              <a:t>eindeutiger Bezeichner z.B. für eine Festplatte</a:t>
            </a:r>
          </a:p>
          <a:p>
            <a:r>
              <a:rPr lang="de-DE" dirty="0"/>
              <a:t>Die GPT umfasst die ersten 34 Sektoren eines Datenträgers und (als Backup-Kopie) zusätzlich die letzten 34 Sektoren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10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GUID</a:t>
            </a:r>
          </a:p>
        </p:txBody>
      </p:sp>
    </p:spTree>
    <p:extLst>
      <p:ext uri="{BB962C8B-B14F-4D97-AF65-F5344CB8AC3E}">
        <p14:creationId xmlns:p14="http://schemas.microsoft.com/office/powerpoint/2010/main" val="831670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56" y="3121516"/>
            <a:ext cx="10456846" cy="1504515"/>
          </a:xfrm>
          <a:prstGeom prst="rect">
            <a:avLst/>
          </a:prstGeom>
        </p:spPr>
      </p:pic>
      <p:sp>
        <p:nvSpPr>
          <p:cNvPr id="7" name="Geschweifte Klammer links 6"/>
          <p:cNvSpPr/>
          <p:nvPr/>
        </p:nvSpPr>
        <p:spPr>
          <a:xfrm rot="5400000">
            <a:off x="5646267" y="-1072326"/>
            <a:ext cx="369982" cy="10168129"/>
          </a:xfrm>
          <a:prstGeom prst="leftBrace">
            <a:avLst>
              <a:gd name="adj1" fmla="val 172123"/>
              <a:gd name="adj2" fmla="val 71480"/>
            </a:avLst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2076701"/>
            <a:ext cx="10871346" cy="661274"/>
          </a:xfrm>
        </p:spPr>
        <p:txBody>
          <a:bodyPr>
            <a:normAutofit/>
          </a:bodyPr>
          <a:lstStyle/>
          <a:p>
            <a:r>
              <a:rPr lang="de-DE" dirty="0"/>
              <a:t>Aufbau des GPT-Headers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GUID</a:t>
            </a:r>
          </a:p>
        </p:txBody>
      </p:sp>
      <p:cxnSp>
        <p:nvCxnSpPr>
          <p:cNvPr id="9" name="Gerader Verbinder 8"/>
          <p:cNvCxnSpPr/>
          <p:nvPr/>
        </p:nvCxnSpPr>
        <p:spPr>
          <a:xfrm>
            <a:off x="2027355" y="3121516"/>
            <a:ext cx="1" cy="58033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482510" y="3121516"/>
            <a:ext cx="1" cy="58033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/>
          <p:cNvCxnSpPr/>
          <p:nvPr/>
        </p:nvCxnSpPr>
        <p:spPr>
          <a:xfrm>
            <a:off x="5018279" y="3141795"/>
            <a:ext cx="1" cy="58033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/>
        </p:nvCxnSpPr>
        <p:spPr>
          <a:xfrm>
            <a:off x="6529679" y="3141795"/>
            <a:ext cx="1" cy="58033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/>
          <p:cNvCxnSpPr/>
          <p:nvPr/>
        </p:nvCxnSpPr>
        <p:spPr>
          <a:xfrm>
            <a:off x="8979502" y="3141795"/>
            <a:ext cx="1" cy="58033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640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Systemstart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Bootvorgang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0F44CF5-B4F6-186D-C5C2-918939944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837" y="1525428"/>
            <a:ext cx="6170247" cy="445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9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3508723" y="3870022"/>
            <a:ext cx="7944672" cy="2987978"/>
          </a:xfrm>
        </p:spPr>
        <p:txBody>
          <a:bodyPr/>
          <a:lstStyle/>
          <a:p>
            <a:r>
              <a:rPr lang="de-DE" dirty="0"/>
              <a:t>Festplattenstruktur:</a:t>
            </a:r>
          </a:p>
          <a:p>
            <a:pPr marL="438912" lvl="1" indent="0">
              <a:buNone/>
            </a:pPr>
            <a:r>
              <a:rPr lang="de-DE" sz="2400" dirty="0"/>
              <a:t>A: Spur bzw. Zylinder</a:t>
            </a:r>
          </a:p>
          <a:p>
            <a:pPr marL="438912" lvl="1" indent="0">
              <a:buNone/>
            </a:pPr>
            <a:r>
              <a:rPr lang="de-DE" sz="2400" dirty="0"/>
              <a:t>B: Sektor</a:t>
            </a:r>
          </a:p>
          <a:p>
            <a:pPr marL="438912" lvl="1" indent="0">
              <a:buNone/>
            </a:pPr>
            <a:r>
              <a:rPr lang="de-DE" sz="2400" dirty="0"/>
              <a:t>C: Block (meist 512 Byte)</a:t>
            </a:r>
          </a:p>
          <a:p>
            <a:pPr marL="438912" lvl="1" indent="0">
              <a:buNone/>
            </a:pPr>
            <a:r>
              <a:rPr lang="de-DE" sz="2400" dirty="0"/>
              <a:t>D: Cluster (zusammengefasste Blöcke)</a:t>
            </a:r>
          </a:p>
        </p:txBody>
      </p:sp>
      <p:pic>
        <p:nvPicPr>
          <p:cNvPr id="1026" name="Picture 2" descr="http://upload.wikimedia.org/wikipedia/commons/thumb/f/f8/Seagate-ST4702N-03.jpg/220px-Seagate-ST4702N-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653" y="1787220"/>
            <a:ext cx="2514600" cy="166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upload.wikimedia.org/wikipedia/commons/thumb/5/54/Kopftraeger_WD2500JS-00MHB0.jpg/220px-Kopftraeger_WD2500JS-00MHB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989" y="1787218"/>
            <a:ext cx="2514600" cy="166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upload.wikimedia.org/wikipedia/commons/thumb/1/1e/Hd_head_IMGP6477_wp.jpg/220px-Hd_head_IMGP6477_wp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924" y="1781503"/>
            <a:ext cx="2514600" cy="168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9335750" y="3472554"/>
            <a:ext cx="2246650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60" dirty="0">
                <a:solidFill>
                  <a:schemeClr val="tx2">
                    <a:lumMod val="25000"/>
                  </a:schemeClr>
                </a:solidFill>
              </a:rPr>
              <a:t>Quelle: Wikipedia</a:t>
            </a:r>
          </a:p>
        </p:txBody>
      </p:sp>
      <p:pic>
        <p:nvPicPr>
          <p:cNvPr id="1032" name="Picture 8" descr="http://upload.wikimedia.org/wikipedia/commons/thumb/a/ae/Disk-structure2.svg/220px-Disk-structure2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34" y="3601821"/>
            <a:ext cx="2514600" cy="251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902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Formatieren: Über die technische Struktur				         der Festplatte wird eine logische Struktur gelegt, 			        über die das Betriebssystem die Platte verwaltet</a:t>
            </a:r>
          </a:p>
          <a:p>
            <a:r>
              <a:rPr lang="de-DE" dirty="0"/>
              <a:t>Dateisysteme verwenden oft größere Blöcke (z.B. 1024 Byte=1kB, 2kB, 4kB) als die physikalischen Blöcke der Platte (512 Byte)</a:t>
            </a:r>
          </a:p>
          <a:p>
            <a:r>
              <a:rPr lang="de-DE" dirty="0"/>
              <a:t>Ein Block ist die kleinste mögliche Dateneinheit</a:t>
            </a:r>
          </a:p>
          <a:p>
            <a:r>
              <a:rPr lang="de-DE" dirty="0"/>
              <a:t>Partitionieren: Aufteilung der Platte in Bereiche, für effizienteren Zugriff auf die Daten</a:t>
            </a:r>
          </a:p>
        </p:txBody>
      </p:sp>
    </p:spTree>
    <p:extLst>
      <p:ext uri="{BB962C8B-B14F-4D97-AF65-F5344CB8AC3E}">
        <p14:creationId xmlns:p14="http://schemas.microsoft.com/office/powerpoint/2010/main" val="1517400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Partition anlegen (Linux)</a:t>
            </a:r>
          </a:p>
          <a:p>
            <a:pPr lvl="1"/>
            <a:r>
              <a:rPr lang="de-DE" dirty="0"/>
              <a:t>Disk-Bezeichnungen auslesen: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–l</a:t>
            </a:r>
          </a:p>
          <a:p>
            <a:pPr lvl="1"/>
            <a:r>
              <a:rPr lang="de-DE" dirty="0"/>
              <a:t>Partitionieren einer Platte, z.B.: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parted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sdb</a:t>
            </a:r>
            <a:endParaRPr lang="de-DE" b="1" dirty="0"/>
          </a:p>
          <a:p>
            <a:pPr lvl="1"/>
            <a:r>
              <a:rPr lang="de-DE" dirty="0"/>
              <a:t>Sub-Kommandos von </a:t>
            </a:r>
            <a:r>
              <a:rPr lang="de-DE" dirty="0" err="1"/>
              <a:t>parted</a:t>
            </a:r>
            <a:r>
              <a:rPr lang="de-DE" dirty="0"/>
              <a:t>:</a:t>
            </a:r>
          </a:p>
          <a:p>
            <a:pPr marL="914400" lvl="2" indent="0">
              <a:buNone/>
            </a:pP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endParaRPr lang="de-D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mkpart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PART-TYPE  START  END</a:t>
            </a:r>
          </a:p>
          <a:p>
            <a:pPr marL="914400" lvl="2" indent="0">
              <a:buNone/>
            </a:pPr>
            <a:r>
              <a:rPr lang="de-DE" sz="2000" dirty="0">
                <a:cs typeface="Courier New" panose="02070309020205020404" pitchFamily="49" charset="0"/>
              </a:rPr>
              <a:t>z.B.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mkpart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logical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279GB 291GB</a:t>
            </a:r>
          </a:p>
        </p:txBody>
      </p:sp>
    </p:spTree>
    <p:extLst>
      <p:ext uri="{BB962C8B-B14F-4D97-AF65-F5344CB8AC3E}">
        <p14:creationId xmlns:p14="http://schemas.microsoft.com/office/powerpoint/2010/main" val="187054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Filesystem anlegen und formatieren</a:t>
            </a:r>
          </a:p>
          <a:p>
            <a:pPr lvl="1"/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mke2fs</a:t>
            </a:r>
            <a:r>
              <a:rPr lang="de-DE" dirty="0"/>
              <a:t>  legt ext2, ext3 oder ext4-Systeme an</a:t>
            </a:r>
          </a:p>
          <a:p>
            <a:pPr lvl="1"/>
            <a:r>
              <a:rPr lang="de-DE" dirty="0">
                <a:cs typeface="Courier New" panose="02070309020205020404" pitchFamily="49" charset="0"/>
              </a:rPr>
              <a:t>z.B.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mke2fs –t ext2 –b 2048 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/sdb1</a:t>
            </a:r>
          </a:p>
          <a:p>
            <a:pPr lvl="1"/>
            <a:r>
              <a:rPr lang="de-DE" dirty="0"/>
              <a:t>Mount-Point anlegen: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mein_verzeichnis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de-DE" dirty="0"/>
              <a:t>Einhängen („</a:t>
            </a:r>
            <a:r>
              <a:rPr lang="de-DE" dirty="0" err="1"/>
              <a:t>mounten</a:t>
            </a:r>
            <a:r>
              <a:rPr lang="de-DE" dirty="0"/>
              <a:t>“) </a:t>
            </a:r>
          </a:p>
          <a:p>
            <a:pPr marL="768096" lvl="2" indent="0">
              <a:buNone/>
            </a:pPr>
            <a:r>
              <a:rPr lang="de-DE" sz="288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mount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dev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/sdb1 /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de-D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mein_verzeichnis</a:t>
            </a:r>
            <a:endParaRPr lang="de-D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773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118502"/>
            <a:ext cx="10515600" cy="3670067"/>
          </a:xfrm>
        </p:spPr>
        <p:txBody>
          <a:bodyPr>
            <a:normAutofit/>
          </a:bodyPr>
          <a:lstStyle/>
          <a:p>
            <a:r>
              <a:rPr lang="de-DE" dirty="0"/>
              <a:t>Linux Standard-Filesystem ohne </a:t>
            </a:r>
            <a:r>
              <a:rPr lang="de-DE" dirty="0" err="1"/>
              <a:t>Journaling</a:t>
            </a:r>
            <a:endParaRPr lang="de-DE" dirty="0"/>
          </a:p>
          <a:p>
            <a:r>
              <a:rPr lang="de-DE" dirty="0"/>
              <a:t>Blockgröße wird beim Formatieren festgelegt, Größen 1024, 2048 oder 4096 Byte</a:t>
            </a:r>
          </a:p>
          <a:p>
            <a:r>
              <a:rPr lang="de-DE" dirty="0"/>
              <a:t>dies ist die kleinste nutzbare Speichereinheit</a:t>
            </a:r>
          </a:p>
          <a:p>
            <a:r>
              <a:rPr lang="de-DE" dirty="0"/>
              <a:t>je kleiner die Blockgröße, umso mehr administrativer Overhead</a:t>
            </a:r>
          </a:p>
          <a:p>
            <a:r>
              <a:rPr lang="de-DE" dirty="0"/>
              <a:t>je größer die Blockgröße, umso mehr ggf. verschwendeter Plattenplatz (bei vielen kleinen Dateien)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ext2</a:t>
            </a:r>
          </a:p>
        </p:txBody>
      </p:sp>
    </p:spTree>
    <p:extLst>
      <p:ext uri="{BB962C8B-B14F-4D97-AF65-F5344CB8AC3E}">
        <p14:creationId xmlns:p14="http://schemas.microsoft.com/office/powerpoint/2010/main" val="1893419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ext2 Partitionsstruktur</a:t>
            </a:r>
          </a:p>
        </p:txBody>
      </p:sp>
      <p:sp>
        <p:nvSpPr>
          <p:cNvPr id="8" name="Rechteck 7"/>
          <p:cNvSpPr/>
          <p:nvPr/>
        </p:nvSpPr>
        <p:spPr>
          <a:xfrm>
            <a:off x="1562923" y="2305675"/>
            <a:ext cx="95050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Boot Block</a:t>
            </a:r>
          </a:p>
        </p:txBody>
      </p:sp>
      <p:sp>
        <p:nvSpPr>
          <p:cNvPr id="9" name="Rechteck 8"/>
          <p:cNvSpPr/>
          <p:nvPr/>
        </p:nvSpPr>
        <p:spPr>
          <a:xfrm>
            <a:off x="2565531" y="2305675"/>
            <a:ext cx="2579963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 err="1"/>
              <a:t>BlockGroup</a:t>
            </a:r>
            <a:r>
              <a:rPr lang="de-DE" sz="2160" dirty="0"/>
              <a:t> 0</a:t>
            </a:r>
          </a:p>
        </p:txBody>
      </p:sp>
      <p:sp>
        <p:nvSpPr>
          <p:cNvPr id="10" name="Rechteck 9"/>
          <p:cNvSpPr/>
          <p:nvPr/>
        </p:nvSpPr>
        <p:spPr>
          <a:xfrm>
            <a:off x="7599271" y="2305675"/>
            <a:ext cx="2579963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 err="1"/>
              <a:t>BlockGroup</a:t>
            </a:r>
            <a:r>
              <a:rPr lang="de-DE" sz="2160" dirty="0"/>
              <a:t> N</a:t>
            </a:r>
          </a:p>
        </p:txBody>
      </p:sp>
      <p:sp>
        <p:nvSpPr>
          <p:cNvPr id="11" name="Rechteck 10"/>
          <p:cNvSpPr/>
          <p:nvPr/>
        </p:nvSpPr>
        <p:spPr>
          <a:xfrm>
            <a:off x="5197595" y="2308169"/>
            <a:ext cx="2401675" cy="691277"/>
          </a:xfrm>
          <a:prstGeom prst="rect">
            <a:avLst/>
          </a:prstGeom>
          <a:pattFill prst="pct90">
            <a:fgClr>
              <a:srgbClr val="00B0F0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 dirty="0"/>
          </a:p>
        </p:txBody>
      </p:sp>
      <p:sp>
        <p:nvSpPr>
          <p:cNvPr id="12" name="Rechteck 11"/>
          <p:cNvSpPr/>
          <p:nvPr/>
        </p:nvSpPr>
        <p:spPr>
          <a:xfrm>
            <a:off x="1522029" y="3996353"/>
            <a:ext cx="95050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 err="1"/>
              <a:t>SuperBlock</a:t>
            </a:r>
            <a:endParaRPr lang="de-DE" sz="2160" dirty="0"/>
          </a:p>
        </p:txBody>
      </p:sp>
      <p:sp>
        <p:nvSpPr>
          <p:cNvPr id="13" name="Rechteck 12"/>
          <p:cNvSpPr/>
          <p:nvPr/>
        </p:nvSpPr>
        <p:spPr>
          <a:xfrm>
            <a:off x="2513429" y="3993773"/>
            <a:ext cx="1681560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Group </a:t>
            </a:r>
            <a:r>
              <a:rPr lang="de-DE" sz="2160" dirty="0" err="1"/>
              <a:t>Descriptors</a:t>
            </a:r>
            <a:endParaRPr lang="de-DE" sz="2160" dirty="0"/>
          </a:p>
        </p:txBody>
      </p:sp>
      <p:sp>
        <p:nvSpPr>
          <p:cNvPr id="14" name="Rechteck 13"/>
          <p:cNvSpPr/>
          <p:nvPr/>
        </p:nvSpPr>
        <p:spPr>
          <a:xfrm>
            <a:off x="4222819" y="3993773"/>
            <a:ext cx="1095494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Block Bitmap</a:t>
            </a:r>
          </a:p>
        </p:txBody>
      </p:sp>
      <p:sp>
        <p:nvSpPr>
          <p:cNvPr id="15" name="Rechteck 14"/>
          <p:cNvSpPr/>
          <p:nvPr/>
        </p:nvSpPr>
        <p:spPr>
          <a:xfrm>
            <a:off x="6488270" y="3993773"/>
            <a:ext cx="1681560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 err="1"/>
              <a:t>Inode</a:t>
            </a:r>
            <a:r>
              <a:rPr lang="de-DE" sz="2160" dirty="0"/>
              <a:t> Table</a:t>
            </a:r>
          </a:p>
        </p:txBody>
      </p:sp>
      <p:sp>
        <p:nvSpPr>
          <p:cNvPr id="16" name="Rechteck 15"/>
          <p:cNvSpPr/>
          <p:nvPr/>
        </p:nvSpPr>
        <p:spPr>
          <a:xfrm>
            <a:off x="5360212" y="3993773"/>
            <a:ext cx="1095494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 err="1"/>
              <a:t>Inode</a:t>
            </a:r>
            <a:r>
              <a:rPr lang="de-DE" sz="2160" dirty="0"/>
              <a:t> Bitmap</a:t>
            </a:r>
          </a:p>
        </p:txBody>
      </p:sp>
      <p:sp>
        <p:nvSpPr>
          <p:cNvPr id="17" name="Rechteck 16"/>
          <p:cNvSpPr/>
          <p:nvPr/>
        </p:nvSpPr>
        <p:spPr>
          <a:xfrm>
            <a:off x="8222083" y="3994219"/>
            <a:ext cx="3007642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Data Blocks</a:t>
            </a:r>
          </a:p>
        </p:txBody>
      </p:sp>
      <p:cxnSp>
        <p:nvCxnSpPr>
          <p:cNvPr id="19" name="Gerader Verbinder 18"/>
          <p:cNvCxnSpPr/>
          <p:nvPr/>
        </p:nvCxnSpPr>
        <p:spPr>
          <a:xfrm flipV="1">
            <a:off x="1550597" y="3339381"/>
            <a:ext cx="848724" cy="654392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Gerader Verbinder 20"/>
          <p:cNvCxnSpPr/>
          <p:nvPr/>
        </p:nvCxnSpPr>
        <p:spPr>
          <a:xfrm>
            <a:off x="5607981" y="3337511"/>
            <a:ext cx="5586186" cy="656262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Rechteck 24"/>
          <p:cNvSpPr/>
          <p:nvPr/>
        </p:nvSpPr>
        <p:spPr>
          <a:xfrm>
            <a:off x="2400766" y="2033176"/>
            <a:ext cx="3207215" cy="1306205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80" dirty="0" err="1"/>
              <a:t>BlockGroup</a:t>
            </a:r>
            <a:r>
              <a:rPr lang="de-DE" sz="2880" dirty="0"/>
              <a:t> 0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1550597" y="4826974"/>
            <a:ext cx="79001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40" dirty="0"/>
              <a:t>1 Block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2965365" y="4826974"/>
            <a:ext cx="890147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40" dirty="0"/>
              <a:t>n Blocks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5475382" y="4826974"/>
            <a:ext cx="79001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40" dirty="0"/>
              <a:t>1 Block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355483" y="4843654"/>
            <a:ext cx="79001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40" dirty="0"/>
              <a:t>1 Block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6854941" y="4820690"/>
            <a:ext cx="890147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40" dirty="0"/>
              <a:t>n Blocks</a:t>
            </a:r>
          </a:p>
        </p:txBody>
      </p:sp>
    </p:spTree>
    <p:extLst>
      <p:ext uri="{BB962C8B-B14F-4D97-AF65-F5344CB8AC3E}">
        <p14:creationId xmlns:p14="http://schemas.microsoft.com/office/powerpoint/2010/main" val="152089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5" grpId="0" animBg="1"/>
      <p:bldP spid="28" grpId="0"/>
      <p:bldP spid="29" grpId="0"/>
      <p:bldP spid="30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Blöcke werden in Gruppen zusammengefasst 		    (</a:t>
            </a:r>
            <a:r>
              <a:rPr lang="de-DE" dirty="0" err="1"/>
              <a:t>BlockGroup</a:t>
            </a:r>
            <a:r>
              <a:rPr lang="de-DE" dirty="0"/>
              <a:t>), um Fragmentierung der Festplatte 			           zu minimieren und Leseprozesse zu beschleunigen</a:t>
            </a:r>
          </a:p>
          <a:p>
            <a:r>
              <a:rPr lang="de-DE" dirty="0"/>
              <a:t>Jede </a:t>
            </a:r>
            <a:r>
              <a:rPr lang="de-DE" dirty="0" err="1"/>
              <a:t>BlockGroup</a:t>
            </a:r>
            <a:r>
              <a:rPr lang="de-DE" dirty="0"/>
              <a:t> beginnt mit Informationen über sich selbst:</a:t>
            </a:r>
          </a:p>
          <a:p>
            <a:pPr lvl="1"/>
            <a:r>
              <a:rPr lang="de-DE" dirty="0"/>
              <a:t>Block Bitmap (freie/belegte Blöcke)</a:t>
            </a:r>
          </a:p>
          <a:p>
            <a:pPr lvl="1"/>
            <a:r>
              <a:rPr lang="de-DE" dirty="0" err="1"/>
              <a:t>Inode</a:t>
            </a:r>
            <a:r>
              <a:rPr lang="de-DE" dirty="0"/>
              <a:t> Bitmap (freie/belegte </a:t>
            </a:r>
            <a:r>
              <a:rPr lang="de-DE" dirty="0" err="1"/>
              <a:t>Inodes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Inode</a:t>
            </a:r>
            <a:r>
              <a:rPr lang="de-DE" dirty="0"/>
              <a:t>-Tabelle</a:t>
            </a:r>
          </a:p>
          <a:p>
            <a:pPr lvl="1"/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ext2 Blockstruktur</a:t>
            </a:r>
          </a:p>
        </p:txBody>
      </p:sp>
    </p:spTree>
    <p:extLst>
      <p:ext uri="{BB962C8B-B14F-4D97-AF65-F5344CB8AC3E}">
        <p14:creationId xmlns:p14="http://schemas.microsoft.com/office/powerpoint/2010/main" val="1145094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Block Bitmap (Größe: ein Block)</a:t>
            </a:r>
          </a:p>
          <a:p>
            <a:pPr lvl="1"/>
            <a:r>
              <a:rPr lang="de-DE" dirty="0"/>
              <a:t>Blockposition 0 in einer „normalen“ </a:t>
            </a:r>
            <a:r>
              <a:rPr lang="de-DE" dirty="0" err="1"/>
              <a:t>BlockGroup</a:t>
            </a:r>
            <a:r>
              <a:rPr lang="de-DE" dirty="0"/>
              <a:t> (ohne Superblock)</a:t>
            </a:r>
          </a:p>
          <a:p>
            <a:pPr lvl="1"/>
            <a:r>
              <a:rPr lang="de-DE" dirty="0"/>
              <a:t>Eine Bitfolge, die anzeigt, welche Blöcke frei (0-Bit) oder belegt sind (1-Bit)</a:t>
            </a:r>
          </a:p>
          <a:p>
            <a:pPr lvl="1"/>
            <a:r>
              <a:rPr lang="de-DE" dirty="0"/>
              <a:t>Adressierung von max. 8*(Blockgröße) Blöcken innerhalb einer Gruppe (z.B. 8*1024=8192 Bit </a:t>
            </a:r>
            <a:r>
              <a:rPr lang="de-DE" dirty="0">
                <a:sym typeface="Symbol" panose="05050102010706020507" pitchFamily="18" charset="2"/>
              </a:rPr>
              <a:t></a:t>
            </a:r>
            <a:r>
              <a:rPr lang="de-DE" dirty="0"/>
              <a:t> 8192 Blöcke)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ext2 Blockstruktur</a:t>
            </a:r>
          </a:p>
        </p:txBody>
      </p:sp>
    </p:spTree>
    <p:extLst>
      <p:ext uri="{BB962C8B-B14F-4D97-AF65-F5344CB8AC3E}">
        <p14:creationId xmlns:p14="http://schemas.microsoft.com/office/powerpoint/2010/main" val="731021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Inode</a:t>
            </a:r>
            <a:r>
              <a:rPr lang="de-DE" dirty="0"/>
              <a:t> Bitmap (Größe: ein Block)</a:t>
            </a:r>
          </a:p>
          <a:p>
            <a:pPr lvl="1"/>
            <a:r>
              <a:rPr lang="de-DE" dirty="0"/>
              <a:t>Blockposition 1 in einer „normalen“ </a:t>
            </a:r>
            <a:r>
              <a:rPr lang="de-DE" dirty="0" err="1"/>
              <a:t>BlockGroup</a:t>
            </a:r>
            <a:endParaRPr lang="de-DE" dirty="0"/>
          </a:p>
          <a:p>
            <a:pPr lvl="1"/>
            <a:r>
              <a:rPr lang="de-DE" dirty="0"/>
              <a:t>Eine Bitfolge, die anzeigt, welche </a:t>
            </a:r>
            <a:r>
              <a:rPr lang="de-DE" dirty="0" err="1"/>
              <a:t>Inodes</a:t>
            </a:r>
            <a:r>
              <a:rPr lang="de-DE" dirty="0"/>
              <a:t> frei (0-Bit) oder belegt sind (1-Bit)</a:t>
            </a:r>
          </a:p>
          <a:p>
            <a:pPr lvl="1"/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ext2 Blockstruktur</a:t>
            </a:r>
          </a:p>
        </p:txBody>
      </p:sp>
    </p:spTree>
    <p:extLst>
      <p:ext uri="{BB962C8B-B14F-4D97-AF65-F5344CB8AC3E}">
        <p14:creationId xmlns:p14="http://schemas.microsoft.com/office/powerpoint/2010/main" val="3104883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Inodes</a:t>
            </a:r>
            <a:r>
              <a:rPr lang="de-DE" dirty="0"/>
              <a:t> (Index-Knoten)</a:t>
            </a:r>
          </a:p>
          <a:p>
            <a:pPr lvl="1"/>
            <a:r>
              <a:rPr lang="de-DE" dirty="0"/>
              <a:t>Jeder Datei im Dateisystem ist eine </a:t>
            </a:r>
            <a:r>
              <a:rPr lang="de-DE" dirty="0" err="1"/>
              <a:t>Inode</a:t>
            </a:r>
            <a:r>
              <a:rPr lang="de-DE" dirty="0"/>
              <a:t>-Nr. zugeordnet</a:t>
            </a:r>
          </a:p>
          <a:p>
            <a:pPr lvl="1"/>
            <a:r>
              <a:rPr lang="de-DE" dirty="0"/>
              <a:t>Ein </a:t>
            </a:r>
            <a:r>
              <a:rPr lang="de-DE" dirty="0" err="1"/>
              <a:t>Inode</a:t>
            </a:r>
            <a:r>
              <a:rPr lang="de-DE" dirty="0"/>
              <a:t> enthält alle Dateiattribute und die Nummern derjenigen Blöcke, in denen die Daten gespeichert sind</a:t>
            </a:r>
          </a:p>
          <a:p>
            <a:pPr lvl="1"/>
            <a:r>
              <a:rPr lang="de-DE" dirty="0"/>
              <a:t>Größe eines </a:t>
            </a:r>
            <a:r>
              <a:rPr lang="de-DE" dirty="0" err="1"/>
              <a:t>Inodes</a:t>
            </a:r>
            <a:r>
              <a:rPr lang="de-DE" dirty="0"/>
              <a:t> ist im Superblock definiert (z.B. 256 Byte)</a:t>
            </a:r>
          </a:p>
          <a:p>
            <a:pPr lvl="1"/>
            <a:r>
              <a:rPr lang="de-DE" dirty="0"/>
              <a:t>Die </a:t>
            </a:r>
            <a:r>
              <a:rPr lang="de-DE" dirty="0" err="1"/>
              <a:t>Inode</a:t>
            </a:r>
            <a:r>
              <a:rPr lang="de-DE" dirty="0"/>
              <a:t>-Tabelle (ab Block 2) fasst </a:t>
            </a:r>
            <a:r>
              <a:rPr lang="de-DE" dirty="0" err="1"/>
              <a:t>Inodes</a:t>
            </a:r>
            <a:r>
              <a:rPr lang="de-DE" dirty="0"/>
              <a:t> zusammen (Anzahl der </a:t>
            </a:r>
            <a:r>
              <a:rPr lang="de-DE" dirty="0" err="1"/>
              <a:t>Inodes</a:t>
            </a:r>
            <a:r>
              <a:rPr lang="de-DE" dirty="0"/>
              <a:t> pro </a:t>
            </a:r>
            <a:r>
              <a:rPr lang="de-DE" dirty="0" err="1"/>
              <a:t>BlockGroup</a:t>
            </a:r>
            <a:r>
              <a:rPr lang="de-DE" dirty="0"/>
              <a:t> ist im Superblock definiert)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ext2 Blockstruktur</a:t>
            </a:r>
          </a:p>
        </p:txBody>
      </p:sp>
    </p:spTree>
    <p:extLst>
      <p:ext uri="{BB962C8B-B14F-4D97-AF65-F5344CB8AC3E}">
        <p14:creationId xmlns:p14="http://schemas.microsoft.com/office/powerpoint/2010/main" val="3086022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21" name="Inhaltsplatzhalter 20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Inodes</a:t>
            </a:r>
            <a:endParaRPr lang="de-DE" dirty="0"/>
          </a:p>
        </p:txBody>
      </p:sp>
      <p:sp>
        <p:nvSpPr>
          <p:cNvPr id="4" name="Rechteck 3"/>
          <p:cNvSpPr/>
          <p:nvPr/>
        </p:nvSpPr>
        <p:spPr>
          <a:xfrm>
            <a:off x="1672964" y="2046446"/>
            <a:ext cx="799513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Type</a:t>
            </a:r>
          </a:p>
        </p:txBody>
      </p:sp>
      <p:sp>
        <p:nvSpPr>
          <p:cNvPr id="5" name="Rechteck 4"/>
          <p:cNvSpPr/>
          <p:nvPr/>
        </p:nvSpPr>
        <p:spPr>
          <a:xfrm>
            <a:off x="2498603" y="2046446"/>
            <a:ext cx="837970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User-ID</a:t>
            </a:r>
          </a:p>
        </p:txBody>
      </p:sp>
      <p:sp>
        <p:nvSpPr>
          <p:cNvPr id="6" name="Rechteck 5"/>
          <p:cNvSpPr/>
          <p:nvPr/>
        </p:nvSpPr>
        <p:spPr>
          <a:xfrm>
            <a:off x="3383793" y="2046446"/>
            <a:ext cx="1049978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File </a:t>
            </a:r>
            <a:r>
              <a:rPr lang="de-DE" sz="2160" dirty="0" err="1"/>
              <a:t>Length</a:t>
            </a:r>
            <a:endParaRPr lang="de-DE" sz="2160" dirty="0"/>
          </a:p>
        </p:txBody>
      </p:sp>
      <p:sp>
        <p:nvSpPr>
          <p:cNvPr id="7" name="Rechteck 6"/>
          <p:cNvSpPr/>
          <p:nvPr/>
        </p:nvSpPr>
        <p:spPr>
          <a:xfrm>
            <a:off x="4471093" y="2046446"/>
            <a:ext cx="1049978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Access Time</a:t>
            </a:r>
          </a:p>
        </p:txBody>
      </p:sp>
      <p:sp>
        <p:nvSpPr>
          <p:cNvPr id="8" name="Rechteck 7"/>
          <p:cNvSpPr/>
          <p:nvPr/>
        </p:nvSpPr>
        <p:spPr>
          <a:xfrm>
            <a:off x="7869061" y="2046446"/>
            <a:ext cx="1201541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 err="1"/>
              <a:t>Deletion</a:t>
            </a:r>
            <a:r>
              <a:rPr lang="de-DE" sz="2160" dirty="0"/>
              <a:t> Time</a:t>
            </a:r>
          </a:p>
        </p:txBody>
      </p:sp>
      <p:sp>
        <p:nvSpPr>
          <p:cNvPr id="9" name="Rechteck 8"/>
          <p:cNvSpPr/>
          <p:nvPr/>
        </p:nvSpPr>
        <p:spPr>
          <a:xfrm>
            <a:off x="6840177" y="2046446"/>
            <a:ext cx="989695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1440" dirty="0" err="1"/>
              <a:t>Modification</a:t>
            </a:r>
            <a:r>
              <a:rPr lang="de-DE" sz="1440" dirty="0"/>
              <a:t> Time</a:t>
            </a:r>
          </a:p>
        </p:txBody>
      </p:sp>
      <p:sp>
        <p:nvSpPr>
          <p:cNvPr id="10" name="Rechteck 9"/>
          <p:cNvSpPr/>
          <p:nvPr/>
        </p:nvSpPr>
        <p:spPr>
          <a:xfrm>
            <a:off x="5571775" y="2046446"/>
            <a:ext cx="1234562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 err="1"/>
              <a:t>Creation</a:t>
            </a:r>
            <a:r>
              <a:rPr lang="de-DE" sz="2160" dirty="0"/>
              <a:t> Time</a:t>
            </a:r>
          </a:p>
        </p:txBody>
      </p:sp>
      <p:sp>
        <p:nvSpPr>
          <p:cNvPr id="11" name="Rechteck 10"/>
          <p:cNvSpPr/>
          <p:nvPr/>
        </p:nvSpPr>
        <p:spPr>
          <a:xfrm>
            <a:off x="2136113" y="3118504"/>
            <a:ext cx="1053139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Group-ID</a:t>
            </a:r>
          </a:p>
        </p:txBody>
      </p:sp>
      <p:sp>
        <p:nvSpPr>
          <p:cNvPr id="12" name="Rechteck 11"/>
          <p:cNvSpPr/>
          <p:nvPr/>
        </p:nvSpPr>
        <p:spPr>
          <a:xfrm>
            <a:off x="3238333" y="3118504"/>
            <a:ext cx="1053139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" rIns="86400" rtlCol="0" anchor="ctr"/>
          <a:lstStyle/>
          <a:p>
            <a:pPr algn="ctr"/>
            <a:r>
              <a:rPr lang="de-DE" sz="1680" dirty="0"/>
              <a:t>Anzahl </a:t>
            </a:r>
            <a:r>
              <a:rPr lang="de-DE" sz="1680" dirty="0" err="1"/>
              <a:t>Hardlinks</a:t>
            </a:r>
            <a:endParaRPr lang="de-DE" sz="1680" dirty="0"/>
          </a:p>
        </p:txBody>
      </p:sp>
      <p:sp>
        <p:nvSpPr>
          <p:cNvPr id="13" name="Rechteck 12"/>
          <p:cNvSpPr/>
          <p:nvPr/>
        </p:nvSpPr>
        <p:spPr>
          <a:xfrm>
            <a:off x="4340554" y="3118504"/>
            <a:ext cx="1053139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/>
              <a:t>Anzahl Disk </a:t>
            </a:r>
            <a:r>
              <a:rPr lang="de-DE" sz="1440" dirty="0" err="1"/>
              <a:t>Sectors</a:t>
            </a:r>
            <a:endParaRPr lang="de-DE" sz="1440" dirty="0"/>
          </a:p>
        </p:txBody>
      </p:sp>
      <p:sp>
        <p:nvSpPr>
          <p:cNvPr id="14" name="Rechteck 13"/>
          <p:cNvSpPr/>
          <p:nvPr/>
        </p:nvSpPr>
        <p:spPr>
          <a:xfrm>
            <a:off x="5455837" y="3118504"/>
            <a:ext cx="1053139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160" dirty="0"/>
              <a:t>File Flags</a:t>
            </a:r>
          </a:p>
        </p:txBody>
      </p:sp>
      <p:sp>
        <p:nvSpPr>
          <p:cNvPr id="15" name="Rechteck 14"/>
          <p:cNvSpPr/>
          <p:nvPr/>
        </p:nvSpPr>
        <p:spPr>
          <a:xfrm>
            <a:off x="2924318" y="4224436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0</a:t>
            </a:r>
          </a:p>
        </p:txBody>
      </p:sp>
      <p:sp>
        <p:nvSpPr>
          <p:cNvPr id="16" name="Rechteck 15"/>
          <p:cNvSpPr/>
          <p:nvPr/>
        </p:nvSpPr>
        <p:spPr>
          <a:xfrm>
            <a:off x="4272150" y="4224436"/>
            <a:ext cx="507828" cy="691277"/>
          </a:xfrm>
          <a:prstGeom prst="rect">
            <a:avLst/>
          </a:prstGeom>
          <a:pattFill prst="pct90">
            <a:fgClr>
              <a:srgbClr val="00B0F0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 dirty="0"/>
          </a:p>
        </p:txBody>
      </p:sp>
      <p:sp>
        <p:nvSpPr>
          <p:cNvPr id="17" name="Rechteck 16"/>
          <p:cNvSpPr/>
          <p:nvPr/>
        </p:nvSpPr>
        <p:spPr>
          <a:xfrm>
            <a:off x="4927324" y="4241372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11</a:t>
            </a:r>
          </a:p>
        </p:txBody>
      </p:sp>
      <p:sp>
        <p:nvSpPr>
          <p:cNvPr id="18" name="Rechteck 17"/>
          <p:cNvSpPr/>
          <p:nvPr/>
        </p:nvSpPr>
        <p:spPr>
          <a:xfrm>
            <a:off x="6254959" y="4241372"/>
            <a:ext cx="1350742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Singly</a:t>
            </a:r>
            <a:r>
              <a:rPr lang="de-DE" sz="1440" dirty="0"/>
              <a:t> </a:t>
            </a:r>
            <a:r>
              <a:rPr lang="de-DE" sz="1440" dirty="0" err="1"/>
              <a:t>indirect</a:t>
            </a:r>
            <a:r>
              <a:rPr lang="de-DE" sz="1440" dirty="0"/>
              <a:t> Block Pointer</a:t>
            </a:r>
          </a:p>
        </p:txBody>
      </p:sp>
      <p:sp>
        <p:nvSpPr>
          <p:cNvPr id="19" name="Rechteck 18"/>
          <p:cNvSpPr/>
          <p:nvPr/>
        </p:nvSpPr>
        <p:spPr>
          <a:xfrm>
            <a:off x="7737783" y="4241372"/>
            <a:ext cx="14868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Doubly</a:t>
            </a:r>
            <a:r>
              <a:rPr lang="de-DE" sz="1440" dirty="0"/>
              <a:t> </a:t>
            </a:r>
            <a:r>
              <a:rPr lang="de-DE" sz="1440" dirty="0" err="1"/>
              <a:t>indirect</a:t>
            </a:r>
            <a:r>
              <a:rPr lang="de-DE" sz="1440" dirty="0"/>
              <a:t> Block Pointer</a:t>
            </a:r>
          </a:p>
        </p:txBody>
      </p:sp>
      <p:sp>
        <p:nvSpPr>
          <p:cNvPr id="20" name="Rechteck 19"/>
          <p:cNvSpPr/>
          <p:nvPr/>
        </p:nvSpPr>
        <p:spPr>
          <a:xfrm>
            <a:off x="9343370" y="4241372"/>
            <a:ext cx="1339314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Trebly</a:t>
            </a:r>
            <a:r>
              <a:rPr lang="de-DE" sz="1440" dirty="0"/>
              <a:t> </a:t>
            </a:r>
            <a:r>
              <a:rPr lang="de-DE" sz="1440" dirty="0" err="1"/>
              <a:t>indirect</a:t>
            </a:r>
            <a:r>
              <a:rPr lang="de-DE" sz="1440" dirty="0"/>
              <a:t> Block Pointer</a:t>
            </a:r>
          </a:p>
        </p:txBody>
      </p:sp>
    </p:spTree>
    <p:extLst>
      <p:ext uri="{BB962C8B-B14F-4D97-AF65-F5344CB8AC3E}">
        <p14:creationId xmlns:p14="http://schemas.microsoft.com/office/powerpoint/2010/main" val="78698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Block Pointer (Größe 32 Bit)</a:t>
            </a:r>
          </a:p>
          <a:p>
            <a:pPr lvl="1"/>
            <a:r>
              <a:rPr lang="de-DE" dirty="0"/>
              <a:t>Die 12 </a:t>
            </a:r>
            <a:r>
              <a:rPr lang="de-DE" dirty="0" err="1"/>
              <a:t>Direct</a:t>
            </a:r>
            <a:r>
              <a:rPr lang="de-DE" dirty="0"/>
              <a:t> Block Pointer zeigen jeweils auf einen Block auf der Festplatte (z.B. bei Blockgröße 4096 Byte können bis zu 12 * 4 kB = 48 kB Dateigröße damit adressiert werden)</a:t>
            </a:r>
          </a:p>
          <a:p>
            <a:pPr lvl="1"/>
            <a:r>
              <a:rPr lang="de-DE" dirty="0"/>
              <a:t>Bei größeren Dateien wird der </a:t>
            </a:r>
            <a:r>
              <a:rPr lang="de-DE" dirty="0" err="1"/>
              <a:t>Singly</a:t>
            </a:r>
            <a:r>
              <a:rPr lang="de-DE" dirty="0"/>
              <a:t> </a:t>
            </a:r>
            <a:r>
              <a:rPr lang="de-DE" dirty="0" err="1"/>
              <a:t>Indirect</a:t>
            </a:r>
            <a:r>
              <a:rPr lang="de-DE" dirty="0"/>
              <a:t> </a:t>
            </a:r>
            <a:r>
              <a:rPr lang="de-DE" dirty="0" err="1"/>
              <a:t>BlockPointer</a:t>
            </a:r>
            <a:r>
              <a:rPr lang="de-DE" dirty="0"/>
              <a:t> verwendet, der auf einen Block verweist, der seinerseits </a:t>
            </a:r>
            <a:r>
              <a:rPr lang="de-DE" dirty="0" err="1"/>
              <a:t>Blockpointer</a:t>
            </a:r>
            <a:r>
              <a:rPr lang="de-DE" dirty="0"/>
              <a:t> enthält (bei 4096 Byte Blocksize passen 1024 Pointer á 32 Bit in diesen Block, damit können Dateigrößen bis zu 1024 * 4 kB = 4 MB adressiert werden)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Inodes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6501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de-DE" dirty="0"/>
              <a:t>Bei noch größeren Dateien wird der </a:t>
            </a:r>
            <a:r>
              <a:rPr lang="de-DE" dirty="0" err="1"/>
              <a:t>Doubly</a:t>
            </a:r>
            <a:r>
              <a:rPr lang="de-DE" dirty="0"/>
              <a:t> </a:t>
            </a:r>
            <a:r>
              <a:rPr lang="de-DE" dirty="0" err="1"/>
              <a:t>Indirect</a:t>
            </a:r>
            <a:r>
              <a:rPr lang="de-DE" dirty="0"/>
              <a:t> </a:t>
            </a:r>
            <a:r>
              <a:rPr lang="de-DE" dirty="0" err="1"/>
              <a:t>BlockPointer</a:t>
            </a:r>
            <a:r>
              <a:rPr lang="de-DE" dirty="0"/>
              <a:t> verwendet</a:t>
            </a:r>
          </a:p>
          <a:p>
            <a:pPr lvl="1"/>
            <a:r>
              <a:rPr lang="de-DE" dirty="0"/>
              <a:t>Ein DIBP verweist auf einen Block mit 1024 SIBP, jeder mit jeweils 1024 </a:t>
            </a:r>
            <a:r>
              <a:rPr lang="de-DE" dirty="0" err="1"/>
              <a:t>BlockPointern</a:t>
            </a:r>
            <a:r>
              <a:rPr lang="de-DE" dirty="0"/>
              <a:t>: 1024*1024*4kB=4GB</a:t>
            </a:r>
          </a:p>
          <a:p>
            <a:pPr lvl="1"/>
            <a:r>
              <a:rPr lang="de-DE" dirty="0"/>
              <a:t>Reicht dies auch nicht, so wird der </a:t>
            </a:r>
            <a:r>
              <a:rPr lang="de-DE" dirty="0" err="1"/>
              <a:t>Trebly</a:t>
            </a:r>
            <a:r>
              <a:rPr lang="de-DE" dirty="0"/>
              <a:t> IBP verwendet</a:t>
            </a:r>
          </a:p>
          <a:p>
            <a:pPr lvl="1"/>
            <a:r>
              <a:rPr lang="de-DE" dirty="0"/>
              <a:t>Die theoretische max. Dateigröße von 4 TB wird aber nicht erreicht, da das </a:t>
            </a:r>
            <a:r>
              <a:rPr lang="de-DE" dirty="0" err="1"/>
              <a:t>Inode</a:t>
            </a:r>
            <a:r>
              <a:rPr lang="de-DE" dirty="0"/>
              <a:t>-Feld „Anzahl Disk </a:t>
            </a:r>
            <a:r>
              <a:rPr lang="de-DE" dirty="0" err="1"/>
              <a:t>Sectors</a:t>
            </a:r>
            <a:r>
              <a:rPr lang="de-DE" dirty="0"/>
              <a:t>“ nur 2 TB adressieren kann: 512 B * 2</a:t>
            </a:r>
            <a:r>
              <a:rPr lang="de-DE" baseline="30000" dirty="0"/>
              <a:t>32</a:t>
            </a:r>
            <a:r>
              <a:rPr lang="de-DE" dirty="0"/>
              <a:t> = </a:t>
            </a:r>
            <a:r>
              <a:rPr lang="de-DE" b="1" dirty="0"/>
              <a:t>2 TB</a:t>
            </a:r>
            <a:endParaRPr lang="de-DE" b="1" baseline="30000" dirty="0"/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Inodes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9204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Rechteck 2"/>
          <p:cNvSpPr/>
          <p:nvPr/>
        </p:nvSpPr>
        <p:spPr>
          <a:xfrm>
            <a:off x="1861929" y="1787218"/>
            <a:ext cx="1350742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Singly</a:t>
            </a:r>
            <a:r>
              <a:rPr lang="de-DE" sz="1440" dirty="0"/>
              <a:t> </a:t>
            </a:r>
            <a:r>
              <a:rPr lang="de-DE" sz="1440" dirty="0" err="1"/>
              <a:t>indirect</a:t>
            </a:r>
            <a:r>
              <a:rPr lang="de-DE" sz="1440" dirty="0"/>
              <a:t> Block Pointer</a:t>
            </a:r>
          </a:p>
        </p:txBody>
      </p:sp>
      <p:sp>
        <p:nvSpPr>
          <p:cNvPr id="16" name="Rechteck 15"/>
          <p:cNvSpPr/>
          <p:nvPr/>
        </p:nvSpPr>
        <p:spPr>
          <a:xfrm>
            <a:off x="1985509" y="3911893"/>
            <a:ext cx="14868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Doubly</a:t>
            </a:r>
            <a:r>
              <a:rPr lang="de-DE" sz="1440" dirty="0"/>
              <a:t> </a:t>
            </a:r>
            <a:r>
              <a:rPr lang="de-DE" sz="1440" dirty="0" err="1"/>
              <a:t>indirect</a:t>
            </a:r>
            <a:r>
              <a:rPr lang="de-DE" sz="1440" dirty="0"/>
              <a:t> Block Pointer</a:t>
            </a:r>
          </a:p>
        </p:txBody>
      </p:sp>
      <p:sp>
        <p:nvSpPr>
          <p:cNvPr id="17" name="Rechteck 16"/>
          <p:cNvSpPr/>
          <p:nvPr/>
        </p:nvSpPr>
        <p:spPr>
          <a:xfrm>
            <a:off x="5543681" y="2739727"/>
            <a:ext cx="1675644" cy="3540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r>
              <a:rPr lang="de-DE" sz="1440" dirty="0"/>
              <a:t>4k-Block</a:t>
            </a:r>
          </a:p>
        </p:txBody>
      </p:sp>
      <p:sp>
        <p:nvSpPr>
          <p:cNvPr id="20" name="Rechteck 19"/>
          <p:cNvSpPr/>
          <p:nvPr/>
        </p:nvSpPr>
        <p:spPr>
          <a:xfrm>
            <a:off x="5637817" y="5040913"/>
            <a:ext cx="1495098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Singly</a:t>
            </a:r>
            <a:r>
              <a:rPr lang="de-DE" sz="1440" dirty="0"/>
              <a:t> </a:t>
            </a:r>
            <a:r>
              <a:rPr lang="de-DE" sz="1440" dirty="0" err="1"/>
              <a:t>indirect</a:t>
            </a:r>
            <a:r>
              <a:rPr lang="de-DE" sz="1440" dirty="0"/>
              <a:t> Block Pointer 1023</a:t>
            </a:r>
          </a:p>
        </p:txBody>
      </p:sp>
      <p:sp>
        <p:nvSpPr>
          <p:cNvPr id="8" name="Rechteck 7"/>
          <p:cNvSpPr/>
          <p:nvPr/>
        </p:nvSpPr>
        <p:spPr>
          <a:xfrm>
            <a:off x="4886266" y="1357173"/>
            <a:ext cx="1468963" cy="3540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r>
              <a:rPr lang="de-DE" sz="1440" dirty="0"/>
              <a:t>4k-Block</a:t>
            </a:r>
          </a:p>
        </p:txBody>
      </p:sp>
      <p:sp>
        <p:nvSpPr>
          <p:cNvPr id="4" name="Rechteck 3"/>
          <p:cNvSpPr/>
          <p:nvPr/>
        </p:nvSpPr>
        <p:spPr>
          <a:xfrm>
            <a:off x="5032675" y="1441579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0</a:t>
            </a:r>
          </a:p>
        </p:txBody>
      </p:sp>
      <p:sp>
        <p:nvSpPr>
          <p:cNvPr id="5" name="Rechteck 4"/>
          <p:cNvSpPr/>
          <p:nvPr/>
        </p:nvSpPr>
        <p:spPr>
          <a:xfrm>
            <a:off x="5032672" y="2226942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1</a:t>
            </a:r>
          </a:p>
        </p:txBody>
      </p:sp>
      <p:sp>
        <p:nvSpPr>
          <p:cNvPr id="6" name="Rechteck 5"/>
          <p:cNvSpPr/>
          <p:nvPr/>
        </p:nvSpPr>
        <p:spPr>
          <a:xfrm>
            <a:off x="5032671" y="3566255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1023</a:t>
            </a:r>
          </a:p>
        </p:txBody>
      </p:sp>
      <p:sp>
        <p:nvSpPr>
          <p:cNvPr id="7" name="Rechteck 6"/>
          <p:cNvSpPr/>
          <p:nvPr/>
        </p:nvSpPr>
        <p:spPr>
          <a:xfrm>
            <a:off x="5032670" y="3007887"/>
            <a:ext cx="1200486" cy="465320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…</a:t>
            </a:r>
          </a:p>
        </p:txBody>
      </p:sp>
      <p:cxnSp>
        <p:nvCxnSpPr>
          <p:cNvPr id="10" name="Gerader Verbinder 9"/>
          <p:cNvCxnSpPr/>
          <p:nvPr/>
        </p:nvCxnSpPr>
        <p:spPr>
          <a:xfrm flipV="1">
            <a:off x="3212671" y="1357174"/>
            <a:ext cx="1673594" cy="430044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3202785" y="2474728"/>
            <a:ext cx="1683481" cy="2423236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chteck 17"/>
          <p:cNvSpPr/>
          <p:nvPr/>
        </p:nvSpPr>
        <p:spPr>
          <a:xfrm>
            <a:off x="5637817" y="2833813"/>
            <a:ext cx="1495098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Singly</a:t>
            </a:r>
            <a:r>
              <a:rPr lang="de-DE" sz="1440" dirty="0"/>
              <a:t> </a:t>
            </a:r>
            <a:r>
              <a:rPr lang="de-DE" sz="1440" dirty="0" err="1"/>
              <a:t>indirect</a:t>
            </a:r>
            <a:r>
              <a:rPr lang="de-DE" sz="1440" dirty="0"/>
              <a:t> Block Pointer 0</a:t>
            </a:r>
          </a:p>
        </p:txBody>
      </p:sp>
      <p:sp>
        <p:nvSpPr>
          <p:cNvPr id="19" name="Rechteck 18"/>
          <p:cNvSpPr/>
          <p:nvPr/>
        </p:nvSpPr>
        <p:spPr>
          <a:xfrm>
            <a:off x="5637817" y="3621324"/>
            <a:ext cx="1495098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Singly</a:t>
            </a:r>
            <a:r>
              <a:rPr lang="de-DE" sz="1440" dirty="0"/>
              <a:t> </a:t>
            </a:r>
            <a:r>
              <a:rPr lang="de-DE" sz="1440" dirty="0" err="1"/>
              <a:t>indirect</a:t>
            </a:r>
            <a:r>
              <a:rPr lang="de-DE" sz="1440" dirty="0"/>
              <a:t> Block Pointer 1</a:t>
            </a:r>
          </a:p>
        </p:txBody>
      </p:sp>
      <p:sp>
        <p:nvSpPr>
          <p:cNvPr id="21" name="Rechteck 20"/>
          <p:cNvSpPr/>
          <p:nvPr/>
        </p:nvSpPr>
        <p:spPr>
          <a:xfrm>
            <a:off x="5635614" y="4442324"/>
            <a:ext cx="1497301" cy="465320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…</a:t>
            </a:r>
          </a:p>
        </p:txBody>
      </p:sp>
      <p:cxnSp>
        <p:nvCxnSpPr>
          <p:cNvPr id="23" name="Gerader Verbinder 22"/>
          <p:cNvCxnSpPr/>
          <p:nvPr/>
        </p:nvCxnSpPr>
        <p:spPr>
          <a:xfrm flipV="1">
            <a:off x="3472396" y="2739728"/>
            <a:ext cx="2071285" cy="1172166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Gerader Verbinder 23"/>
          <p:cNvCxnSpPr/>
          <p:nvPr/>
        </p:nvCxnSpPr>
        <p:spPr>
          <a:xfrm>
            <a:off x="3472395" y="4603171"/>
            <a:ext cx="2079010" cy="1677347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Rechteck 36"/>
          <p:cNvSpPr/>
          <p:nvPr/>
        </p:nvSpPr>
        <p:spPr>
          <a:xfrm>
            <a:off x="8209762" y="340019"/>
            <a:ext cx="1468963" cy="3540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r>
              <a:rPr lang="de-DE" sz="1440" dirty="0"/>
              <a:t>4k-Block</a:t>
            </a:r>
          </a:p>
        </p:txBody>
      </p:sp>
      <p:sp>
        <p:nvSpPr>
          <p:cNvPr id="38" name="Rechteck 37"/>
          <p:cNvSpPr/>
          <p:nvPr/>
        </p:nvSpPr>
        <p:spPr>
          <a:xfrm>
            <a:off x="8331677" y="426863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0</a:t>
            </a:r>
          </a:p>
        </p:txBody>
      </p:sp>
      <p:sp>
        <p:nvSpPr>
          <p:cNvPr id="39" name="Rechteck 38"/>
          <p:cNvSpPr/>
          <p:nvPr/>
        </p:nvSpPr>
        <p:spPr>
          <a:xfrm>
            <a:off x="8331675" y="1212226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1</a:t>
            </a:r>
          </a:p>
        </p:txBody>
      </p:sp>
      <p:sp>
        <p:nvSpPr>
          <p:cNvPr id="40" name="Rechteck 39"/>
          <p:cNvSpPr/>
          <p:nvPr/>
        </p:nvSpPr>
        <p:spPr>
          <a:xfrm>
            <a:off x="8331674" y="2551538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1023</a:t>
            </a:r>
          </a:p>
        </p:txBody>
      </p:sp>
      <p:sp>
        <p:nvSpPr>
          <p:cNvPr id="41" name="Rechteck 40"/>
          <p:cNvSpPr/>
          <p:nvPr/>
        </p:nvSpPr>
        <p:spPr>
          <a:xfrm>
            <a:off x="8331673" y="1993171"/>
            <a:ext cx="1200486" cy="465320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…</a:t>
            </a:r>
          </a:p>
        </p:txBody>
      </p:sp>
      <p:cxnSp>
        <p:nvCxnSpPr>
          <p:cNvPr id="42" name="Gerader Verbinder 41"/>
          <p:cNvCxnSpPr/>
          <p:nvPr/>
        </p:nvCxnSpPr>
        <p:spPr>
          <a:xfrm flipV="1">
            <a:off x="7142801" y="340020"/>
            <a:ext cx="1066961" cy="2501089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Gerader Verbinder 42"/>
          <p:cNvCxnSpPr/>
          <p:nvPr/>
        </p:nvCxnSpPr>
        <p:spPr>
          <a:xfrm>
            <a:off x="7132914" y="3528619"/>
            <a:ext cx="1101353" cy="321068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hteck 49"/>
          <p:cNvSpPr/>
          <p:nvPr/>
        </p:nvSpPr>
        <p:spPr>
          <a:xfrm>
            <a:off x="9811638" y="2973677"/>
            <a:ext cx="1468963" cy="3540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endParaRPr lang="de-DE" sz="2160" dirty="0"/>
          </a:p>
          <a:p>
            <a:pPr algn="ctr"/>
            <a:r>
              <a:rPr lang="de-DE" sz="1440" dirty="0"/>
              <a:t>4k-Block</a:t>
            </a:r>
          </a:p>
        </p:txBody>
      </p:sp>
      <p:sp>
        <p:nvSpPr>
          <p:cNvPr id="51" name="Rechteck 50"/>
          <p:cNvSpPr/>
          <p:nvPr/>
        </p:nvSpPr>
        <p:spPr>
          <a:xfrm>
            <a:off x="9933554" y="3060521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0</a:t>
            </a:r>
          </a:p>
        </p:txBody>
      </p:sp>
      <p:sp>
        <p:nvSpPr>
          <p:cNvPr id="52" name="Rechteck 51"/>
          <p:cNvSpPr/>
          <p:nvPr/>
        </p:nvSpPr>
        <p:spPr>
          <a:xfrm>
            <a:off x="9933551" y="3845884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1</a:t>
            </a:r>
          </a:p>
        </p:txBody>
      </p:sp>
      <p:sp>
        <p:nvSpPr>
          <p:cNvPr id="53" name="Rechteck 52"/>
          <p:cNvSpPr/>
          <p:nvPr/>
        </p:nvSpPr>
        <p:spPr>
          <a:xfrm>
            <a:off x="9933550" y="5185196"/>
            <a:ext cx="1200486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 err="1"/>
              <a:t>Direct</a:t>
            </a:r>
            <a:r>
              <a:rPr lang="de-DE" sz="1440" dirty="0"/>
              <a:t> Block Pointer 1023</a:t>
            </a:r>
          </a:p>
        </p:txBody>
      </p:sp>
      <p:sp>
        <p:nvSpPr>
          <p:cNvPr id="54" name="Rechteck 53"/>
          <p:cNvSpPr/>
          <p:nvPr/>
        </p:nvSpPr>
        <p:spPr>
          <a:xfrm>
            <a:off x="9933549" y="4626829"/>
            <a:ext cx="1200486" cy="465320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…</a:t>
            </a:r>
          </a:p>
        </p:txBody>
      </p:sp>
      <p:cxnSp>
        <p:nvCxnSpPr>
          <p:cNvPr id="55" name="Gerader Verbinder 54"/>
          <p:cNvCxnSpPr/>
          <p:nvPr/>
        </p:nvCxnSpPr>
        <p:spPr>
          <a:xfrm flipV="1">
            <a:off x="7142801" y="2973678"/>
            <a:ext cx="2656744" cy="2067236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Gerader Verbinder 55"/>
          <p:cNvCxnSpPr/>
          <p:nvPr/>
        </p:nvCxnSpPr>
        <p:spPr>
          <a:xfrm>
            <a:off x="7142802" y="5732191"/>
            <a:ext cx="2668837" cy="782276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06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9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6" grpId="0" animBg="1"/>
      <p:bldP spid="17" grpId="0" animBg="1"/>
      <p:bldP spid="20" grpId="0" animBg="1"/>
      <p:bldP spid="8" grpId="0" animBg="1"/>
      <p:bldP spid="8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8" grpId="0" animBg="1"/>
      <p:bldP spid="19" grpId="0" animBg="1"/>
      <p:bldP spid="21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Zuordnung von Dateinamen zu </a:t>
            </a:r>
            <a:r>
              <a:rPr lang="de-DE" dirty="0" err="1"/>
              <a:t>Inode</a:t>
            </a:r>
            <a:r>
              <a:rPr lang="de-DE" dirty="0"/>
              <a:t>-Nummern 		     erfolgt in der Verzeichnis-Datei</a:t>
            </a:r>
          </a:p>
          <a:p>
            <a:r>
              <a:rPr lang="de-DE" dirty="0"/>
              <a:t>Ein Verzeichnis (Ordner) ist lediglich eine Datei, in der alle in ihm enthaltenen Dateien und Unterverzeichnisse aufgelistet sind</a:t>
            </a:r>
          </a:p>
          <a:p>
            <a:r>
              <a:rPr lang="de-DE" dirty="0"/>
              <a:t>Um eine Datei zu öffnen, muss ihre </a:t>
            </a:r>
            <a:r>
              <a:rPr lang="de-DE" dirty="0" err="1"/>
              <a:t>Inode</a:t>
            </a:r>
            <a:r>
              <a:rPr lang="de-DE" dirty="0"/>
              <a:t>-Nr. in einer der </a:t>
            </a:r>
            <a:r>
              <a:rPr lang="de-DE" dirty="0" err="1"/>
              <a:t>Inode</a:t>
            </a:r>
            <a:r>
              <a:rPr lang="de-DE" dirty="0"/>
              <a:t>-Tabellen gesucht werden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Inodes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5045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102827"/>
            <a:ext cx="10515600" cy="3670067"/>
          </a:xfrm>
        </p:spPr>
        <p:txBody>
          <a:bodyPr/>
          <a:lstStyle/>
          <a:p>
            <a:r>
              <a:rPr lang="de-DE" dirty="0"/>
              <a:t>Am Beginn der Partition, in der </a:t>
            </a:r>
            <a:r>
              <a:rPr lang="de-DE" dirty="0" err="1"/>
              <a:t>BlockGroup</a:t>
            </a:r>
            <a:r>
              <a:rPr lang="de-DE" dirty="0"/>
              <a:t> 0 				          steht der Superblock</a:t>
            </a:r>
          </a:p>
          <a:p>
            <a:r>
              <a:rPr lang="de-DE" dirty="0"/>
              <a:t>Aufgrund der Bedeutung des Superblocks werden Backup-Kopien einschließlich der Group </a:t>
            </a:r>
            <a:r>
              <a:rPr lang="de-DE" dirty="0" err="1"/>
              <a:t>Descriptor</a:t>
            </a:r>
            <a:r>
              <a:rPr lang="de-DE" dirty="0"/>
              <a:t> Table angelegt (in den </a:t>
            </a:r>
            <a:r>
              <a:rPr lang="de-DE" dirty="0" err="1"/>
              <a:t>BlockGroups</a:t>
            </a:r>
            <a:r>
              <a:rPr lang="de-DE" dirty="0"/>
              <a:t> Nr. 3, 5, 7 und Potenzen davon, z.B. 3</a:t>
            </a:r>
            <a:r>
              <a:rPr lang="de-DE" baseline="30000" dirty="0"/>
              <a:t>3</a:t>
            </a:r>
            <a:r>
              <a:rPr lang="de-DE" dirty="0"/>
              <a:t>=27, 7</a:t>
            </a:r>
            <a:r>
              <a:rPr lang="de-DE" baseline="30000" dirty="0"/>
              <a:t>2</a:t>
            </a:r>
            <a:r>
              <a:rPr lang="de-DE" dirty="0"/>
              <a:t> = 49)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>
          <a:xfrm>
            <a:off x="838200" y="1283838"/>
            <a:ext cx="10515600" cy="456136"/>
          </a:xfrm>
        </p:spPr>
        <p:txBody>
          <a:bodyPr/>
          <a:lstStyle/>
          <a:p>
            <a:r>
              <a:rPr lang="de-DE" dirty="0"/>
              <a:t>Superblock</a:t>
            </a:r>
          </a:p>
        </p:txBody>
      </p:sp>
    </p:spTree>
    <p:extLst>
      <p:ext uri="{BB962C8B-B14F-4D97-AF65-F5344CB8AC3E}">
        <p14:creationId xmlns:p14="http://schemas.microsoft.com/office/powerpoint/2010/main" val="3503169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Der Superblock enthält Informationen 					           zur Struktur der Partition, u.a.:</a:t>
            </a:r>
          </a:p>
          <a:p>
            <a:pPr lvl="1"/>
            <a:r>
              <a:rPr lang="de-DE" dirty="0"/>
              <a:t>Max. Anzahl der </a:t>
            </a:r>
            <a:r>
              <a:rPr lang="de-DE" dirty="0" err="1"/>
              <a:t>Inodes</a:t>
            </a:r>
            <a:endParaRPr lang="de-DE" dirty="0"/>
          </a:p>
          <a:p>
            <a:pPr lvl="1"/>
            <a:r>
              <a:rPr lang="de-DE" dirty="0"/>
              <a:t>Max. Anzahl der Blöcke</a:t>
            </a:r>
          </a:p>
          <a:p>
            <a:pPr lvl="1"/>
            <a:r>
              <a:rPr lang="de-DE" dirty="0"/>
              <a:t>Anzahl der Blöcke in einer </a:t>
            </a:r>
            <a:r>
              <a:rPr lang="de-DE" dirty="0" err="1"/>
              <a:t>BlockGroup</a:t>
            </a:r>
            <a:endParaRPr lang="de-DE" dirty="0"/>
          </a:p>
          <a:p>
            <a:pPr lvl="1"/>
            <a:r>
              <a:rPr lang="de-DE" dirty="0" err="1"/>
              <a:t>Inodes</a:t>
            </a:r>
            <a:r>
              <a:rPr lang="de-DE" dirty="0"/>
              <a:t> pro </a:t>
            </a:r>
            <a:r>
              <a:rPr lang="de-DE" dirty="0" err="1"/>
              <a:t>BlockGroup</a:t>
            </a:r>
            <a:endParaRPr lang="de-DE" dirty="0"/>
          </a:p>
          <a:p>
            <a:pPr lvl="1"/>
            <a:r>
              <a:rPr lang="de-DE" dirty="0"/>
              <a:t>Daten wie z.B. Last Mount, Last </a:t>
            </a:r>
            <a:r>
              <a:rPr lang="de-DE" dirty="0" err="1"/>
              <a:t>Checked</a:t>
            </a:r>
            <a:r>
              <a:rPr lang="de-DE" dirty="0"/>
              <a:t>, Check Intervall, Filesystem-ID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Superblock</a:t>
            </a:r>
          </a:p>
        </p:txBody>
      </p:sp>
    </p:spTree>
    <p:extLst>
      <p:ext uri="{BB962C8B-B14F-4D97-AF65-F5344CB8AC3E}">
        <p14:creationId xmlns:p14="http://schemas.microsoft.com/office/powerpoint/2010/main" val="631580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Wo die </a:t>
            </a:r>
            <a:r>
              <a:rPr lang="de-DE" dirty="0" err="1"/>
              <a:t>BlockGroups</a:t>
            </a:r>
            <a:r>
              <a:rPr lang="de-DE" dirty="0"/>
              <a:t> zu finden sind, 				 	           steht in der GDT</a:t>
            </a:r>
          </a:p>
          <a:p>
            <a:r>
              <a:rPr lang="de-DE" dirty="0"/>
              <a:t>Jede </a:t>
            </a:r>
            <a:r>
              <a:rPr lang="de-DE" dirty="0" err="1"/>
              <a:t>BlockGroup</a:t>
            </a:r>
            <a:r>
              <a:rPr lang="de-DE" dirty="0"/>
              <a:t> hat einen Eintrag in dieser Tabelle, bestehend aus:</a:t>
            </a:r>
          </a:p>
          <a:p>
            <a:pPr lvl="1"/>
            <a:r>
              <a:rPr lang="de-DE" dirty="0"/>
              <a:t>Block-Nr. der Block Bitmap</a:t>
            </a:r>
          </a:p>
          <a:p>
            <a:pPr lvl="1"/>
            <a:r>
              <a:rPr lang="de-DE" dirty="0"/>
              <a:t>Block-Nr. der </a:t>
            </a:r>
            <a:r>
              <a:rPr lang="de-DE" dirty="0" err="1"/>
              <a:t>Inode</a:t>
            </a:r>
            <a:r>
              <a:rPr lang="de-DE" dirty="0"/>
              <a:t> Bitmap</a:t>
            </a:r>
          </a:p>
          <a:p>
            <a:pPr lvl="1"/>
            <a:r>
              <a:rPr lang="de-DE" dirty="0"/>
              <a:t>Block-Nr. des ersten Blocks der </a:t>
            </a:r>
            <a:r>
              <a:rPr lang="de-DE" dirty="0" err="1"/>
              <a:t>Inode</a:t>
            </a:r>
            <a:r>
              <a:rPr lang="de-DE" dirty="0"/>
              <a:t>-Tabelle (</a:t>
            </a:r>
            <a:r>
              <a:rPr lang="de-DE" dirty="0" err="1"/>
              <a:t>wieviele</a:t>
            </a:r>
            <a:r>
              <a:rPr lang="de-DE" dirty="0"/>
              <a:t> Blöcke die </a:t>
            </a:r>
            <a:r>
              <a:rPr lang="de-DE" dirty="0" err="1"/>
              <a:t>Inode</a:t>
            </a:r>
            <a:r>
              <a:rPr lang="de-DE" dirty="0"/>
              <a:t>-Tabelle umfasst, steht im Superblock)</a:t>
            </a:r>
          </a:p>
          <a:p>
            <a:pPr lvl="1"/>
            <a:r>
              <a:rPr lang="de-DE" dirty="0"/>
              <a:t>Anzahl der freien Blöcke, freien </a:t>
            </a:r>
            <a:r>
              <a:rPr lang="de-DE" dirty="0" err="1"/>
              <a:t>Inodes</a:t>
            </a:r>
            <a:r>
              <a:rPr lang="de-DE" dirty="0"/>
              <a:t> und Anzahl der Verzeichnisse innerhalb der Group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Group </a:t>
            </a:r>
            <a:r>
              <a:rPr lang="de-DE" dirty="0" err="1"/>
              <a:t>Descriptor</a:t>
            </a:r>
            <a:r>
              <a:rPr lang="de-DE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26840425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Beispiel: Suche Datei 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/etc/postfix/main.cf</a:t>
            </a:r>
          </a:p>
          <a:p>
            <a:pPr marL="987552" lvl="1" indent="-548640">
              <a:buFont typeface="+mj-lt"/>
              <a:buAutoNum type="arabicPeriod"/>
            </a:pPr>
            <a:r>
              <a:rPr lang="de-DE" dirty="0"/>
              <a:t>Suche Directory-File des </a:t>
            </a:r>
            <a:r>
              <a:rPr lang="de-DE" dirty="0" err="1"/>
              <a:t>root</a:t>
            </a:r>
            <a:r>
              <a:rPr lang="de-DE" dirty="0"/>
              <a:t>-Verzeichnisses (/) dessen </a:t>
            </a:r>
            <a:r>
              <a:rPr lang="de-DE" dirty="0" err="1"/>
              <a:t>Inode</a:t>
            </a:r>
            <a:r>
              <a:rPr lang="de-DE" dirty="0"/>
              <a:t>-Nr. ist immer 2</a:t>
            </a:r>
          </a:p>
          <a:p>
            <a:pPr marL="987552" lvl="1" indent="-548640">
              <a:buFont typeface="+mj-lt"/>
              <a:buAutoNum type="arabicPeriod"/>
            </a:pPr>
            <a:r>
              <a:rPr lang="de-DE" dirty="0"/>
              <a:t>In welcher </a:t>
            </a:r>
            <a:r>
              <a:rPr lang="de-DE" dirty="0" err="1"/>
              <a:t>BlockGroup</a:t>
            </a:r>
            <a:r>
              <a:rPr lang="de-DE" dirty="0"/>
              <a:t> befindet sich </a:t>
            </a:r>
            <a:r>
              <a:rPr lang="de-DE" dirty="0" err="1"/>
              <a:t>Inode</a:t>
            </a:r>
            <a:r>
              <a:rPr lang="de-DE" dirty="0"/>
              <a:t>-Nr. 2 ?</a:t>
            </a:r>
          </a:p>
          <a:p>
            <a:pPr marL="768096" lvl="2" indent="0">
              <a:buNone/>
            </a:pPr>
            <a:r>
              <a:rPr lang="de-DE" sz="2400" dirty="0"/>
              <a:t>   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BLOCKGROUP = (INODE – 1) / INODES_PER_GROUP</a:t>
            </a:r>
          </a:p>
          <a:p>
            <a:pPr marL="987552" lvl="1" indent="-548640">
              <a:buFont typeface="+mj-lt"/>
              <a:buAutoNum type="arabicPeriod"/>
            </a:pPr>
            <a:r>
              <a:rPr lang="de-DE" dirty="0"/>
              <a:t>An welcher Stelle (Index) der </a:t>
            </a:r>
            <a:r>
              <a:rPr lang="de-DE" dirty="0" err="1"/>
              <a:t>Inode</a:t>
            </a:r>
            <a:r>
              <a:rPr lang="de-DE" dirty="0"/>
              <a:t>-Tabelle dieser </a:t>
            </a:r>
            <a:r>
              <a:rPr lang="de-DE" dirty="0" err="1"/>
              <a:t>BlockGroup</a:t>
            </a:r>
            <a:r>
              <a:rPr lang="de-DE" dirty="0"/>
              <a:t> steht dieser Eintrag?</a:t>
            </a:r>
          </a:p>
          <a:p>
            <a:pPr marL="768096" lvl="2" indent="0">
              <a:buNone/>
            </a:pP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INDEX = (INODE – 1) </a:t>
            </a:r>
            <a:r>
              <a:rPr lang="de-D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  <a:r>
              <a:rPr lang="de-D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INODES_PER_GROUP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Datei suchen</a:t>
            </a:r>
          </a:p>
        </p:txBody>
      </p:sp>
    </p:spTree>
    <p:extLst>
      <p:ext uri="{BB962C8B-B14F-4D97-AF65-F5344CB8AC3E}">
        <p14:creationId xmlns:p14="http://schemas.microsoft.com/office/powerpoint/2010/main" val="654688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87552" lvl="1" indent="-548640">
              <a:buFont typeface="+mj-lt"/>
              <a:buAutoNum type="arabicPeriod" startAt="4"/>
            </a:pPr>
            <a:r>
              <a:rPr lang="de-DE" dirty="0"/>
              <a:t>Block innerhalb der </a:t>
            </a:r>
            <a:r>
              <a:rPr lang="de-DE" dirty="0" err="1"/>
              <a:t>Inode</a:t>
            </a:r>
            <a:r>
              <a:rPr lang="de-DE" dirty="0"/>
              <a:t>-Tabelle, in dem dieser Index steht:</a:t>
            </a:r>
          </a:p>
          <a:p>
            <a:pPr marL="768096" lvl="2" indent="0">
              <a:buNone/>
            </a:pPr>
            <a:r>
              <a:rPr lang="de-DE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CONTAINING_BLOCK = (INDEX * INODE_SIZE) / BLOCK_SIZE</a:t>
            </a:r>
          </a:p>
          <a:p>
            <a:pPr marL="987552" lvl="1" indent="-548640">
              <a:buFont typeface="+mj-lt"/>
              <a:buAutoNum type="arabicPeriod" startAt="4"/>
            </a:pPr>
            <a:r>
              <a:rPr lang="de-DE" dirty="0">
                <a:cs typeface="Courier New" panose="02070309020205020404" pitchFamily="49" charset="0"/>
              </a:rPr>
              <a:t>Diesen </a:t>
            </a:r>
            <a:r>
              <a:rPr lang="de-DE" dirty="0" err="1">
                <a:cs typeface="Courier New" panose="02070309020205020404" pitchFamily="49" charset="0"/>
              </a:rPr>
              <a:t>Inode</a:t>
            </a:r>
            <a:r>
              <a:rPr lang="de-DE" dirty="0">
                <a:cs typeface="Courier New" panose="02070309020205020404" pitchFamily="49" charset="0"/>
              </a:rPr>
              <a:t>-Block lesen (hier eine </a:t>
            </a:r>
            <a:r>
              <a:rPr lang="de-DE" dirty="0" err="1">
                <a:cs typeface="Courier New" panose="02070309020205020404" pitchFamily="49" charset="0"/>
              </a:rPr>
              <a:t>BlockGroup</a:t>
            </a:r>
            <a:r>
              <a:rPr lang="de-DE" dirty="0">
                <a:cs typeface="Courier New" panose="02070309020205020404" pitchFamily="49" charset="0"/>
              </a:rPr>
              <a:t> ohne Superblock), in Block-Nr.:</a:t>
            </a:r>
          </a:p>
          <a:p>
            <a:pPr marL="768096" lvl="2" indent="0">
              <a:buNone/>
            </a:pPr>
            <a:r>
              <a:rPr lang="de-DE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BLOCKGROUP * BLOCKS_PER_GROUP + 2 + CONTAINING_BLOCK</a:t>
            </a:r>
          </a:p>
          <a:p>
            <a:pPr marL="993600" lvl="1" indent="-548640">
              <a:buFont typeface="+mj-lt"/>
              <a:buAutoNum type="arabicPeriod" startAt="4"/>
            </a:pPr>
            <a:r>
              <a:rPr lang="de-DE" dirty="0">
                <a:cs typeface="Courier New" panose="02070309020205020404" pitchFamily="49" charset="0"/>
              </a:rPr>
              <a:t>Innerhalb dieses Blocks den gesuchten </a:t>
            </a:r>
            <a:r>
              <a:rPr lang="de-DE" dirty="0" err="1">
                <a:cs typeface="Courier New" panose="02070309020205020404" pitchFamily="49" charset="0"/>
              </a:rPr>
              <a:t>Inode</a:t>
            </a:r>
            <a:r>
              <a:rPr lang="de-DE" dirty="0">
                <a:cs typeface="Courier New" panose="02070309020205020404" pitchFamily="49" charset="0"/>
              </a:rPr>
              <a:t>-Eintrag lesen, ab Byte:</a:t>
            </a:r>
          </a:p>
          <a:p>
            <a:pPr marL="768096" lvl="2" indent="0">
              <a:buNone/>
            </a:pPr>
            <a:r>
              <a:rPr lang="de-DE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INODE_SIZE * (INDEX </a:t>
            </a:r>
            <a:r>
              <a:rPr lang="de-DE" sz="216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  <a:r>
              <a:rPr lang="de-DE" sz="2160" dirty="0">
                <a:latin typeface="Courier New" panose="02070309020205020404" pitchFamily="49" charset="0"/>
                <a:cs typeface="Courier New" panose="02070309020205020404" pitchFamily="49" charset="0"/>
              </a:rPr>
              <a:t> (BLOCK_SIZE/INODE_SIZE))</a:t>
            </a:r>
          </a:p>
          <a:p>
            <a:pPr marL="438912" lvl="1" indent="0">
              <a:buNone/>
            </a:pPr>
            <a:endParaRPr lang="de-DE" dirty="0">
              <a:cs typeface="Courier New" panose="02070309020205020404" pitchFamily="49" charset="0"/>
            </a:endParaRPr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Datei suchen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30604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Dateisysteme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87552" lvl="1" indent="-548640">
              <a:buFont typeface="+mj-lt"/>
              <a:buAutoNum type="arabicPeriod" startAt="7"/>
            </a:pPr>
            <a:r>
              <a:rPr lang="de-DE" dirty="0"/>
              <a:t>Aus dem </a:t>
            </a:r>
            <a:r>
              <a:rPr lang="de-DE" dirty="0" err="1"/>
              <a:t>Inode</a:t>
            </a:r>
            <a:r>
              <a:rPr lang="de-DE" dirty="0"/>
              <a:t> ist ersichtlich, dass es sich um eine Verzeichnis-Datei handelt, also wird dort der Eintrag für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und die zugehörige </a:t>
            </a:r>
            <a:r>
              <a:rPr lang="de-DE" dirty="0" err="1"/>
              <a:t>Inode</a:t>
            </a:r>
            <a:r>
              <a:rPr lang="de-DE" dirty="0"/>
              <a:t>-Nr. gesucht</a:t>
            </a:r>
          </a:p>
          <a:p>
            <a:pPr marL="987552" lvl="1" indent="-548640">
              <a:buFont typeface="+mj-lt"/>
              <a:buAutoNum type="arabicPeriod" startAt="7"/>
            </a:pPr>
            <a:r>
              <a:rPr lang="de-DE" dirty="0"/>
              <a:t>Es wird nun die Verzeichnis-Datei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eingelesen und dort der Eintrag für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postfix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/>
              <a:t>gesucht</a:t>
            </a:r>
          </a:p>
          <a:p>
            <a:pPr marL="987552" lvl="1" indent="-548640">
              <a:buFont typeface="+mj-lt"/>
              <a:buAutoNum type="arabicPeriod" startAt="7"/>
            </a:pPr>
            <a:r>
              <a:rPr lang="de-DE" dirty="0"/>
              <a:t>Zuletzt wird in der Verzeichnisdatei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postfix</a:t>
            </a:r>
            <a:r>
              <a:rPr lang="de-DE" dirty="0"/>
              <a:t> der Eintrag für die Datei main.cf gesucht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Datei suchen</a:t>
            </a:r>
          </a:p>
        </p:txBody>
      </p:sp>
    </p:spTree>
    <p:extLst>
      <p:ext uri="{BB962C8B-B14F-4D97-AF65-F5344CB8AC3E}">
        <p14:creationId xmlns:p14="http://schemas.microsoft.com/office/powerpoint/2010/main" val="398702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49" y="1342862"/>
            <a:ext cx="9525128" cy="466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61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Problem bei Non-Journal-Filesystemen: 				          ein Crash kann zu einem inkonsistenten 				    System führen und ein Filesystem-Check 				        kann sehr lange dauern</a:t>
            </a:r>
          </a:p>
          <a:p>
            <a:r>
              <a:rPr lang="de-DE" dirty="0"/>
              <a:t>Synchrones Schreiben verhindert ein inkonsistentes System (erfüllt also hohe Sicherheitsanforderungen), führt aber zu sehr geringen Schreibraten</a:t>
            </a:r>
          </a:p>
          <a:p>
            <a:r>
              <a:rPr lang="de-DE" dirty="0"/>
              <a:t>Das übliche asynchrone Schreiben birgt die Gefahr eines korrupten Dateisystems</a:t>
            </a:r>
          </a:p>
          <a:p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Journaling</a:t>
            </a:r>
            <a:r>
              <a:rPr lang="de-DE" dirty="0"/>
              <a:t>-Filesysteme</a:t>
            </a:r>
          </a:p>
        </p:txBody>
      </p:sp>
    </p:spTree>
    <p:extLst>
      <p:ext uri="{BB962C8B-B14F-4D97-AF65-F5344CB8AC3E}">
        <p14:creationId xmlns:p14="http://schemas.microsoft.com/office/powerpoint/2010/main" val="2946136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Bei inkonsistentem Filesystem verweisen				      </a:t>
            </a:r>
            <a:r>
              <a:rPr lang="de-DE" dirty="0" err="1"/>
              <a:t>Inode</a:t>
            </a:r>
            <a:r>
              <a:rPr lang="de-DE" dirty="0"/>
              <a:t>-Einträge auf Blöcke, die keine oder 				          nicht verwertbare Daten enthalten</a:t>
            </a:r>
          </a:p>
          <a:p>
            <a:r>
              <a:rPr lang="de-DE" dirty="0" err="1"/>
              <a:t>Journaling</a:t>
            </a:r>
            <a:r>
              <a:rPr lang="de-DE" dirty="0"/>
              <a:t>-Filesysteme schaffen hier Abhilfe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Journaling</a:t>
            </a:r>
            <a:r>
              <a:rPr lang="de-DE" dirty="0"/>
              <a:t>-Filesysteme</a:t>
            </a:r>
          </a:p>
        </p:txBody>
      </p:sp>
    </p:spTree>
    <p:extLst>
      <p:ext uri="{BB962C8B-B14F-4D97-AF65-F5344CB8AC3E}">
        <p14:creationId xmlns:p14="http://schemas.microsoft.com/office/powerpoint/2010/main" val="37829656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Funktionsweise:</a:t>
            </a:r>
          </a:p>
          <a:p>
            <a:pPr lvl="1"/>
            <a:r>
              <a:rPr lang="de-DE" dirty="0"/>
              <a:t>Daten werden zunächst in das Journal (eine Art Transaktions-Log) geschrieben</a:t>
            </a:r>
          </a:p>
          <a:p>
            <a:pPr lvl="1"/>
            <a:r>
              <a:rPr lang="de-DE" dirty="0"/>
              <a:t>Erst wenn diese Aktion angeschlossen ist, wird die eigentliche Schreiboperation gestartet</a:t>
            </a:r>
          </a:p>
          <a:p>
            <a:pPr lvl="1"/>
            <a:r>
              <a:rPr lang="de-DE" dirty="0"/>
              <a:t>Dabei werden die Daten aus dem Journal heraus auf die tatsächliche Blockposition der Datei geschrieben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Journaling</a:t>
            </a:r>
            <a:r>
              <a:rPr lang="de-DE" dirty="0"/>
              <a:t>-Filesysteme</a:t>
            </a:r>
          </a:p>
        </p:txBody>
      </p:sp>
    </p:spTree>
    <p:extLst>
      <p:ext uri="{BB962C8B-B14F-4D97-AF65-F5344CB8AC3E}">
        <p14:creationId xmlns:p14="http://schemas.microsoft.com/office/powerpoint/2010/main" val="4671898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Szenarien beim Crash:</a:t>
            </a:r>
          </a:p>
          <a:p>
            <a:pPr lvl="1"/>
            <a:r>
              <a:rPr lang="de-DE" dirty="0"/>
              <a:t>Das Journal wird beim Crash beschrieben: die Daten im Journal sind unvollständig und können nach dem Neustart des Systems nicht wiederhergestellt werden</a:t>
            </a:r>
          </a:p>
          <a:p>
            <a:pPr lvl="1"/>
            <a:r>
              <a:rPr lang="de-DE" dirty="0"/>
              <a:t>Aber: die Originaldaten sind unversehrt und das Filesystem ist in einem sauberen Zustand</a:t>
            </a:r>
          </a:p>
          <a:p>
            <a:pPr lvl="1"/>
            <a:r>
              <a:rPr lang="de-DE" dirty="0"/>
              <a:t>Die Datenblöcke werden beim Crash beschrieben: das Filesystem ist nun inkonsistent, aber aus dem Journal heraus können die bereits durchgeführten Änderungen erneut eingespielt werden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Journaling</a:t>
            </a:r>
            <a:r>
              <a:rPr lang="de-DE" dirty="0"/>
              <a:t>-Filesysteme</a:t>
            </a:r>
          </a:p>
        </p:txBody>
      </p:sp>
    </p:spTree>
    <p:extLst>
      <p:ext uri="{BB962C8B-B14F-4D97-AF65-F5344CB8AC3E}">
        <p14:creationId xmlns:p14="http://schemas.microsoft.com/office/powerpoint/2010/main" val="106394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Nachteil dieses „Data Mode = Journal“: 				      wenig performant, da alle Daten doppelt			        geschrieben werden</a:t>
            </a:r>
          </a:p>
          <a:p>
            <a:r>
              <a:rPr lang="de-DE" dirty="0"/>
              <a:t>Alternative „Data Mode = </a:t>
            </a:r>
            <a:r>
              <a:rPr lang="de-DE" dirty="0" err="1"/>
              <a:t>Writeback</a:t>
            </a:r>
            <a:r>
              <a:rPr lang="de-DE" dirty="0"/>
              <a:t>“: </a:t>
            </a:r>
          </a:p>
          <a:p>
            <a:pPr lvl="1"/>
            <a:r>
              <a:rPr lang="de-DE" dirty="0"/>
              <a:t>nur Metadaten werden in das Journal geschrieben, danach die Daten direkt (ohne Journal) in die Datenblöcke</a:t>
            </a:r>
          </a:p>
          <a:p>
            <a:pPr lvl="1"/>
            <a:r>
              <a:rPr lang="de-DE" dirty="0"/>
              <a:t>Hierbei können beim Crash Daten verloren gehen, aber die Konsistenz des Filesystems ist schnell wieder herstellbar</a:t>
            </a:r>
          </a:p>
          <a:p>
            <a:pPr lvl="1"/>
            <a:r>
              <a:rPr lang="de-DE" dirty="0"/>
              <a:t>Ungünstigster Fall: neue Metadaten sind mit alten Daten verknüpft</a:t>
            </a:r>
          </a:p>
          <a:p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Journaling</a:t>
            </a:r>
            <a:r>
              <a:rPr lang="de-DE" dirty="0"/>
              <a:t>-Filesysteme</a:t>
            </a:r>
          </a:p>
        </p:txBody>
      </p:sp>
    </p:spTree>
    <p:extLst>
      <p:ext uri="{BB962C8B-B14F-4D97-AF65-F5344CB8AC3E}">
        <p14:creationId xmlns:p14="http://schemas.microsoft.com/office/powerpoint/2010/main" val="2870753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„Data Mode = </a:t>
            </a:r>
            <a:r>
              <a:rPr lang="de-DE" dirty="0" err="1"/>
              <a:t>Ordered</a:t>
            </a:r>
            <a:r>
              <a:rPr lang="de-DE" dirty="0"/>
              <a:t>“:</a:t>
            </a:r>
          </a:p>
          <a:p>
            <a:pPr lvl="1"/>
            <a:r>
              <a:rPr lang="de-DE" dirty="0"/>
              <a:t>Funktion wie „</a:t>
            </a:r>
            <a:r>
              <a:rPr lang="de-DE" dirty="0" err="1"/>
              <a:t>Writeback</a:t>
            </a:r>
            <a:r>
              <a:rPr lang="de-DE" dirty="0"/>
              <a:t>“</a:t>
            </a:r>
          </a:p>
          <a:p>
            <a:pPr lvl="1"/>
            <a:r>
              <a:rPr lang="de-DE" dirty="0"/>
              <a:t>Vermeidung des Nachteils von „</a:t>
            </a:r>
            <a:r>
              <a:rPr lang="de-DE" dirty="0" err="1"/>
              <a:t>Writeback</a:t>
            </a:r>
            <a:r>
              <a:rPr lang="de-DE" dirty="0"/>
              <a:t>“: es werden erst die Daten physikalisch geschrieben, danach erst die Metadaten in das Journal</a:t>
            </a:r>
          </a:p>
          <a:p>
            <a:pPr lvl="1"/>
            <a:r>
              <a:rPr lang="de-DE" dirty="0"/>
              <a:t>Im ungünstigsten Fall wären die neuen Daten mit alten Metadaten verknüpft</a:t>
            </a:r>
          </a:p>
          <a:p>
            <a:r>
              <a:rPr lang="de-DE" dirty="0"/>
              <a:t>Beide Modi: schnelle Filesystem-Konsistenz, Datenverluste können aber nicht verhindert werden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 err="1"/>
              <a:t>Journaling</a:t>
            </a:r>
            <a:r>
              <a:rPr lang="de-DE" dirty="0"/>
              <a:t>-Filesysteme</a:t>
            </a:r>
          </a:p>
        </p:txBody>
      </p:sp>
    </p:spTree>
    <p:extLst>
      <p:ext uri="{BB962C8B-B14F-4D97-AF65-F5344CB8AC3E}">
        <p14:creationId xmlns:p14="http://schemas.microsoft.com/office/powerpoint/2010/main" val="244143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Erstes </a:t>
            </a:r>
            <a:r>
              <a:rPr lang="de-DE" dirty="0" err="1"/>
              <a:t>Journaling</a:t>
            </a:r>
            <a:r>
              <a:rPr lang="de-DE" dirty="0"/>
              <a:t>-Filesystem: ext3</a:t>
            </a:r>
          </a:p>
          <a:p>
            <a:pPr lvl="1"/>
            <a:r>
              <a:rPr lang="de-DE" dirty="0"/>
              <a:t>Erweiterung von ext2 um die Journal-Funktion</a:t>
            </a:r>
          </a:p>
          <a:p>
            <a:pPr lvl="1"/>
            <a:r>
              <a:rPr lang="de-DE" dirty="0"/>
              <a:t>Max. Größe: 16 TB (32-Bit Blocknummern, 4096 Blockgröße)</a:t>
            </a:r>
          </a:p>
          <a:p>
            <a:pPr lvl="1"/>
            <a:r>
              <a:rPr lang="de-DE" dirty="0"/>
              <a:t>Max. Größe einer einzelnen Datei: 2 TB</a:t>
            </a:r>
          </a:p>
          <a:p>
            <a:r>
              <a:rPr lang="de-DE" dirty="0"/>
              <a:t>Erweiterung: ext4</a:t>
            </a:r>
          </a:p>
          <a:p>
            <a:pPr lvl="1"/>
            <a:r>
              <a:rPr lang="de-DE" dirty="0"/>
              <a:t>Verwendung von 48-Bit Blocknummern</a:t>
            </a:r>
          </a:p>
          <a:p>
            <a:pPr lvl="1"/>
            <a:r>
              <a:rPr lang="de-DE" dirty="0"/>
              <a:t>Max. Größe damit: 1024 </a:t>
            </a:r>
            <a:r>
              <a:rPr lang="de-DE" dirty="0" err="1"/>
              <a:t>PetaByte</a:t>
            </a:r>
            <a:r>
              <a:rPr lang="de-DE" dirty="0"/>
              <a:t> (1 </a:t>
            </a:r>
            <a:r>
              <a:rPr lang="de-DE" dirty="0" err="1"/>
              <a:t>ExaByte</a:t>
            </a:r>
            <a:r>
              <a:rPr lang="de-DE" dirty="0"/>
              <a:t>)</a:t>
            </a:r>
          </a:p>
          <a:p>
            <a:pPr lvl="1"/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ext3 / ext4</a:t>
            </a:r>
          </a:p>
        </p:txBody>
      </p:sp>
    </p:spTree>
    <p:extLst>
      <p:ext uri="{BB962C8B-B14F-4D97-AF65-F5344CB8AC3E}">
        <p14:creationId xmlns:p14="http://schemas.microsoft.com/office/powerpoint/2010/main" val="2950189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Statt indirekter Blockadressierung (bei ext2/3) 			      werden bei ext4 sog. </a:t>
            </a:r>
            <a:r>
              <a:rPr lang="de-DE" dirty="0" err="1"/>
              <a:t>Extents</a:t>
            </a:r>
            <a:r>
              <a:rPr lang="de-DE" dirty="0"/>
              <a:t> verwendet</a:t>
            </a:r>
          </a:p>
          <a:p>
            <a:r>
              <a:rPr lang="de-DE" dirty="0"/>
              <a:t>Indirekte Blockadressierung: gut geeignet bei vielen kleinen Dateien, aber hoher Verwaltungsaufwand für sehr große Dateien</a:t>
            </a:r>
          </a:p>
          <a:p>
            <a:r>
              <a:rPr lang="de-DE" dirty="0" err="1"/>
              <a:t>Extents</a:t>
            </a:r>
            <a:r>
              <a:rPr lang="de-DE" dirty="0"/>
              <a:t> sprechen möglichst große zusammenhängende Bereiche auf der Festplatte an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ext4</a:t>
            </a:r>
          </a:p>
        </p:txBody>
      </p:sp>
    </p:spTree>
    <p:extLst>
      <p:ext uri="{BB962C8B-B14F-4D97-AF65-F5344CB8AC3E}">
        <p14:creationId xmlns:p14="http://schemas.microsoft.com/office/powerpoint/2010/main" val="1466981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Im Idealfall wird eine Datei nur mit einem 			           Startblock (des Filesystems), der Bereichsgröße			          und der Nummer des ersten Datenblocks auf der 			       Platte adressiert</a:t>
            </a:r>
          </a:p>
          <a:p>
            <a:r>
              <a:rPr lang="de-DE" dirty="0"/>
              <a:t>Max. Dateigröße: 16 TB (da die Blöcke innerhalb einer Datei nur mit 32 Bit adressiert werden 4096*2</a:t>
            </a:r>
            <a:r>
              <a:rPr lang="de-DE" baseline="30000" dirty="0"/>
              <a:t>32</a:t>
            </a:r>
            <a:r>
              <a:rPr lang="de-DE" dirty="0"/>
              <a:t>=16TB)</a:t>
            </a:r>
          </a:p>
          <a:p>
            <a:r>
              <a:rPr lang="de-DE" dirty="0"/>
              <a:t>Die grundsätzliche Datenstruktur von ext2/3 wird nicht verändert (</a:t>
            </a:r>
            <a:r>
              <a:rPr lang="de-DE" dirty="0" err="1"/>
              <a:t>BlockGroups</a:t>
            </a:r>
            <a:r>
              <a:rPr lang="de-DE" dirty="0"/>
              <a:t>, </a:t>
            </a:r>
            <a:r>
              <a:rPr lang="de-DE" dirty="0" err="1"/>
              <a:t>Inodes</a:t>
            </a:r>
            <a:r>
              <a:rPr lang="de-DE" dirty="0"/>
              <a:t>, Block-Bitmaps usw.)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ext4</a:t>
            </a:r>
          </a:p>
        </p:txBody>
      </p:sp>
    </p:spTree>
    <p:extLst>
      <p:ext uri="{BB962C8B-B14F-4D97-AF65-F5344CB8AC3E}">
        <p14:creationId xmlns:p14="http://schemas.microsoft.com/office/powerpoint/2010/main" val="14218300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Der Bereich der 32-Bit-Blockpointer 					         (12 direkte, SIBP, DIBP, TIBP: 15*32 Bit = 60 Byte) 			        wird bei ext4 für vier </a:t>
            </a:r>
            <a:r>
              <a:rPr lang="de-DE" dirty="0" err="1"/>
              <a:t>Extents</a:t>
            </a:r>
            <a:r>
              <a:rPr lang="de-DE" dirty="0"/>
              <a:t> und einen </a:t>
            </a:r>
            <a:r>
              <a:rPr lang="de-DE" dirty="0" err="1"/>
              <a:t>Extent</a:t>
            </a:r>
            <a:r>
              <a:rPr lang="de-DE" dirty="0"/>
              <a:t>-Header 		              á 12 Byte genutzt</a:t>
            </a:r>
          </a:p>
          <a:p>
            <a:r>
              <a:rPr lang="de-DE" dirty="0" err="1"/>
              <a:t>Extent</a:t>
            </a:r>
            <a:r>
              <a:rPr lang="de-DE" dirty="0"/>
              <a:t>-Datenstruktur: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ext4</a:t>
            </a:r>
          </a:p>
        </p:txBody>
      </p:sp>
      <p:sp>
        <p:nvSpPr>
          <p:cNvPr id="4" name="Rechteck 3"/>
          <p:cNvSpPr/>
          <p:nvPr/>
        </p:nvSpPr>
        <p:spPr>
          <a:xfrm>
            <a:off x="1516291" y="4452994"/>
            <a:ext cx="2333059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/>
              <a:t>Logischer Startblock innerhalb der Datei (32 Bit)</a:t>
            </a:r>
          </a:p>
        </p:txBody>
      </p:sp>
      <p:sp>
        <p:nvSpPr>
          <p:cNvPr id="5" name="Rechteck 4"/>
          <p:cNvSpPr/>
          <p:nvPr/>
        </p:nvSpPr>
        <p:spPr>
          <a:xfrm>
            <a:off x="3913365" y="4452994"/>
            <a:ext cx="1491358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/>
              <a:t>Bereichslänge (16 Bit)</a:t>
            </a:r>
          </a:p>
        </p:txBody>
      </p:sp>
      <p:sp>
        <p:nvSpPr>
          <p:cNvPr id="6" name="Rechteck 5"/>
          <p:cNvSpPr/>
          <p:nvPr/>
        </p:nvSpPr>
        <p:spPr>
          <a:xfrm>
            <a:off x="5468738" y="4452994"/>
            <a:ext cx="3392369" cy="691277"/>
          </a:xfrm>
          <a:prstGeom prst="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metal">
            <a:bevelT w="38100"/>
            <a:bevelB w="133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40" dirty="0"/>
              <a:t>physikalischer Startblock (48 Bit)</a:t>
            </a:r>
          </a:p>
        </p:txBody>
      </p:sp>
    </p:spTree>
    <p:extLst>
      <p:ext uri="{BB962C8B-B14F-4D97-AF65-F5344CB8AC3E}">
        <p14:creationId xmlns:p14="http://schemas.microsoft.com/office/powerpoint/2010/main" val="346721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05" y="1264893"/>
            <a:ext cx="962025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905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Max. Bereichslänge: 128 MB (entspricht 15 Bit, 			         das 16. Bit wird für die </a:t>
            </a:r>
            <a:r>
              <a:rPr lang="de-DE" dirty="0" err="1"/>
              <a:t>pre</a:t>
            </a:r>
            <a:r>
              <a:rPr lang="de-DE" dirty="0"/>
              <a:t>-</a:t>
            </a:r>
            <a:r>
              <a:rPr lang="de-DE" dirty="0" err="1"/>
              <a:t>allocation</a:t>
            </a:r>
            <a:r>
              <a:rPr lang="de-DE" dirty="0"/>
              <a:t>-Funktion genutzt)</a:t>
            </a:r>
          </a:p>
          <a:p>
            <a:r>
              <a:rPr lang="de-DE" dirty="0"/>
              <a:t>Es gibt max. 4 </a:t>
            </a:r>
            <a:r>
              <a:rPr lang="de-DE" dirty="0" err="1"/>
              <a:t>Extents</a:t>
            </a:r>
            <a:r>
              <a:rPr lang="de-DE" dirty="0"/>
              <a:t>, damit max. Dateigröße 512MB</a:t>
            </a:r>
          </a:p>
          <a:p>
            <a:r>
              <a:rPr lang="de-DE" dirty="0"/>
              <a:t>Bei größeren Dateien wird ein Baum (H-Baum) aus </a:t>
            </a:r>
            <a:r>
              <a:rPr lang="de-DE" dirty="0" err="1"/>
              <a:t>Extents</a:t>
            </a:r>
            <a:r>
              <a:rPr lang="de-DE" dirty="0"/>
              <a:t> aufgebaut</a:t>
            </a:r>
          </a:p>
          <a:p>
            <a:r>
              <a:rPr lang="de-DE" dirty="0"/>
              <a:t>Die eigentlichen </a:t>
            </a:r>
            <a:r>
              <a:rPr lang="de-DE" dirty="0" err="1"/>
              <a:t>Extents</a:t>
            </a:r>
            <a:r>
              <a:rPr lang="de-DE" dirty="0"/>
              <a:t> werden durch </a:t>
            </a:r>
            <a:r>
              <a:rPr lang="de-DE" dirty="0" err="1"/>
              <a:t>Extent</a:t>
            </a:r>
            <a:r>
              <a:rPr lang="de-DE" dirty="0"/>
              <a:t>-Indizes ersetzt, die auf Blöcke mit </a:t>
            </a:r>
            <a:r>
              <a:rPr lang="de-DE" dirty="0" err="1"/>
              <a:t>Extents</a:t>
            </a:r>
            <a:r>
              <a:rPr lang="de-DE" dirty="0"/>
              <a:t> verweisen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ext4</a:t>
            </a:r>
          </a:p>
        </p:txBody>
      </p:sp>
    </p:spTree>
    <p:extLst>
      <p:ext uri="{BB962C8B-B14F-4D97-AF65-F5344CB8AC3E}">
        <p14:creationId xmlns:p14="http://schemas.microsoft.com/office/powerpoint/2010/main" val="19711469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Pre-allocation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Einer Anwendung wird ermöglicht, bereits vor dem Schreiben mitzuteilen, wie groß die Datei ist, sodass zusammenhängende Plattenbereiche reserviert werden können</a:t>
            </a:r>
          </a:p>
          <a:p>
            <a:pPr lvl="1"/>
            <a:r>
              <a:rPr lang="de-DE" dirty="0"/>
              <a:t>Wird der so reservierte </a:t>
            </a:r>
            <a:r>
              <a:rPr lang="de-DE" dirty="0" err="1"/>
              <a:t>Extent</a:t>
            </a:r>
            <a:r>
              <a:rPr lang="de-DE" dirty="0"/>
              <a:t> </a:t>
            </a:r>
            <a:r>
              <a:rPr lang="de-DE" u="sng" dirty="0"/>
              <a:t>vor</a:t>
            </a:r>
            <a:r>
              <a:rPr lang="de-DE" dirty="0"/>
              <a:t> dem tatsächlichen Schreiben eingelesen, so gibt das Filesystem Nullen zurück (damit nicht alte dort noch gespeicherte Blöcke fälschlicherweise beim Öffnen einer Datei eingelesen werden)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ext4</a:t>
            </a:r>
          </a:p>
        </p:txBody>
      </p:sp>
    </p:spTree>
    <p:extLst>
      <p:ext uri="{BB962C8B-B14F-4D97-AF65-F5344CB8AC3E}">
        <p14:creationId xmlns:p14="http://schemas.microsoft.com/office/powerpoint/2010/main" val="14727236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BtrFS</a:t>
            </a:r>
            <a:r>
              <a:rPr lang="de-DE" dirty="0"/>
              <a:t> (B-</a:t>
            </a:r>
            <a:r>
              <a:rPr lang="de-DE" dirty="0" err="1"/>
              <a:t>Tree</a:t>
            </a:r>
            <a:r>
              <a:rPr lang="de-DE" dirty="0"/>
              <a:t>-Filesystem): </a:t>
            </a:r>
          </a:p>
          <a:p>
            <a:pPr marL="0" indent="0">
              <a:buNone/>
            </a:pPr>
            <a:r>
              <a:rPr lang="de-DE" dirty="0"/>
              <a:t>    kein Journal sondern das Prinzip „</a:t>
            </a:r>
            <a:r>
              <a:rPr lang="de-DE" dirty="0" err="1"/>
              <a:t>Copy</a:t>
            </a:r>
            <a:r>
              <a:rPr lang="de-DE" dirty="0"/>
              <a:t>-on-Write“ (</a:t>
            </a:r>
            <a:r>
              <a:rPr lang="de-DE" dirty="0" err="1"/>
              <a:t>CoW</a:t>
            </a:r>
            <a:r>
              <a:rPr lang="de-DE" dirty="0"/>
              <a:t>) </a:t>
            </a:r>
          </a:p>
          <a:p>
            <a:r>
              <a:rPr lang="de-DE" dirty="0" err="1"/>
              <a:t>CoW</a:t>
            </a:r>
            <a:r>
              <a:rPr lang="de-DE" dirty="0"/>
              <a:t>: Datenblöcke werden nach einer Änderung nicht an dieselbe Blockposition zurückgeschrieben, sondern es wird ein neuer Block dafür angelegt.</a:t>
            </a:r>
          </a:p>
          <a:p>
            <a:r>
              <a:rPr lang="de-DE" dirty="0"/>
              <a:t>Meta-Daten als B-Baum organisiert</a:t>
            </a:r>
          </a:p>
          <a:p>
            <a:r>
              <a:rPr lang="de-DE" dirty="0"/>
              <a:t>Die Daten selbst werden außerhalb der Baumstruktur  als fortlaufende Blöcke gespeichert</a:t>
            </a:r>
          </a:p>
          <a:p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BTRFS</a:t>
            </a:r>
          </a:p>
        </p:txBody>
      </p:sp>
    </p:spTree>
    <p:extLst>
      <p:ext uri="{BB962C8B-B14F-4D97-AF65-F5344CB8AC3E}">
        <p14:creationId xmlns:p14="http://schemas.microsoft.com/office/powerpoint/2010/main" val="24638799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dateisysteme</a:t>
            </a:r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53" y="1332030"/>
            <a:ext cx="98869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4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2780</Words>
  <Application>Microsoft Office PowerPoint</Application>
  <PresentationFormat>Breitbild</PresentationFormat>
  <Paragraphs>396</Paragraphs>
  <Slides>49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Courier New</vt:lpstr>
      <vt:lpstr>Symbol</vt:lpstr>
      <vt:lpstr>ヒラギノ角ゴ Pro W3</vt:lpstr>
      <vt:lpstr>Office</vt:lpstr>
      <vt:lpstr>Informatik 2   </vt:lpstr>
      <vt:lpstr>Systemstart</vt:lpstr>
      <vt:lpstr>Systemstart</vt:lpstr>
      <vt:lpstr>Systemstart</vt:lpstr>
      <vt:lpstr>Systemstart</vt:lpstr>
      <vt:lpstr>Systemstart</vt:lpstr>
      <vt:lpstr>Systemstart</vt:lpstr>
      <vt:lpstr>Systemstart</vt:lpstr>
      <vt:lpstr>Systemstart</vt:lpstr>
      <vt:lpstr>Systemstart</vt:lpstr>
      <vt:lpstr>Systemstart</vt:lpstr>
      <vt:lpstr>Systemstart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  <vt:lpstr>dateisysteme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Martini, Nils</dc:creator>
  <cp:lastModifiedBy>Martini, Nils</cp:lastModifiedBy>
  <cp:revision>114</cp:revision>
  <dcterms:created xsi:type="dcterms:W3CDTF">2020-07-09T08:29:18Z</dcterms:created>
  <dcterms:modified xsi:type="dcterms:W3CDTF">2025-07-25T11:20:15Z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2024-09-09T11:46:17Z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02395e02-1e00-4932-a8b6-d8bc8955f76d</vt:lpwstr>
  </property>
  <property fmtid="{D5CDD505-2E9C-101B-9397-08002B2CF9AE}" pid="8" name="MSIP_Label_defa4170-0d19-0005-0004-bc88714345d2_ContentBits">
    <vt:lpwstr>0</vt:lpwstr>
  </property>
</Properties>
</file>