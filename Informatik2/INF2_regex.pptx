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261" r:id="rId4"/>
    <p:sldId id="262" r:id="rId5"/>
    <p:sldId id="264" r:id="rId6"/>
    <p:sldId id="265" r:id="rId7"/>
    <p:sldId id="263" r:id="rId8"/>
    <p:sldId id="266" r:id="rId9"/>
    <p:sldId id="267" r:id="rId10"/>
    <p:sldId id="268" r:id="rId11"/>
    <p:sldId id="269" r:id="rId12"/>
    <p:sldId id="271" r:id="rId13"/>
    <p:sldId id="270" r:id="rId14"/>
    <p:sldId id="272" r:id="rId15"/>
    <p:sldId id="275" r:id="rId16"/>
    <p:sldId id="273" r:id="rId17"/>
    <p:sldId id="274" r:id="rId18"/>
    <p:sldId id="276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78F7F4-C3BA-4FEF-91E9-269F6AB3EB4D}" v="6" dt="2025-07-25T11:28:55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1" autoAdjust="0"/>
    <p:restoredTop sz="93187" autoAdjust="0"/>
  </p:normalViewPr>
  <p:slideViewPr>
    <p:cSldViewPr snapToGrid="0">
      <p:cViewPr varScale="1">
        <p:scale>
          <a:sx n="73" d="100"/>
          <a:sy n="73" d="100"/>
        </p:scale>
        <p:origin x="378" y="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7" d="100"/>
          <a:sy n="47" d="100"/>
        </p:scale>
        <p:origin x="2670" y="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i, Nils" userId="c34194c2-71ae-47de-8ef3-60d691fbf90d" providerId="ADAL" clId="{84BC1403-9780-42BC-917B-71589CE5C551}"/>
    <pc:docChg chg="modSld sldOrd">
      <pc:chgData name="Martini, Nils" userId="c34194c2-71ae-47de-8ef3-60d691fbf90d" providerId="ADAL" clId="{84BC1403-9780-42BC-917B-71589CE5C551}" dt="2024-04-09T07:47:17.225" v="3"/>
      <pc:docMkLst>
        <pc:docMk/>
      </pc:docMkLst>
      <pc:sldChg chg="ord">
        <pc:chgData name="Martini, Nils" userId="c34194c2-71ae-47de-8ef3-60d691fbf90d" providerId="ADAL" clId="{84BC1403-9780-42BC-917B-71589CE5C551}" dt="2024-04-09T07:47:17.225" v="3"/>
        <pc:sldMkLst>
          <pc:docMk/>
          <pc:sldMk cId="1076708833" sldId="266"/>
        </pc:sldMkLst>
      </pc:sldChg>
    </pc:docChg>
  </pc:docChgLst>
  <pc:docChgLst>
    <pc:chgData name="Martini, Nils" userId="c34194c2-71ae-47de-8ef3-60d691fbf90d" providerId="ADAL" clId="{A778F7F4-C3BA-4FEF-91E9-269F6AB3EB4D}"/>
    <pc:docChg chg="modSld modMainMaster">
      <pc:chgData name="Martini, Nils" userId="c34194c2-71ae-47de-8ef3-60d691fbf90d" providerId="ADAL" clId="{A778F7F4-C3BA-4FEF-91E9-269F6AB3EB4D}" dt="2025-07-25T11:29:30.050" v="121" actId="6549"/>
      <pc:docMkLst>
        <pc:docMk/>
      </pc:docMkLst>
      <pc:sldChg chg="modSp mod">
        <pc:chgData name="Martini, Nils" userId="c34194c2-71ae-47de-8ef3-60d691fbf90d" providerId="ADAL" clId="{A778F7F4-C3BA-4FEF-91E9-269F6AB3EB4D}" dt="2025-07-25T11:29:30.050" v="121" actId="6549"/>
        <pc:sldMkLst>
          <pc:docMk/>
          <pc:sldMk cId="925675539" sldId="256"/>
        </pc:sldMkLst>
        <pc:spChg chg="mod">
          <ac:chgData name="Martini, Nils" userId="c34194c2-71ae-47de-8ef3-60d691fbf90d" providerId="ADAL" clId="{A778F7F4-C3BA-4FEF-91E9-269F6AB3EB4D}" dt="2025-07-25T11:29:30.050" v="121" actId="6549"/>
          <ac:spMkLst>
            <pc:docMk/>
            <pc:sldMk cId="925675539" sldId="256"/>
            <ac:spMk id="2" creationId="{00000000-0000-0000-0000-000000000000}"/>
          </ac:spMkLst>
        </pc:spChg>
        <pc:spChg chg="mod">
          <ac:chgData name="Martini, Nils" userId="c34194c2-71ae-47de-8ef3-60d691fbf90d" providerId="ADAL" clId="{A778F7F4-C3BA-4FEF-91E9-269F6AB3EB4D}" dt="2025-07-25T11:24:54.218" v="12" actId="20577"/>
          <ac:spMkLst>
            <pc:docMk/>
            <pc:sldMk cId="925675539" sldId="256"/>
            <ac:spMk id="3" creationId="{00000000-0000-0000-0000-000000000000}"/>
          </ac:spMkLst>
        </pc:spChg>
      </pc:sldChg>
      <pc:sldMasterChg chg="modSldLayout">
        <pc:chgData name="Martini, Nils" userId="c34194c2-71ae-47de-8ef3-60d691fbf90d" providerId="ADAL" clId="{A778F7F4-C3BA-4FEF-91E9-269F6AB3EB4D}" dt="2025-07-25T11:29:01.054" v="120" actId="20577"/>
        <pc:sldMasterMkLst>
          <pc:docMk/>
          <pc:sldMasterMk cId="3883322421" sldId="2147483648"/>
        </pc:sldMasterMkLst>
        <pc:sldLayoutChg chg="modSp mod">
          <pc:chgData name="Martini, Nils" userId="c34194c2-71ae-47de-8ef3-60d691fbf90d" providerId="ADAL" clId="{A778F7F4-C3BA-4FEF-91E9-269F6AB3EB4D}" dt="2025-07-25T11:28:05.128" v="40" actId="20577"/>
          <pc:sldLayoutMkLst>
            <pc:docMk/>
            <pc:sldMasterMk cId="3883322421" sldId="2147483648"/>
            <pc:sldLayoutMk cId="2231645580" sldId="2147483650"/>
          </pc:sldLayoutMkLst>
          <pc:spChg chg="mod">
            <ac:chgData name="Martini, Nils" userId="c34194c2-71ae-47de-8ef3-60d691fbf90d" providerId="ADAL" clId="{A778F7F4-C3BA-4FEF-91E9-269F6AB3EB4D}" dt="2025-07-25T11:28:05.128" v="40" actId="20577"/>
            <ac:spMkLst>
              <pc:docMk/>
              <pc:sldMasterMk cId="3883322421" sldId="2147483648"/>
              <pc:sldLayoutMk cId="2231645580" sldId="2147483650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A778F7F4-C3BA-4FEF-91E9-269F6AB3EB4D}" dt="2025-07-25T11:27:59.003" v="21"/>
            <ac:spMkLst>
              <pc:docMk/>
              <pc:sldMasterMk cId="3883322421" sldId="2147483648"/>
              <pc:sldLayoutMk cId="2231645580" sldId="2147483650"/>
              <ac:spMk id="9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A778F7F4-C3BA-4FEF-91E9-269F6AB3EB4D}" dt="2025-07-25T11:28:32.074" v="80" actId="20577"/>
          <pc:sldLayoutMkLst>
            <pc:docMk/>
            <pc:sldMasterMk cId="3883322421" sldId="2147483648"/>
            <pc:sldLayoutMk cId="687458762" sldId="2147483652"/>
          </pc:sldLayoutMkLst>
          <pc:spChg chg="mod">
            <ac:chgData name="Martini, Nils" userId="c34194c2-71ae-47de-8ef3-60d691fbf90d" providerId="ADAL" clId="{A778F7F4-C3BA-4FEF-91E9-269F6AB3EB4D}" dt="2025-07-25T11:28:32.074" v="80" actId="20577"/>
            <ac:spMkLst>
              <pc:docMk/>
              <pc:sldMasterMk cId="3883322421" sldId="2147483648"/>
              <pc:sldLayoutMk cId="687458762" sldId="2147483652"/>
              <ac:spMk id="9" creationId="{00000000-0000-0000-0000-000000000000}"/>
            </ac:spMkLst>
          </pc:spChg>
          <pc:spChg chg="mod">
            <ac:chgData name="Martini, Nils" userId="c34194c2-71ae-47de-8ef3-60d691fbf90d" providerId="ADAL" clId="{A778F7F4-C3BA-4FEF-91E9-269F6AB3EB4D}" dt="2025-07-25T11:28:26.322" v="61"/>
            <ac:spMkLst>
              <pc:docMk/>
              <pc:sldMasterMk cId="3883322421" sldId="2147483648"/>
              <pc:sldLayoutMk cId="687458762" sldId="2147483652"/>
              <ac:spMk id="10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A778F7F4-C3BA-4FEF-91E9-269F6AB3EB4D}" dt="2025-07-25T11:29:01.054" v="120" actId="20577"/>
          <pc:sldLayoutMkLst>
            <pc:docMk/>
            <pc:sldMasterMk cId="3883322421" sldId="2147483648"/>
            <pc:sldLayoutMk cId="897819904" sldId="2147483654"/>
          </pc:sldLayoutMkLst>
          <pc:spChg chg="mod">
            <ac:chgData name="Martini, Nils" userId="c34194c2-71ae-47de-8ef3-60d691fbf90d" providerId="ADAL" clId="{A778F7F4-C3BA-4FEF-91E9-269F6AB3EB4D}" dt="2025-07-25T11:29:01.054" v="120" actId="20577"/>
            <ac:spMkLst>
              <pc:docMk/>
              <pc:sldMasterMk cId="3883322421" sldId="2147483648"/>
              <pc:sldLayoutMk cId="897819904" sldId="2147483654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A778F7F4-C3BA-4FEF-91E9-269F6AB3EB4D}" dt="2025-07-25T11:28:55.256" v="101"/>
            <ac:spMkLst>
              <pc:docMk/>
              <pc:sldMasterMk cId="3883322421" sldId="2147483648"/>
              <pc:sldLayoutMk cId="897819904" sldId="2147483654"/>
              <ac:spMk id="9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A778F7F4-C3BA-4FEF-91E9-269F6AB3EB4D}" dt="2025-07-25T11:28:20.190" v="60" actId="20577"/>
          <pc:sldLayoutMkLst>
            <pc:docMk/>
            <pc:sldMasterMk cId="3883322421" sldId="2147483648"/>
            <pc:sldLayoutMk cId="4073662840" sldId="2147483660"/>
          </pc:sldLayoutMkLst>
          <pc:spChg chg="mod">
            <ac:chgData name="Martini, Nils" userId="c34194c2-71ae-47de-8ef3-60d691fbf90d" providerId="ADAL" clId="{A778F7F4-C3BA-4FEF-91E9-269F6AB3EB4D}" dt="2025-07-25T11:28:20.190" v="60" actId="20577"/>
            <ac:spMkLst>
              <pc:docMk/>
              <pc:sldMasterMk cId="3883322421" sldId="2147483648"/>
              <pc:sldLayoutMk cId="4073662840" sldId="2147483660"/>
              <ac:spMk id="10" creationId="{00000000-0000-0000-0000-000000000000}"/>
            </ac:spMkLst>
          </pc:spChg>
          <pc:spChg chg="mod">
            <ac:chgData name="Martini, Nils" userId="c34194c2-71ae-47de-8ef3-60d691fbf90d" providerId="ADAL" clId="{A778F7F4-C3BA-4FEF-91E9-269F6AB3EB4D}" dt="2025-07-25T11:28:13.875" v="41"/>
            <ac:spMkLst>
              <pc:docMk/>
              <pc:sldMasterMk cId="3883322421" sldId="2147483648"/>
              <pc:sldLayoutMk cId="4073662840" sldId="2147483660"/>
              <ac:spMk id="11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A778F7F4-C3BA-4FEF-91E9-269F6AB3EB4D}" dt="2025-07-25T11:28:45.742" v="100" actId="20577"/>
          <pc:sldLayoutMkLst>
            <pc:docMk/>
            <pc:sldMasterMk cId="3883322421" sldId="2147483648"/>
            <pc:sldLayoutMk cId="1411041007" sldId="2147483661"/>
          </pc:sldLayoutMkLst>
          <pc:spChg chg="mod">
            <ac:chgData name="Martini, Nils" userId="c34194c2-71ae-47de-8ef3-60d691fbf90d" providerId="ADAL" clId="{A778F7F4-C3BA-4FEF-91E9-269F6AB3EB4D}" dt="2025-07-25T11:28:45.742" v="100" actId="20577"/>
            <ac:spMkLst>
              <pc:docMk/>
              <pc:sldMasterMk cId="3883322421" sldId="2147483648"/>
              <pc:sldLayoutMk cId="1411041007" sldId="2147483661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A778F7F4-C3BA-4FEF-91E9-269F6AB3EB4D}" dt="2025-07-25T11:28:39.874" v="81"/>
            <ac:spMkLst>
              <pc:docMk/>
              <pc:sldMasterMk cId="3883322421" sldId="2147483648"/>
              <pc:sldLayoutMk cId="1411041007" sldId="2147483661"/>
              <ac:spMk id="9" creationId="{00000000-0000-0000-0000-000000000000}"/>
            </ac:spMkLst>
          </pc:spChg>
        </pc:sldLayoutChg>
      </pc:sldMasterChg>
    </pc:docChg>
  </pc:docChgLst>
  <pc:docChgLst>
    <pc:chgData name="Martini, Nils" userId="c34194c2-71ae-47de-8ef3-60d691fbf90d" providerId="ADAL" clId="{2EFC3AB5-D118-40C3-93E0-2289070512D9}"/>
    <pc:docChg chg="modSld">
      <pc:chgData name="Martini, Nils" userId="c34194c2-71ae-47de-8ef3-60d691fbf90d" providerId="ADAL" clId="{2EFC3AB5-D118-40C3-93E0-2289070512D9}" dt="2024-09-09T11:45:44.117" v="12" actId="20577"/>
      <pc:docMkLst>
        <pc:docMk/>
      </pc:docMkLst>
      <pc:sldChg chg="modSp mod">
        <pc:chgData name="Martini, Nils" userId="c34194c2-71ae-47de-8ef3-60d691fbf90d" providerId="ADAL" clId="{2EFC3AB5-D118-40C3-93E0-2289070512D9}" dt="2024-09-09T11:45:44.117" v="12" actId="20577"/>
        <pc:sldMkLst>
          <pc:docMk/>
          <pc:sldMk cId="925675539" sldId="256"/>
        </pc:sldMkLst>
      </pc:sldChg>
    </pc:docChg>
  </pc:docChgLst>
  <pc:docChgLst>
    <pc:chgData name="Martini, Nils" userId="c34194c2-71ae-47de-8ef3-60d691fbf90d" providerId="ADAL" clId="{CEB7843E-872C-44E9-BE06-53FF0D929389}"/>
    <pc:docChg chg="modSld">
      <pc:chgData name="Martini, Nils" userId="c34194c2-71ae-47de-8ef3-60d691fbf90d" providerId="ADAL" clId="{CEB7843E-872C-44E9-BE06-53FF0D929389}" dt="2025-02-26T08:09:47.065" v="12" actId="20577"/>
      <pc:docMkLst>
        <pc:docMk/>
      </pc:docMkLst>
      <pc:sldChg chg="modSp mod">
        <pc:chgData name="Martini, Nils" userId="c34194c2-71ae-47de-8ef3-60d691fbf90d" providerId="ADAL" clId="{CEB7843E-872C-44E9-BE06-53FF0D929389}" dt="2025-02-26T08:09:47.065" v="12" actId="20577"/>
        <pc:sldMkLst>
          <pc:docMk/>
          <pc:sldMk cId="925675539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478FC-1069-44B7-8BAF-FB4058B52624}" type="datetimeFigureOut">
              <a:rPr lang="de-DE" smtClean="0"/>
              <a:t>25.07.2025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D0291-3554-4C30-8D4B-12D5FB451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94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40045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620000"/>
            <a:ext cx="10515600" cy="4048391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2463" y="5686426"/>
            <a:ext cx="284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49BA4C-56A9-4FA9-AC55-D60979330A5C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231645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15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/>
          <p:cNvSpPr>
            <a:spLocks noGrp="1"/>
          </p:cNvSpPr>
          <p:nvPr>
            <p:ph type="pic" idx="1"/>
          </p:nvPr>
        </p:nvSpPr>
        <p:spPr>
          <a:xfrm>
            <a:off x="6223144" y="1620000"/>
            <a:ext cx="5132243" cy="40220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0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9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11" name="Textfeld 10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73662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8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10" name="Textfeld 9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Inhaltsplatzhalter 2"/>
          <p:cNvSpPr>
            <a:spLocks noGrp="1"/>
          </p:cNvSpPr>
          <p:nvPr>
            <p:ph idx="1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3"/>
          </p:nvPr>
        </p:nvSpPr>
        <p:spPr>
          <a:xfrm>
            <a:off x="6274085" y="1618181"/>
            <a:ext cx="5079715" cy="4023879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46146B35-E15B-41CF-A855-7A2002B5D955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87458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Überschrift und Inhal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3670067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2463" y="5686426"/>
            <a:ext cx="284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49BA4C-56A9-4FA9-AC55-D60979330A5C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idx="22" hasCustomPrompt="1"/>
          </p:nvPr>
        </p:nvSpPr>
        <p:spPr>
          <a:xfrm>
            <a:off x="838200" y="1299513"/>
            <a:ext cx="10515600" cy="456136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411041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625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9781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860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79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5662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36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99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32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61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96637" cy="2387600"/>
          </a:xfrm>
        </p:spPr>
        <p:txBody>
          <a:bodyPr>
            <a:normAutofit/>
          </a:bodyPr>
          <a:lstStyle/>
          <a:p>
            <a:pPr algn="l"/>
            <a: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  <a:t>Informatik 2</a:t>
            </a:r>
            <a:b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de-DE" sz="4000" b="1" cap="all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4000" b="1" cap="al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263368"/>
            <a:ext cx="9144000" cy="2299688"/>
          </a:xfrm>
        </p:spPr>
        <p:txBody>
          <a:bodyPr>
            <a:normAutofit/>
          </a:bodyPr>
          <a:lstStyle/>
          <a:p>
            <a:pPr algn="l"/>
            <a:r>
              <a:rPr lang="de-DE" b="1" dirty="0">
                <a:solidFill>
                  <a:schemeClr val="accent1">
                    <a:lumMod val="50000"/>
                  </a:schemeClr>
                </a:solidFill>
              </a:rPr>
              <a:t>Reguläre Ausdrücke</a:t>
            </a:r>
          </a:p>
          <a:p>
            <a:pPr algn="l"/>
            <a:endParaRPr lang="de-DE" sz="17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7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Prof. Dr. Nils Martini</a:t>
            </a:r>
            <a:b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</a:b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Hochschule für Angewandte Wissenschaften Hamburg</a:t>
            </a: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Wintersemester 2025/2026</a:t>
            </a:r>
          </a:p>
          <a:p>
            <a:pPr algn="l"/>
            <a:endParaRPr lang="de-DE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Bild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000" y="5760000"/>
            <a:ext cx="2465189" cy="636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Reguläre Ausdrücke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„reguläre Ausdrücke“ (engl. Regular </a:t>
            </a:r>
            <a:r>
              <a:rPr lang="de-DE" dirty="0" err="1"/>
              <a:t>Expressions</a:t>
            </a:r>
            <a:r>
              <a:rPr lang="de-DE" dirty="0"/>
              <a:t>, 			   abgekürzt: </a:t>
            </a:r>
            <a:r>
              <a:rPr lang="de-DE" dirty="0" err="1"/>
              <a:t>regEx</a:t>
            </a:r>
            <a:r>
              <a:rPr lang="de-DE" dirty="0"/>
              <a:t>): Formale Sprache, die nach 				       Mustern oder bestimmten Zeichenketten sucht.</a:t>
            </a:r>
          </a:p>
          <a:p>
            <a:r>
              <a:rPr lang="de-DE" dirty="0"/>
              <a:t>Reguläre Ausdrücke finden sich in vielen Programmier-		            sprachen, auch im Zusammenhang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dirty="0"/>
              <a:t>,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de-DE" dirty="0"/>
              <a:t>,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awk</a:t>
            </a:r>
            <a:r>
              <a:rPr lang="de-DE" dirty="0"/>
              <a:t> oder Perl</a:t>
            </a:r>
          </a:p>
          <a:p>
            <a:r>
              <a:rPr lang="de-DE" dirty="0"/>
              <a:t>Reguläre Ausdrücke finden sich in allen Anwendungen, die Muster suchen müssen (z.B. Firewalls, die nach schädlichen Inhalten von Datenpaketen suchen).</a:t>
            </a:r>
          </a:p>
          <a:p>
            <a:r>
              <a:rPr lang="de-DE" dirty="0"/>
              <a:t>Die Syntax ist in den verschiedenen Anwendungen und Programmiersprachen bei den grundlegenden Ausdrücken sehr ähnlich.</a:t>
            </a:r>
          </a:p>
          <a:p>
            <a:r>
              <a:rPr lang="de-DE" dirty="0"/>
              <a:t>In dieser Vorlesung: Syntax nach „Perl </a:t>
            </a:r>
            <a:r>
              <a:rPr lang="de-DE" dirty="0" err="1"/>
              <a:t>Compatible</a:t>
            </a:r>
            <a:r>
              <a:rPr lang="de-DE" dirty="0"/>
              <a:t> Regular </a:t>
            </a:r>
            <a:r>
              <a:rPr lang="de-DE" dirty="0" err="1"/>
              <a:t>Expressions</a:t>
            </a:r>
            <a:r>
              <a:rPr lang="de-DE" dirty="0"/>
              <a:t>“ (PCRE)</a:t>
            </a:r>
          </a:p>
          <a:p>
            <a:r>
              <a:rPr lang="de-DE" dirty="0"/>
              <a:t>Zum Ausprobieren/Testen:  https://regex101.com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30578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Reguläre Ausdrücke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589187" cy="3670067"/>
          </a:xfrm>
        </p:spPr>
        <p:txBody>
          <a:bodyPr>
            <a:normAutofit/>
          </a:bodyPr>
          <a:lstStyle/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'^suche'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							</a:t>
            </a:r>
            <a:r>
              <a:rPr lang="de-DE" dirty="0"/>
              <a:t>(findet „suche“ am Beginn einer Zeile)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'suche$'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(findet „suche“ am Ende einer Zeile)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'^suche$'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r>
              <a:rPr lang="de-DE" dirty="0"/>
              <a:t> („suche“ muss am Anfang und Ende stehen)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Math.matik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(Platzhalter für ein beliebiges Zeichen)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ematik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(Anzahl des davorstehenden Zeichens)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'Math.*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matik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(beliebiges Zeichen, das beliebig oft 						      vorkommen darf)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Erste Beispiele</a:t>
            </a:r>
          </a:p>
        </p:txBody>
      </p:sp>
    </p:spTree>
    <p:extLst>
      <p:ext uri="{BB962C8B-B14F-4D97-AF65-F5344CB8AC3E}">
        <p14:creationId xmlns:p14="http://schemas.microsoft.com/office/powerpoint/2010/main" val="2245556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Reguläre Ausdrücke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0"/>
            <a:ext cx="10589187" cy="4041941"/>
          </a:xfrm>
        </p:spPr>
        <p:txBody>
          <a:bodyPr>
            <a:normAutofit lnSpcReduction="10000"/>
          </a:bodyPr>
          <a:lstStyle/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'[a-z]' 						</a:t>
            </a:r>
            <a:r>
              <a:rPr lang="de-DE" dirty="0"/>
              <a:t>(Zeichenbereich a bis z, nur Kleinbuchstaben)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'[A-Z]'  </a:t>
            </a:r>
            <a:r>
              <a:rPr lang="de-DE" dirty="0"/>
              <a:t>(Zeichenbereich A bis Z, nur Großbuchstaben)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'[A-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Za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-z]' </a:t>
            </a:r>
            <a:r>
              <a:rPr lang="de-DE" dirty="0"/>
              <a:t> (alle Klein- und Großbuchstaben)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'[3-7]'  </a:t>
            </a:r>
            <a:r>
              <a:rPr lang="de-DE" dirty="0"/>
              <a:t>(Zahlenbereich von 3 bis 7)</a:t>
            </a:r>
          </a:p>
          <a:p>
            <a:r>
              <a:rPr lang="de-DE" dirty="0"/>
              <a:t>Die Zeichen werden in der Reihenfolge des ASCII-Codes gesucht:</a:t>
            </a:r>
          </a:p>
          <a:p>
            <a:pPr lvl="1"/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'[A-z]' </a:t>
            </a:r>
            <a:r>
              <a:rPr lang="de-DE" dirty="0"/>
              <a:t>findet nicht nur alle Buchstaben A bis Z und a bis z sondern auch die im ASCII-Code zwischen Z und a liegenden Zeichen, wie z.B.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[  \  </a:t>
            </a:r>
            <a:r>
              <a:rPr lang="de-DE" dirty="0"/>
              <a:t>oder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</a:p>
          <a:p>
            <a:pPr lvl="1"/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'[0-F]' </a:t>
            </a:r>
            <a:r>
              <a:rPr lang="de-DE" dirty="0"/>
              <a:t>findet nicht nur die Zahlen 0 bis 9 und die Großbuchstaben A bis F sondern auch die zwischen 9 und A liegenden Zeichen, wie z.B.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= &gt;  ? </a:t>
            </a:r>
            <a:r>
              <a:rPr lang="de-DE" dirty="0"/>
              <a:t>oder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endParaRPr lang="de-DE" dirty="0"/>
          </a:p>
          <a:p>
            <a:pPr lvl="1"/>
            <a:r>
              <a:rPr lang="de-DE" dirty="0"/>
              <a:t>besser: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'\w'   </a:t>
            </a:r>
            <a:r>
              <a:rPr lang="de-DE" dirty="0"/>
              <a:t>entspricht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[0-9a-zA-Z_]  </a:t>
            </a:r>
            <a:r>
              <a:rPr lang="de-DE" dirty="0"/>
              <a:t>(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\w </a:t>
            </a:r>
            <a:r>
              <a:rPr lang="de-DE" dirty="0"/>
              <a:t>für Wortzeichen)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4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Zeichenbereiche</a:t>
            </a:r>
          </a:p>
        </p:txBody>
      </p:sp>
    </p:spTree>
    <p:extLst>
      <p:ext uri="{BB962C8B-B14F-4D97-AF65-F5344CB8AC3E}">
        <p14:creationId xmlns:p14="http://schemas.microsoft.com/office/powerpoint/2010/main" val="2871072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Reguläre Ausdrücke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688466" cy="3932213"/>
          </a:xfrm>
        </p:spPr>
        <p:txBody>
          <a:bodyPr>
            <a:normAutofit lnSpcReduction="10000"/>
          </a:bodyPr>
          <a:lstStyle/>
          <a:p>
            <a:r>
              <a:rPr lang="de-DE" dirty="0"/>
              <a:t>Reguläre Ausdrücke suchen </a:t>
            </a:r>
            <a:r>
              <a:rPr lang="de-DE" i="1" dirty="0"/>
              <a:t>keine</a:t>
            </a:r>
            <a:r>
              <a:rPr lang="de-DE" dirty="0"/>
              <a:t> 					      Zahlenbereiche sondern Ziffernformate:</a:t>
            </a:r>
          </a:p>
          <a:p>
            <a:pPr lvl="1"/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'[32-47]' </a:t>
            </a:r>
            <a:r>
              <a:rPr lang="de-DE" dirty="0"/>
              <a:t>findet </a:t>
            </a:r>
            <a:r>
              <a:rPr lang="de-DE" i="1" dirty="0"/>
              <a:t>nicht</a:t>
            </a:r>
            <a:r>
              <a:rPr lang="de-DE" dirty="0"/>
              <a:t> den Zahlenbereich von 32 bis 47 sondern die Ziffer 3, den Bereich von 2 bis 4 und die Ziffer 7</a:t>
            </a:r>
          </a:p>
          <a:p>
            <a:pPr lvl="1"/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-P '3[2-9]|4[0-7]' </a:t>
            </a:r>
            <a:r>
              <a:rPr lang="de-DE" dirty="0"/>
              <a:t>findet eine 3 gefolgt von den Ziffern 2 bis 9 sowie eine 4 gefolgt von den Ziffern 0 bis 7 (allerdings in beliebigen Kombinationen, z.B. 17</a:t>
            </a:r>
            <a:r>
              <a:rPr lang="de-DE" b="1" dirty="0"/>
              <a:t>39</a:t>
            </a:r>
            <a:r>
              <a:rPr lang="de-DE" dirty="0"/>
              <a:t>2)</a:t>
            </a:r>
          </a:p>
          <a:p>
            <a:pPr lvl="1"/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-P '\b3[2-9]\b|\b4[0-7]\b'  </a:t>
            </a:r>
            <a:r>
              <a:rPr lang="de-DE" dirty="0"/>
              <a:t>findet alleinstehende Zahlen 32 - 47</a:t>
            </a:r>
          </a:p>
          <a:p>
            <a:r>
              <a:rPr lang="de-DE" dirty="0"/>
              <a:t>Negation: Es werden Ziffern oder Buchstaben </a:t>
            </a:r>
            <a:r>
              <a:rPr lang="de-DE" b="1" dirty="0"/>
              <a:t>nicht</a:t>
            </a:r>
            <a:r>
              <a:rPr lang="de-DE" dirty="0"/>
              <a:t> gefunden:</a:t>
            </a:r>
          </a:p>
          <a:p>
            <a:pPr lvl="1"/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'Mathematik [^1-2C-Z]'  </a:t>
            </a:r>
            <a:r>
              <a:rPr lang="de-DE" dirty="0"/>
              <a:t>findet </a:t>
            </a:r>
            <a:r>
              <a:rPr lang="de-DE" i="1" dirty="0"/>
              <a:t>nicht</a:t>
            </a:r>
            <a:r>
              <a:rPr lang="de-DE" dirty="0"/>
              <a:t> die Bereiche 1-2 und C-Z</a:t>
            </a:r>
          </a:p>
          <a:p>
            <a:pPr lvl="1"/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'^[^4-7A-Z]'   </a:t>
            </a:r>
            <a:r>
              <a:rPr lang="de-DE" dirty="0"/>
              <a:t>gibt Zeilen aus, die nicht mit 4-7 und A-Z beginnen</a:t>
            </a:r>
          </a:p>
          <a:p>
            <a:pPr lvl="1"/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'\B[2-5][0-9]\B' </a:t>
            </a:r>
            <a:r>
              <a:rPr lang="de-DE" dirty="0"/>
              <a:t>findet die Zahlen 20 bis 59, die </a:t>
            </a:r>
            <a:r>
              <a:rPr lang="de-DE" i="1" dirty="0"/>
              <a:t>nicht</a:t>
            </a:r>
            <a:r>
              <a:rPr lang="de-DE" dirty="0"/>
              <a:t> an einer Wortgrenze 				      stehen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5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Zeichenbereiche</a:t>
            </a:r>
          </a:p>
        </p:txBody>
      </p:sp>
    </p:spTree>
    <p:extLst>
      <p:ext uri="{BB962C8B-B14F-4D97-AF65-F5344CB8AC3E}">
        <p14:creationId xmlns:p14="http://schemas.microsoft.com/office/powerpoint/2010/main" val="392365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Reguläre Ausdrücke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589187" cy="3670067"/>
          </a:xfrm>
        </p:spPr>
        <p:txBody>
          <a:bodyPr>
            <a:normAutofit/>
          </a:bodyPr>
          <a:lstStyle/>
          <a:p>
            <a:r>
              <a:rPr lang="de-DE" dirty="0"/>
              <a:t>Gruppierungen können einen regulären 			             Ausdruck übersichtlicher gestalten: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-P '\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Maria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\b|\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Marianne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\b'   </a:t>
            </a:r>
            <a:r>
              <a:rPr lang="de-DE" dirty="0"/>
              <a:t>(ohne Gruppierung)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-P '\b(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Maria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Marianne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)\b'   </a:t>
            </a:r>
            <a:r>
              <a:rPr lang="de-DE" dirty="0"/>
              <a:t>(mit Gruppierung)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-P '([0-1][0-9]|2[0-3])(:[0-5][0-9]){</a:t>
            </a: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2}'   </a:t>
            </a:r>
            <a:r>
              <a:rPr lang="de-DE" dirty="0"/>
              <a:t>(Zeitformat z.B. 23:35:17  mit gleichem Format für Minute und Sekunde)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6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Gruppierungen</a:t>
            </a:r>
          </a:p>
        </p:txBody>
      </p:sp>
    </p:spTree>
    <p:extLst>
      <p:ext uri="{BB962C8B-B14F-4D97-AF65-F5344CB8AC3E}">
        <p14:creationId xmlns:p14="http://schemas.microsoft.com/office/powerpoint/2010/main" val="134713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Reguläre Ausdrücke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589187" cy="3670067"/>
          </a:xfrm>
        </p:spPr>
        <p:txBody>
          <a:bodyPr>
            <a:normAutofit/>
          </a:bodyPr>
          <a:lstStyle/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'[a-z]*'  							</a:t>
            </a:r>
            <a:r>
              <a:rPr lang="de-DE" dirty="0"/>
              <a:t>Wiederholung von a-z beliebig oft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'A{3}'  </a:t>
            </a:r>
            <a:r>
              <a:rPr lang="de-DE" dirty="0"/>
              <a:t>genau dreimalige Wiederholung von A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'A{5,8}'  </a:t>
            </a:r>
            <a:r>
              <a:rPr lang="de-DE" dirty="0"/>
              <a:t>5- bis 8-malige Wiederholung von A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'A{7,}'  </a:t>
            </a:r>
            <a:r>
              <a:rPr lang="de-DE" dirty="0"/>
              <a:t>mindestens 7-malige Wiederholung von A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'A{,13}'  </a:t>
            </a:r>
            <a:r>
              <a:rPr lang="de-DE" dirty="0"/>
              <a:t>höchstens 13-malige Wiederholung von A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–P 'A.* 1'</a:t>
            </a:r>
            <a:r>
              <a:rPr lang="de-DE" dirty="0"/>
              <a:t>    „gieriges Verhalten“ von *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–P 'A.*? 1'</a:t>
            </a:r>
            <a:r>
              <a:rPr lang="de-DE" dirty="0"/>
              <a:t>    gieriges Verhalten verhindern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7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Wiederholungen</a:t>
            </a:r>
          </a:p>
        </p:txBody>
      </p:sp>
    </p:spTree>
    <p:extLst>
      <p:ext uri="{BB962C8B-B14F-4D97-AF65-F5344CB8AC3E}">
        <p14:creationId xmlns:p14="http://schemas.microsoft.com/office/powerpoint/2010/main" val="992744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Stream-Editor SED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589187" cy="3670067"/>
          </a:xfrm>
        </p:spPr>
        <p:txBody>
          <a:bodyPr>
            <a:normAutofit/>
          </a:bodyPr>
          <a:lstStyle/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'Adresse Kommando' Datei 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-n '3 p'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/>
              <a:t>Ausgabe der dritten Zeile 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-n '3,$ p'  </a:t>
            </a:r>
            <a:r>
              <a:rPr lang="de-DE" dirty="0"/>
              <a:t>Ausgabe von der dritten Zeile bis zum Ende der Datei 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-n '/Mathe/p'</a:t>
            </a:r>
            <a:r>
              <a:rPr lang="de-DE" dirty="0"/>
              <a:t>  Ausgabe aller Zeilen, in denen die Zeichenkette 					„Mathe“ vorkommt. 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-n '/M[0-9]/p'</a:t>
            </a:r>
            <a:r>
              <a:rPr lang="de-DE" dirty="0"/>
              <a:t>   Ausgabe aller Zeilen, in denen auf das Zeichen 				„M“ eine Zahl folgt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8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Suchen und Ersetzen</a:t>
            </a:r>
          </a:p>
        </p:txBody>
      </p:sp>
    </p:spTree>
    <p:extLst>
      <p:ext uri="{BB962C8B-B14F-4D97-AF65-F5344CB8AC3E}">
        <p14:creationId xmlns:p14="http://schemas.microsoft.com/office/powerpoint/2010/main" val="1076708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Stream-Editor SED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850446" cy="3670067"/>
          </a:xfrm>
        </p:spPr>
        <p:txBody>
          <a:bodyPr>
            <a:normAutofit/>
          </a:bodyPr>
          <a:lstStyle/>
          <a:p>
            <a:r>
              <a:rPr lang="de-DE" dirty="0"/>
              <a:t>Ersetzen (</a:t>
            </a:r>
            <a:r>
              <a:rPr lang="de-DE" dirty="0" err="1"/>
              <a:t>substitute</a:t>
            </a:r>
            <a:r>
              <a:rPr lang="de-DE" dirty="0"/>
              <a:t> s)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-n '3,7{p ; s/Informatik/Malen nach Zahlen/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}'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Option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-i</a:t>
            </a:r>
            <a:r>
              <a:rPr lang="de-DE" dirty="0"/>
              <a:t> (inline): Änderungen werden direkt in der Original-Datei ausgeführt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i.bak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'17d'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9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Suchen und Ersetzen</a:t>
            </a:r>
          </a:p>
        </p:txBody>
      </p:sp>
    </p:spTree>
    <p:extLst>
      <p:ext uri="{BB962C8B-B14F-4D97-AF65-F5344CB8AC3E}">
        <p14:creationId xmlns:p14="http://schemas.microsoft.com/office/powerpoint/2010/main" val="2789574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AWK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8" y="2076701"/>
            <a:ext cx="10965399" cy="3670067"/>
          </a:xfrm>
        </p:spPr>
        <p:txBody>
          <a:bodyPr>
            <a:normAutofit/>
          </a:bodyPr>
          <a:lstStyle/>
          <a:p>
            <a:r>
              <a:rPr lang="de-DE" dirty="0"/>
              <a:t> Die grundlegende Kommandostruktur ist 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awk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 </a:t>
            </a:r>
            <a:r>
              <a:rPr lang="de-DE" i="1" dirty="0">
                <a:latin typeface="Courier New" panose="02070309020205020404" pitchFamily="49" charset="0"/>
                <a:cs typeface="Courier New" panose="02070309020205020404" pitchFamily="49" charset="0"/>
              </a:rPr>
              <a:t>Suchmuster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de-DE" i="1" dirty="0">
                <a:latin typeface="Courier New" panose="02070309020205020404" pitchFamily="49" charset="0"/>
                <a:cs typeface="Courier New" panose="02070309020205020404" pitchFamily="49" charset="0"/>
              </a:rPr>
              <a:t>Kommando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} '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Zeilen werden spaltenweise bearbeitet (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$2</a:t>
            </a:r>
            <a:r>
              <a:rPr lang="de-DE" dirty="0"/>
              <a:t> bezeichnet die zweite Spalte)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awk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'$2 ~ "Mathematik" {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$4}'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dirty="0"/>
              <a:t>Das Suchmuster kann mittels regulärer Ausdrücke formuliert werden: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awk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-F: '$6 ~ /^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/ &amp;&amp; $NF ~ 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bash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$/ {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$1}'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Wertebereiche suchen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awk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-F: '$3 &lt;= 20 &amp;&amp; $3 &gt; 13 {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$1 " " $(NF-1)}'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datei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10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Suchen und Ersetzen</a:t>
            </a:r>
          </a:p>
        </p:txBody>
      </p:sp>
    </p:spTree>
    <p:extLst>
      <p:ext uri="{BB962C8B-B14F-4D97-AF65-F5344CB8AC3E}">
        <p14:creationId xmlns:p14="http://schemas.microsoft.com/office/powerpoint/2010/main" val="3690372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Shell-skripte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2"/>
            <a:ext cx="8002743" cy="1220364"/>
          </a:xfrm>
        </p:spPr>
        <p:txBody>
          <a:bodyPr>
            <a:normAutofit/>
          </a:bodyPr>
          <a:lstStyle/>
          <a:p>
            <a:r>
              <a:rPr lang="de-DE" dirty="0"/>
              <a:t>Mit Shell-Skripten lassen sich administrative Aufgaben im System automatisieren oder zusammenfassen</a:t>
            </a:r>
          </a:p>
          <a:p>
            <a:r>
              <a:rPr lang="de-DE" dirty="0"/>
              <a:t>Beispiel: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11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Grundlagen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2361764" y="3199085"/>
            <a:ext cx="915445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#!/bin/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bash</a:t>
            </a:r>
            <a:endParaRPr lang="de-DE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de-DE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"Ich habe den User-Namen: $(</a:t>
            </a:r>
            <a:r>
              <a:rPr lang="de-DE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whoami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"</a:t>
            </a:r>
          </a:p>
          <a:p>
            <a:pPr>
              <a:lnSpc>
                <a:spcPct val="120000"/>
              </a:lnSpc>
            </a:pPr>
            <a:r>
              <a:rPr lang="de-DE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"mit der User- und Group-ID:"</a:t>
            </a:r>
          </a:p>
          <a:p>
            <a:pPr>
              <a:lnSpc>
                <a:spcPct val="120000"/>
              </a:lnSpc>
            </a:pP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endParaRPr lang="de-DE" sz="20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de-DE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"auf dem Rechner mit dem Namen:" ; </a:t>
            </a:r>
            <a:r>
              <a:rPr lang="de-DE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</a:t>
            </a:r>
            <a:endParaRPr lang="de-DE" sz="20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de-DE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"Dieses Shell-Skript wird im Verzeichnis" ;  </a:t>
            </a:r>
            <a:r>
              <a:rPr lang="de-DE" sz="20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endParaRPr lang="de-DE" sz="20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de-DE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"ausgeführt"</a:t>
            </a:r>
          </a:p>
          <a:p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053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Shell-skripte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589187" cy="3670067"/>
          </a:xfrm>
        </p:spPr>
        <p:txBody>
          <a:bodyPr>
            <a:normAutofit/>
          </a:bodyPr>
          <a:lstStyle/>
          <a:p>
            <a:r>
              <a:rPr lang="de-DE" dirty="0"/>
              <a:t> Arbeiten mit Variablen:</a:t>
            </a:r>
          </a:p>
          <a:p>
            <a:pPr marL="457200" lvl="1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Name=Paula</a:t>
            </a:r>
          </a:p>
          <a:p>
            <a:pPr marL="457200" lvl="1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$Name</a:t>
            </a:r>
          </a:p>
          <a:p>
            <a:r>
              <a:rPr lang="de-DE" dirty="0"/>
              <a:t>Eine Variable ist nur innerhalb ihrer jeweiligen Umgebung (Sub-Shell) gültig</a:t>
            </a:r>
          </a:p>
          <a:p>
            <a:r>
              <a:rPr lang="de-DE" dirty="0"/>
              <a:t>Falls erforderlich, muss eine Variable in die Sub-Shell exportiert werden:</a:t>
            </a:r>
          </a:p>
          <a:p>
            <a:pPr marL="457200" lvl="1" indent="0"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export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Name</a:t>
            </a:r>
          </a:p>
          <a:p>
            <a:r>
              <a:rPr lang="de-DE" dirty="0"/>
              <a:t>Falls eine Variable aus der Sub-Shell an die aufrufende (übergeordnete) Shell übergeben werden soll:</a:t>
            </a:r>
          </a:p>
          <a:p>
            <a:pPr marL="457200" lvl="1" indent="0"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skript-name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12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Variablen und Argumente</a:t>
            </a:r>
          </a:p>
        </p:txBody>
      </p:sp>
    </p:spTree>
    <p:extLst>
      <p:ext uri="{BB962C8B-B14F-4D97-AF65-F5344CB8AC3E}">
        <p14:creationId xmlns:p14="http://schemas.microsoft.com/office/powerpoint/2010/main" val="1619653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71067"/>
            <a:ext cx="10515600" cy="900000"/>
          </a:xfrm>
        </p:spPr>
        <p:txBody>
          <a:bodyPr/>
          <a:lstStyle/>
          <a:p>
            <a:r>
              <a:rPr lang="de-DE" dirty="0"/>
              <a:t>Shell-skripte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589187" cy="3859061"/>
          </a:xfrm>
        </p:spPr>
        <p:txBody>
          <a:bodyPr>
            <a:normAutofit/>
          </a:bodyPr>
          <a:lstStyle/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varA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=4 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varB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=5 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varA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+ $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varB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(</a:t>
            </a:r>
            <a:r>
              <a:rPr lang="de-DE" i="1" dirty="0"/>
              <a:t>mit</a:t>
            </a:r>
            <a:r>
              <a:rPr lang="de-DE" dirty="0"/>
              <a:t> Leerzeichen vor und hinter dem „+“ : die Ausgabe ist „9“ ) 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varA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+$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varB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(</a:t>
            </a:r>
            <a:r>
              <a:rPr lang="de-DE" i="1" dirty="0"/>
              <a:t>ohne</a:t>
            </a:r>
            <a:r>
              <a:rPr lang="de-DE" dirty="0"/>
              <a:t> Leerzeichen vor und hinter dem „+“: die Ausgabe ist „4+5“ ) 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varA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/ $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varB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(es wird gerundet: Ausgabe „1“) </a:t>
            </a:r>
          </a:p>
          <a:p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varA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\* $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varB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dirty="0"/>
              <a:t>(der Wildcard-Stern muss geschützt werden)</a:t>
            </a:r>
          </a:p>
          <a:p>
            <a:r>
              <a:rPr lang="de-DE" dirty="0"/>
              <a:t>Vereinfachte Schreibweise in der </a:t>
            </a:r>
            <a:r>
              <a:rPr lang="de-DE" dirty="0" err="1"/>
              <a:t>bash</a:t>
            </a:r>
            <a:r>
              <a:rPr lang="de-DE" dirty="0"/>
              <a:t>, aufwändigeres Rechnen mit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bc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13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Rechenoperationen</a:t>
            </a:r>
          </a:p>
        </p:txBody>
      </p:sp>
    </p:spTree>
    <p:extLst>
      <p:ext uri="{BB962C8B-B14F-4D97-AF65-F5344CB8AC3E}">
        <p14:creationId xmlns:p14="http://schemas.microsoft.com/office/powerpoint/2010/main" val="1898256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Shell-skripte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589187" cy="3670067"/>
          </a:xfrm>
        </p:spPr>
        <p:txBody>
          <a:bodyPr>
            <a:normAutofit/>
          </a:bodyPr>
          <a:lstStyle/>
          <a:p>
            <a:r>
              <a:rPr lang="de-DE" dirty="0"/>
              <a:t>Übergabe von Parametern beim Start eines Skriptes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skriptname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 arg1  arg2  arg3</a:t>
            </a:r>
          </a:p>
          <a:p>
            <a:r>
              <a:rPr lang="de-DE" dirty="0"/>
              <a:t>Im Skript wird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arg1</a:t>
            </a:r>
            <a:r>
              <a:rPr lang="de-DE" dirty="0"/>
              <a:t> als Variable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$1</a:t>
            </a:r>
            <a:r>
              <a:rPr lang="de-DE" dirty="0"/>
              <a:t> aufgerufen,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arg2</a:t>
            </a:r>
            <a:r>
              <a:rPr lang="de-DE" dirty="0"/>
              <a:t> als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$2</a:t>
            </a:r>
            <a:r>
              <a:rPr lang="de-DE" dirty="0"/>
              <a:t>,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arg3</a:t>
            </a:r>
            <a:r>
              <a:rPr lang="de-DE" dirty="0"/>
              <a:t> als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$3</a:t>
            </a:r>
            <a:r>
              <a:rPr lang="de-DE" dirty="0"/>
              <a:t> </a:t>
            </a:r>
          </a:p>
          <a:p>
            <a:r>
              <a:rPr lang="de-DE" dirty="0"/>
              <a:t>Der Name des Skriptes selbst wird in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$0</a:t>
            </a:r>
            <a:r>
              <a:rPr lang="de-DE" dirty="0"/>
              <a:t> gespeichert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14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Argumente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995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Shell-skripte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589187" cy="3670067"/>
          </a:xfrm>
        </p:spPr>
        <p:txBody>
          <a:bodyPr>
            <a:normAutofit/>
          </a:bodyPr>
          <a:lstStyle/>
          <a:p>
            <a:r>
              <a:rPr lang="de-DE" dirty="0"/>
              <a:t> Verzweigung mit </a:t>
            </a:r>
            <a:r>
              <a:rPr lang="de-DE" dirty="0" err="1"/>
              <a:t>if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i="1" dirty="0">
                <a:latin typeface="Courier New" panose="02070309020205020404" pitchFamily="49" charset="0"/>
                <a:cs typeface="Courier New" panose="02070309020205020404" pitchFamily="49" charset="0"/>
              </a:rPr>
              <a:t>Bedingung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i="1" dirty="0">
                <a:latin typeface="Courier New" panose="02070309020205020404" pitchFamily="49" charset="0"/>
                <a:cs typeface="Courier New" panose="02070309020205020404" pitchFamily="49" charset="0"/>
              </a:rPr>
              <a:t>Anweisungen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Beispiel (Ausführung, wenn Bedingung den Wert „</a:t>
            </a:r>
            <a:r>
              <a:rPr lang="de-DE" dirty="0" err="1"/>
              <a:t>true</a:t>
            </a:r>
            <a:r>
              <a:rPr lang="de-DE" dirty="0"/>
              <a:t>“ hat)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[ $var1 -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$var2 ]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 err="1"/>
              <a:t>else</a:t>
            </a:r>
            <a:r>
              <a:rPr lang="de-DE" dirty="0"/>
              <a:t>-Bedingung (Ausführung, wenn die Bedingung den Wert „</a:t>
            </a:r>
            <a:r>
              <a:rPr lang="de-DE" dirty="0" err="1"/>
              <a:t>false</a:t>
            </a:r>
            <a:r>
              <a:rPr lang="de-DE" dirty="0"/>
              <a:t>“ hat)</a:t>
            </a:r>
          </a:p>
          <a:p>
            <a:pPr marL="0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i="1" dirty="0">
                <a:latin typeface="Courier New" panose="02070309020205020404" pitchFamily="49" charset="0"/>
                <a:cs typeface="Courier New" panose="02070309020205020404" pitchFamily="49" charset="0"/>
              </a:rPr>
              <a:t>Bedingung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i="1" dirty="0">
                <a:latin typeface="Courier New" panose="02070309020205020404" pitchFamily="49" charset="0"/>
                <a:cs typeface="Courier New" panose="02070309020205020404" pitchFamily="49" charset="0"/>
              </a:rPr>
              <a:t>Anw1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i="1" dirty="0">
                <a:latin typeface="Courier New" panose="02070309020205020404" pitchFamily="49" charset="0"/>
                <a:cs typeface="Courier New" panose="02070309020205020404" pitchFamily="49" charset="0"/>
              </a:rPr>
              <a:t>Anw2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15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Bedingte Anweisung 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316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Shell-skripte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2"/>
            <a:ext cx="10589187" cy="1429369"/>
          </a:xfrm>
        </p:spPr>
        <p:txBody>
          <a:bodyPr>
            <a:normAutofit/>
          </a:bodyPr>
          <a:lstStyle/>
          <a:p>
            <a:r>
              <a:rPr lang="de-DE" dirty="0"/>
              <a:t> Syntax für eine </a:t>
            </a:r>
            <a:r>
              <a:rPr lang="de-DE" dirty="0" err="1"/>
              <a:t>while</a:t>
            </a:r>
            <a:r>
              <a:rPr lang="de-DE" dirty="0"/>
              <a:t>-Schleife</a:t>
            </a:r>
          </a:p>
          <a:p>
            <a:pPr marL="0" indent="0"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[ </a:t>
            </a:r>
            <a:r>
              <a:rPr lang="de-DE" i="1" dirty="0">
                <a:latin typeface="Courier New" panose="02070309020205020404" pitchFamily="49" charset="0"/>
                <a:cs typeface="Courier New" panose="02070309020205020404" pitchFamily="49" charset="0"/>
              </a:rPr>
              <a:t>Bedingung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] ; do </a:t>
            </a:r>
            <a:r>
              <a:rPr lang="de-DE" i="1" dirty="0">
                <a:latin typeface="Courier New" panose="02070309020205020404" pitchFamily="49" charset="0"/>
                <a:cs typeface="Courier New" panose="02070309020205020404" pitchFamily="49" charset="0"/>
              </a:rPr>
              <a:t>Kommando1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de-DE" i="1" dirty="0">
                <a:latin typeface="Courier New" panose="02070309020205020404" pitchFamily="49" charset="0"/>
                <a:cs typeface="Courier New" panose="02070309020205020404" pitchFamily="49" charset="0"/>
              </a:rPr>
              <a:t>Kommado2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; … ;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Beispiel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16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Schleifen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1651146" y="3404355"/>
            <a:ext cx="98650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j=20 </a:t>
            </a:r>
          </a:p>
          <a:p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 $j -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0 ] do </a:t>
            </a:r>
          </a:p>
          <a:p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$j 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sleep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        # </a:t>
            </a: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Ausführung des Skripts für 2 Sekunden anhalten </a:t>
            </a:r>
          </a:p>
          <a:p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((j-=2))               # </a:t>
            </a: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nur </a:t>
            </a:r>
            <a:r>
              <a:rPr lang="de-DE" sz="2000" dirty="0" err="1">
                <a:latin typeface="Arial" panose="020B0604020202020204" pitchFamily="34" charset="0"/>
                <a:cs typeface="Arial" panose="020B0604020202020204" pitchFamily="34" charset="0"/>
              </a:rPr>
              <a:t>bash</a:t>
            </a: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; sonst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j=`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$j - 2` </a:t>
            </a:r>
          </a:p>
          <a:p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endParaRPr lang="de-DE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96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Shell-skripte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589187" cy="3670067"/>
          </a:xfrm>
        </p:spPr>
        <p:txBody>
          <a:bodyPr>
            <a:normAutofit lnSpcReduction="10000"/>
          </a:bodyPr>
          <a:lstStyle/>
          <a:p>
            <a:r>
              <a:rPr lang="de-DE" dirty="0"/>
              <a:t>Zeilenweises Einlesen von Dateien mit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de-DE" dirty="0"/>
              <a:t>: </a:t>
            </a:r>
          </a:p>
          <a:p>
            <a:pPr marL="457200" lvl="1" indent="0"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</a:p>
          <a:p>
            <a:pPr marL="457200" lvl="1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echo $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textdatei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/>
              <a:t>Zeilenweise Einlesen einer Textdatei in ein Array:</a:t>
            </a:r>
          </a:p>
          <a:p>
            <a:pPr marL="457200" lvl="1" indent="0">
              <a:buNone/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read z[$i] 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do 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((i++)) 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done &lt; textdatei 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${z[3]}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17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Ein- und Ausgabe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365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Shell-skripte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589187" cy="3670067"/>
          </a:xfrm>
        </p:spPr>
        <p:txBody>
          <a:bodyPr>
            <a:normAutofit/>
          </a:bodyPr>
          <a:lstStyle/>
          <a:p>
            <a:r>
              <a:rPr lang="de-DE" dirty="0"/>
              <a:t>Interaktive Eingabe:</a:t>
            </a:r>
          </a:p>
          <a:p>
            <a:pPr marL="457200" lvl="1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-n "Bitte eine Zahl eingeben: " </a:t>
            </a:r>
          </a:p>
          <a:p>
            <a:pPr marL="457200" lvl="1" indent="0"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zahl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 err="1"/>
              <a:t>Sinnvoll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anschließende</a:t>
            </a:r>
            <a:r>
              <a:rPr lang="en-US" dirty="0"/>
              <a:t> </a:t>
            </a:r>
            <a:r>
              <a:rPr lang="en-US" dirty="0" err="1"/>
              <a:t>Überprüfung</a:t>
            </a:r>
            <a:r>
              <a:rPr lang="en-US" dirty="0"/>
              <a:t> der </a:t>
            </a:r>
            <a:r>
              <a:rPr lang="en-US" dirty="0" err="1"/>
              <a:t>Eingabe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[ -z "$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zahl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 ]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then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break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fi 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18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Ein- und Ausgabe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319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1497</Words>
  <Application>Microsoft Office PowerPoint</Application>
  <PresentationFormat>Breitbild</PresentationFormat>
  <Paragraphs>176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Symbol</vt:lpstr>
      <vt:lpstr>ヒラギノ角ゴ Pro W3</vt:lpstr>
      <vt:lpstr>Office</vt:lpstr>
      <vt:lpstr>Informatik 2  </vt:lpstr>
      <vt:lpstr>Reguläre Ausdrücke</vt:lpstr>
      <vt:lpstr>Reguläre Ausdrücke</vt:lpstr>
      <vt:lpstr>Reguläre Ausdrücke</vt:lpstr>
      <vt:lpstr>Reguläre Ausdrücke</vt:lpstr>
      <vt:lpstr>Reguläre Ausdrücke</vt:lpstr>
      <vt:lpstr>Reguläre Ausdrücke</vt:lpstr>
      <vt:lpstr>Stream-Editor SED</vt:lpstr>
      <vt:lpstr>Stream-Editor SED</vt:lpstr>
      <vt:lpstr>AWK</vt:lpstr>
      <vt:lpstr>Shell-skripte</vt:lpstr>
      <vt:lpstr>Shell-skripte</vt:lpstr>
      <vt:lpstr>Shell-skripte</vt:lpstr>
      <vt:lpstr>Shell-skripte</vt:lpstr>
      <vt:lpstr>Shell-skripte</vt:lpstr>
      <vt:lpstr>Shell-skripte</vt:lpstr>
      <vt:lpstr>Shell-skripte</vt:lpstr>
      <vt:lpstr>Shell-skripte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Martini, Nils</dc:creator>
  <cp:lastModifiedBy>Martini, Nils</cp:lastModifiedBy>
  <cp:revision>99</cp:revision>
  <dcterms:created xsi:type="dcterms:W3CDTF">2020-07-09T08:29:18Z</dcterms:created>
  <dcterms:modified xsi:type="dcterms:W3CDTF">2025-07-25T11:29:37Z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2024-04-09T07:46:48Z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1072de8d-f213-4844-b41f-045b8214025d</vt:lpwstr>
  </property>
  <property fmtid="{D5CDD505-2E9C-101B-9397-08002B2CF9AE}" pid="8" name="MSIP_Label_defa4170-0d19-0005-0004-bc88714345d2_ContentBits">
    <vt:lpwstr>0</vt:lpwstr>
  </property>
</Properties>
</file>